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63946"/>
          </a:solidFill>
          <a:ln/>
        </p:spPr>
      </p:sp>
      <p:sp>
        <p:nvSpPr>
          <p:cNvPr id="3" name="Shape 1"/>
          <p:cNvSpPr/>
          <p:nvPr/>
        </p:nvSpPr>
        <p:spPr>
          <a:xfrm>
            <a:off x="164592" y="0"/>
            <a:ext cx="11996928" cy="64008"/>
          </a:xfrm>
          <a:prstGeom prst="rect">
            <a:avLst/>
          </a:prstGeom>
          <a:solidFill>
            <a:srgbClr val="E63946">
              <a:alpha val="50000"/>
            </a:srgbClr>
          </a:solidFill>
          <a:ln/>
        </p:spPr>
      </p:sp>
      <p:sp>
        <p:nvSpPr>
          <p:cNvPr id="4" name="Shape 2"/>
          <p:cNvSpPr/>
          <p:nvPr/>
        </p:nvSpPr>
        <p:spPr>
          <a:xfrm>
            <a:off x="9875520" y="-914400"/>
            <a:ext cx="3200400" cy="3200400"/>
          </a:xfrm>
          <a:prstGeom prst="ellipse">
            <a:avLst/>
          </a:prstGeom>
          <a:solidFill>
            <a:srgbClr val="E63946">
              <a:alpha val="15000"/>
            </a:srgbClr>
          </a:solidFill>
          <a:ln w="12700">
            <a:solidFill>
              <a:srgbClr val="E63946">
                <a:alpha val="30000"/>
              </a:srgbClr>
            </a:solidFill>
            <a:prstDash val="solid"/>
          </a:ln>
        </p:spPr>
      </p:sp>
      <p:sp>
        <p:nvSpPr>
          <p:cNvPr id="5" name="Shape 3"/>
          <p:cNvSpPr/>
          <p:nvPr/>
        </p:nvSpPr>
        <p:spPr>
          <a:xfrm>
            <a:off x="10515600" y="-274320"/>
            <a:ext cx="2011680" cy="2011680"/>
          </a:xfrm>
          <a:prstGeom prst="ellipse">
            <a:avLst/>
          </a:prstGeom>
          <a:solidFill>
            <a:srgbClr val="E63946">
              <a:alpha val="25000"/>
            </a:srgbClr>
          </a:solidFill>
          <a:ln w="12700">
            <a:solidFill>
              <a:srgbClr val="E63946">
                <a:alpha val="40000"/>
              </a:srgbClr>
            </a:solidFill>
            <a:prstDash val="solid"/>
          </a:ln>
        </p:spPr>
      </p:sp>
      <p:sp>
        <p:nvSpPr>
          <p:cNvPr id="6" name="Text 4"/>
          <p:cNvSpPr/>
          <p:nvPr/>
        </p:nvSpPr>
        <p:spPr>
          <a:xfrm>
            <a:off x="411480" y="822960"/>
            <a:ext cx="9144000" cy="320040"/>
          </a:xfrm>
          <a:prstGeom prst="rect">
            <a:avLst/>
          </a:prstGeom>
          <a:noFill/>
          <a:ln/>
        </p:spPr>
        <p:txBody>
          <a:bodyPr wrap="square" rtlCol="0" anchor="ctr"/>
          <a:lstStyle/>
          <a:p>
            <a:pPr indent="0" marL="0">
              <a:buNone/>
            </a:pPr>
            <a:r>
              <a:rPr lang="en-US" sz="950" b="1" spc="350" kern="0" dirty="0">
                <a:solidFill>
                  <a:srgbClr val="E63946"/>
                </a:solidFill>
                <a:latin typeface="Calibri" pitchFamily="34" charset="0"/>
                <a:ea typeface="Calibri" pitchFamily="34" charset="-122"/>
                <a:cs typeface="Calibri" pitchFamily="34" charset="-120"/>
              </a:rPr>
              <a:t>DATA SCIENCE PROJECT  |  PREDICTIVE ANALYTICS</a:t>
            </a:r>
            <a:endParaRPr lang="en-US" sz="950" dirty="0"/>
          </a:p>
        </p:txBody>
      </p:sp>
      <p:sp>
        <p:nvSpPr>
          <p:cNvPr id="7" name="Text 5"/>
          <p:cNvSpPr/>
          <p:nvPr/>
        </p:nvSpPr>
        <p:spPr>
          <a:xfrm>
            <a:off x="411480" y="1280160"/>
            <a:ext cx="10515600" cy="105156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NYPD Shooting Incident</a:t>
            </a:r>
            <a:endParaRPr lang="en-US" sz="5200" dirty="0"/>
          </a:p>
        </p:txBody>
      </p:sp>
      <p:sp>
        <p:nvSpPr>
          <p:cNvPr id="8" name="Text 6"/>
          <p:cNvSpPr/>
          <p:nvPr/>
        </p:nvSpPr>
        <p:spPr>
          <a:xfrm>
            <a:off x="411480" y="2286000"/>
            <a:ext cx="10058400" cy="914400"/>
          </a:xfrm>
          <a:prstGeom prst="rect">
            <a:avLst/>
          </a:prstGeom>
          <a:noFill/>
          <a:ln/>
        </p:spPr>
        <p:txBody>
          <a:bodyPr wrap="square" rtlCol="0" anchor="ctr"/>
          <a:lstStyle/>
          <a:p>
            <a:pPr indent="0" marL="0">
              <a:buNone/>
            </a:pPr>
            <a:r>
              <a:rPr lang="en-US" sz="5200" b="1" dirty="0">
                <a:solidFill>
                  <a:srgbClr val="E63946"/>
                </a:solidFill>
                <a:latin typeface="Georgia" pitchFamily="34" charset="0"/>
                <a:ea typeface="Georgia" pitchFamily="34" charset="-122"/>
                <a:cs typeface="Georgia" pitchFamily="34" charset="-120"/>
              </a:rPr>
              <a:t>Fatality Prediction</a:t>
            </a:r>
            <a:endParaRPr lang="en-US" sz="5200" dirty="0"/>
          </a:p>
        </p:txBody>
      </p:sp>
      <p:sp>
        <p:nvSpPr>
          <p:cNvPr id="9" name="Shape 7"/>
          <p:cNvSpPr/>
          <p:nvPr/>
        </p:nvSpPr>
        <p:spPr>
          <a:xfrm>
            <a:off x="411480" y="3291840"/>
            <a:ext cx="5029200" cy="45720"/>
          </a:xfrm>
          <a:prstGeom prst="rect">
            <a:avLst/>
          </a:prstGeom>
          <a:solidFill>
            <a:srgbClr val="457B9D"/>
          </a:solidFill>
          <a:ln/>
        </p:spPr>
      </p:sp>
      <p:sp>
        <p:nvSpPr>
          <p:cNvPr id="10" name="Text 8"/>
          <p:cNvSpPr/>
          <p:nvPr/>
        </p:nvSpPr>
        <p:spPr>
          <a:xfrm>
            <a:off x="411480" y="3474720"/>
            <a:ext cx="9144000" cy="822960"/>
          </a:xfrm>
          <a:prstGeom prst="rect">
            <a:avLst/>
          </a:prstGeom>
          <a:noFill/>
          <a:ln/>
        </p:spPr>
        <p:txBody>
          <a:bodyPr wrap="square" rtlCol="0" anchor="ctr"/>
          <a:lstStyle/>
          <a:p>
            <a:pPr indent="0" marL="0">
              <a:lnSpc>
                <a:spcPct val="140000"/>
              </a:lnSpc>
              <a:buNone/>
            </a:pPr>
            <a:r>
              <a:rPr lang="en-US" sz="1450" dirty="0">
                <a:solidFill>
                  <a:srgbClr val="A8DADC"/>
                </a:solidFill>
                <a:latin typeface="Calibri" pitchFamily="34" charset="0"/>
                <a:ea typeface="Calibri" pitchFamily="34" charset="-122"/>
                <a:cs typeface="Calibri" pitchFamily="34" charset="-120"/>
              </a:rPr>
              <a:t>Predicting whether a NYPD shooting incident results in fatality</a:t>
            </a:r>
            <a:endParaRPr lang="en-US" sz="1450" dirty="0"/>
          </a:p>
          <a:p>
            <a:pPr indent="0" marL="0">
              <a:lnSpc>
                <a:spcPct val="140000"/>
              </a:lnSpc>
              <a:buNone/>
            </a:pPr>
            <a:r>
              <a:rPr lang="en-US" sz="1450" dirty="0">
                <a:solidFill>
                  <a:srgbClr val="A8DADC"/>
                </a:solidFill>
                <a:latin typeface="Calibri" pitchFamily="34" charset="0"/>
                <a:ea typeface="Calibri" pitchFamily="34" charset="-122"/>
                <a:cs typeface="Calibri" pitchFamily="34" charset="-120"/>
              </a:rPr>
              <a:t>using Machine Learning &amp; SHAP Explainability</a:t>
            </a:r>
            <a:endParaRPr lang="en-US" sz="1450" dirty="0"/>
          </a:p>
        </p:txBody>
      </p:sp>
      <p:sp>
        <p:nvSpPr>
          <p:cNvPr id="11" name="Shape 9"/>
          <p:cNvSpPr/>
          <p:nvPr/>
        </p:nvSpPr>
        <p:spPr>
          <a:xfrm>
            <a:off x="411480" y="5349240"/>
            <a:ext cx="2651760" cy="1005840"/>
          </a:xfrm>
          <a:prstGeom prst="rect">
            <a:avLst/>
          </a:prstGeom>
          <a:solidFill>
            <a:srgbClr val="162032"/>
          </a:solidFill>
          <a:ln/>
          <a:effectLst>
            <a:outerShdw sx="100000" sy="100000" kx="0" ky="0" algn="bl" rotWithShape="0" blurRad="127000" dist="50800" dir="8100000">
              <a:srgbClr val="000000">
                <a:alpha val="18000"/>
              </a:srgbClr>
            </a:outerShdw>
          </a:effectLst>
        </p:spPr>
      </p:sp>
      <p:sp>
        <p:nvSpPr>
          <p:cNvPr id="12" name="Shape 10"/>
          <p:cNvSpPr/>
          <p:nvPr/>
        </p:nvSpPr>
        <p:spPr>
          <a:xfrm>
            <a:off x="411480" y="5349240"/>
            <a:ext cx="2651760" cy="54864"/>
          </a:xfrm>
          <a:prstGeom prst="rect">
            <a:avLst/>
          </a:prstGeom>
          <a:solidFill>
            <a:srgbClr val="E63946"/>
          </a:solidFill>
          <a:ln/>
        </p:spPr>
      </p:sp>
      <p:sp>
        <p:nvSpPr>
          <p:cNvPr id="13" name="Text 11"/>
          <p:cNvSpPr/>
          <p:nvPr/>
        </p:nvSpPr>
        <p:spPr>
          <a:xfrm>
            <a:off x="411480" y="5422392"/>
            <a:ext cx="265176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27,312</a:t>
            </a:r>
            <a:endParaRPr lang="en-US" sz="2400" dirty="0"/>
          </a:p>
        </p:txBody>
      </p:sp>
      <p:sp>
        <p:nvSpPr>
          <p:cNvPr id="14" name="Text 12"/>
          <p:cNvSpPr/>
          <p:nvPr/>
        </p:nvSpPr>
        <p:spPr>
          <a:xfrm>
            <a:off x="411480" y="5916168"/>
            <a:ext cx="2651760" cy="292608"/>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Incidents</a:t>
            </a:r>
            <a:endParaRPr lang="en-US" sz="1000" dirty="0"/>
          </a:p>
        </p:txBody>
      </p:sp>
      <p:sp>
        <p:nvSpPr>
          <p:cNvPr id="15" name="Shape 13"/>
          <p:cNvSpPr/>
          <p:nvPr/>
        </p:nvSpPr>
        <p:spPr>
          <a:xfrm>
            <a:off x="3319272" y="5349240"/>
            <a:ext cx="2651760" cy="1005840"/>
          </a:xfrm>
          <a:prstGeom prst="rect">
            <a:avLst/>
          </a:prstGeom>
          <a:solidFill>
            <a:srgbClr val="162032"/>
          </a:solidFill>
          <a:ln/>
          <a:effectLst>
            <a:outerShdw sx="100000" sy="100000" kx="0" ky="0" algn="bl" rotWithShape="0" blurRad="127000" dist="50800" dir="8100000">
              <a:srgbClr val="000000">
                <a:alpha val="18000"/>
              </a:srgbClr>
            </a:outerShdw>
          </a:effectLst>
        </p:spPr>
      </p:sp>
      <p:sp>
        <p:nvSpPr>
          <p:cNvPr id="16" name="Shape 14"/>
          <p:cNvSpPr/>
          <p:nvPr/>
        </p:nvSpPr>
        <p:spPr>
          <a:xfrm>
            <a:off x="3319272" y="5349240"/>
            <a:ext cx="2651760" cy="54864"/>
          </a:xfrm>
          <a:prstGeom prst="rect">
            <a:avLst/>
          </a:prstGeom>
          <a:solidFill>
            <a:srgbClr val="E63946"/>
          </a:solidFill>
          <a:ln/>
        </p:spPr>
      </p:sp>
      <p:sp>
        <p:nvSpPr>
          <p:cNvPr id="17" name="Text 15"/>
          <p:cNvSpPr/>
          <p:nvPr/>
        </p:nvSpPr>
        <p:spPr>
          <a:xfrm>
            <a:off x="3319272" y="5422392"/>
            <a:ext cx="265176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17</a:t>
            </a:r>
            <a:endParaRPr lang="en-US" sz="2400" dirty="0"/>
          </a:p>
        </p:txBody>
      </p:sp>
      <p:sp>
        <p:nvSpPr>
          <p:cNvPr id="18" name="Text 16"/>
          <p:cNvSpPr/>
          <p:nvPr/>
        </p:nvSpPr>
        <p:spPr>
          <a:xfrm>
            <a:off x="3319272" y="5916168"/>
            <a:ext cx="2651760" cy="292608"/>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Features</a:t>
            </a:r>
            <a:endParaRPr lang="en-US" sz="1000" dirty="0"/>
          </a:p>
        </p:txBody>
      </p:sp>
      <p:sp>
        <p:nvSpPr>
          <p:cNvPr id="19" name="Shape 17"/>
          <p:cNvSpPr/>
          <p:nvPr/>
        </p:nvSpPr>
        <p:spPr>
          <a:xfrm>
            <a:off x="6227064" y="5349240"/>
            <a:ext cx="2651760" cy="1005840"/>
          </a:xfrm>
          <a:prstGeom prst="rect">
            <a:avLst/>
          </a:prstGeom>
          <a:solidFill>
            <a:srgbClr val="162032"/>
          </a:solidFill>
          <a:ln/>
          <a:effectLst>
            <a:outerShdw sx="100000" sy="100000" kx="0" ky="0" algn="bl" rotWithShape="0" blurRad="127000" dist="50800" dir="8100000">
              <a:srgbClr val="000000">
                <a:alpha val="18000"/>
              </a:srgbClr>
            </a:outerShdw>
          </a:effectLst>
        </p:spPr>
      </p:sp>
      <p:sp>
        <p:nvSpPr>
          <p:cNvPr id="20" name="Shape 18"/>
          <p:cNvSpPr/>
          <p:nvPr/>
        </p:nvSpPr>
        <p:spPr>
          <a:xfrm>
            <a:off x="6227064" y="5349240"/>
            <a:ext cx="2651760" cy="54864"/>
          </a:xfrm>
          <a:prstGeom prst="rect">
            <a:avLst/>
          </a:prstGeom>
          <a:solidFill>
            <a:srgbClr val="E63946"/>
          </a:solidFill>
          <a:ln/>
        </p:spPr>
      </p:sp>
      <p:sp>
        <p:nvSpPr>
          <p:cNvPr id="21" name="Text 19"/>
          <p:cNvSpPr/>
          <p:nvPr/>
        </p:nvSpPr>
        <p:spPr>
          <a:xfrm>
            <a:off x="6227064" y="5422392"/>
            <a:ext cx="265176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19.3%</a:t>
            </a:r>
            <a:endParaRPr lang="en-US" sz="2400" dirty="0"/>
          </a:p>
        </p:txBody>
      </p:sp>
      <p:sp>
        <p:nvSpPr>
          <p:cNvPr id="22" name="Text 20"/>
          <p:cNvSpPr/>
          <p:nvPr/>
        </p:nvSpPr>
        <p:spPr>
          <a:xfrm>
            <a:off x="6227064" y="5916168"/>
            <a:ext cx="2651760" cy="292608"/>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Fatality Rate</a:t>
            </a:r>
            <a:endParaRPr lang="en-US" sz="1000" dirty="0"/>
          </a:p>
        </p:txBody>
      </p:sp>
      <p:sp>
        <p:nvSpPr>
          <p:cNvPr id="23" name="Shape 21"/>
          <p:cNvSpPr/>
          <p:nvPr/>
        </p:nvSpPr>
        <p:spPr>
          <a:xfrm>
            <a:off x="9134856" y="5349240"/>
            <a:ext cx="2651760" cy="1005840"/>
          </a:xfrm>
          <a:prstGeom prst="rect">
            <a:avLst/>
          </a:prstGeom>
          <a:solidFill>
            <a:srgbClr val="162032"/>
          </a:solidFill>
          <a:ln/>
          <a:effectLst>
            <a:outerShdw sx="100000" sy="100000" kx="0" ky="0" algn="bl" rotWithShape="0" blurRad="127000" dist="50800" dir="8100000">
              <a:srgbClr val="000000">
                <a:alpha val="18000"/>
              </a:srgbClr>
            </a:outerShdw>
          </a:effectLst>
        </p:spPr>
      </p:sp>
      <p:sp>
        <p:nvSpPr>
          <p:cNvPr id="24" name="Shape 22"/>
          <p:cNvSpPr/>
          <p:nvPr/>
        </p:nvSpPr>
        <p:spPr>
          <a:xfrm>
            <a:off x="9134856" y="5349240"/>
            <a:ext cx="2651760" cy="54864"/>
          </a:xfrm>
          <a:prstGeom prst="rect">
            <a:avLst/>
          </a:prstGeom>
          <a:solidFill>
            <a:srgbClr val="E63946"/>
          </a:solidFill>
          <a:ln/>
        </p:spPr>
      </p:sp>
      <p:sp>
        <p:nvSpPr>
          <p:cNvPr id="25" name="Text 23"/>
          <p:cNvSpPr/>
          <p:nvPr/>
        </p:nvSpPr>
        <p:spPr>
          <a:xfrm>
            <a:off x="9134856" y="5422392"/>
            <a:ext cx="265176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&gt;0.90</a:t>
            </a:r>
            <a:endParaRPr lang="en-US" sz="2400" dirty="0"/>
          </a:p>
        </p:txBody>
      </p:sp>
      <p:sp>
        <p:nvSpPr>
          <p:cNvPr id="26" name="Text 24"/>
          <p:cNvSpPr/>
          <p:nvPr/>
        </p:nvSpPr>
        <p:spPr>
          <a:xfrm>
            <a:off x="9134856" y="5916168"/>
            <a:ext cx="2651760" cy="292608"/>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Best AUC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Project Overview</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02</a:t>
            </a:r>
            <a:endParaRPr lang="en-US" sz="1200" dirty="0"/>
          </a:p>
        </p:txBody>
      </p:sp>
      <p:sp>
        <p:nvSpPr>
          <p:cNvPr id="6" name="Shape 4"/>
          <p:cNvSpPr/>
          <p:nvPr/>
        </p:nvSpPr>
        <p:spPr>
          <a:xfrm>
            <a:off x="320040" y="868680"/>
            <a:ext cx="5394960" cy="29718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68680"/>
            <a:ext cx="5394960" cy="64008"/>
          </a:xfrm>
          <a:prstGeom prst="rect">
            <a:avLst/>
          </a:prstGeom>
          <a:solidFill>
            <a:srgbClr val="E63946"/>
          </a:solidFill>
          <a:ln/>
        </p:spPr>
      </p:sp>
      <p:sp>
        <p:nvSpPr>
          <p:cNvPr id="8" name="Text 6"/>
          <p:cNvSpPr/>
          <p:nvPr/>
        </p:nvSpPr>
        <p:spPr>
          <a:xfrm>
            <a:off x="411480" y="1005840"/>
            <a:ext cx="5212080" cy="36576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  Problem Statement</a:t>
            </a:r>
            <a:endParaRPr lang="en-US" sz="1250" dirty="0"/>
          </a:p>
        </p:txBody>
      </p:sp>
      <p:sp>
        <p:nvSpPr>
          <p:cNvPr id="9" name="Text 7"/>
          <p:cNvSpPr/>
          <p:nvPr/>
        </p:nvSpPr>
        <p:spPr>
          <a:xfrm>
            <a:off x="411480" y="1444752"/>
            <a:ext cx="5120640" cy="2286000"/>
          </a:xfrm>
          <a:prstGeom prst="rect">
            <a:avLst/>
          </a:prstGeom>
          <a:noFill/>
          <a:ln/>
        </p:spPr>
        <p:txBody>
          <a:bodyPr wrap="square" rtlCol="0" anchor="ctr"/>
          <a:lstStyle/>
          <a:p>
            <a:pPr indent="0" marL="0">
              <a:lnSpc>
                <a:spcPct val="145000"/>
              </a:lnSpc>
              <a:buNone/>
            </a:pPr>
            <a:r>
              <a:rPr lang="en-US" sz="1200" dirty="0">
                <a:solidFill>
                  <a:srgbClr val="334155"/>
                </a:solidFill>
                <a:latin typeface="Calibri" pitchFamily="34" charset="0"/>
                <a:ea typeface="Calibri" pitchFamily="34" charset="-122"/>
                <a:cs typeface="Calibri" pitchFamily="34" charset="-120"/>
              </a:rPr>
              <a:t>Gun violence is a critical public safety challenge in New York City. When a shooting occurs, the difference between life and death depends on speed and accuracy of emergency response.
</a:t>
            </a:r>
            <a:pPr indent="0" marL="0">
              <a:lnSpc>
                <a:spcPct val="145000"/>
              </a:lnSpc>
              <a:buNone/>
            </a:pPr>
            <a:r>
              <a:rPr lang="en-US" sz="1200" b="1" dirty="0">
                <a:solidFill>
                  <a:srgbClr val="E63946"/>
                </a:solidFill>
                <a:latin typeface="Calibri" pitchFamily="34" charset="0"/>
                <a:ea typeface="Calibri" pitchFamily="34" charset="-122"/>
                <a:cs typeface="Calibri" pitchFamily="34" charset="-120"/>
              </a:rPr>
              <a:t>Can machine learning predict which shooting incidents will be fatal — before the full picture is known?</a:t>
            </a:r>
            <a:endParaRPr lang="en-US" sz="1200" dirty="0"/>
          </a:p>
        </p:txBody>
      </p:sp>
      <p:sp>
        <p:nvSpPr>
          <p:cNvPr id="10" name="Shape 8"/>
          <p:cNvSpPr/>
          <p:nvPr/>
        </p:nvSpPr>
        <p:spPr>
          <a:xfrm>
            <a:off x="5989320" y="868680"/>
            <a:ext cx="5852160" cy="29718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1" name="Shape 9"/>
          <p:cNvSpPr/>
          <p:nvPr/>
        </p:nvSpPr>
        <p:spPr>
          <a:xfrm>
            <a:off x="5989320" y="868680"/>
            <a:ext cx="5852160" cy="64008"/>
          </a:xfrm>
          <a:prstGeom prst="rect">
            <a:avLst/>
          </a:prstGeom>
          <a:solidFill>
            <a:srgbClr val="457B9D"/>
          </a:solidFill>
          <a:ln/>
        </p:spPr>
      </p:sp>
      <p:sp>
        <p:nvSpPr>
          <p:cNvPr id="12" name="Text 10"/>
          <p:cNvSpPr/>
          <p:nvPr/>
        </p:nvSpPr>
        <p:spPr>
          <a:xfrm>
            <a:off x="6080760" y="1005840"/>
            <a:ext cx="5669280" cy="365760"/>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  Project Objectives</a:t>
            </a:r>
            <a:endParaRPr lang="en-US" sz="1250" dirty="0"/>
          </a:p>
        </p:txBody>
      </p:sp>
      <p:sp>
        <p:nvSpPr>
          <p:cNvPr id="13" name="Shape 11"/>
          <p:cNvSpPr/>
          <p:nvPr/>
        </p:nvSpPr>
        <p:spPr>
          <a:xfrm>
            <a:off x="6080760" y="1481328"/>
            <a:ext cx="201168" cy="201168"/>
          </a:xfrm>
          <a:prstGeom prst="ellipse">
            <a:avLst/>
          </a:prstGeom>
          <a:solidFill>
            <a:srgbClr val="E63946"/>
          </a:solidFill>
          <a:ln/>
        </p:spPr>
      </p:sp>
      <p:sp>
        <p:nvSpPr>
          <p:cNvPr id="14" name="Text 12"/>
          <p:cNvSpPr/>
          <p:nvPr/>
        </p:nvSpPr>
        <p:spPr>
          <a:xfrm>
            <a:off x="6400800" y="1444752"/>
            <a:ext cx="5212080" cy="347472"/>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Perform deep Exploratory Data Analysis on 27,312 NYPD incidents</a:t>
            </a:r>
            <a:endParaRPr lang="en-US" sz="1100" dirty="0"/>
          </a:p>
        </p:txBody>
      </p:sp>
      <p:sp>
        <p:nvSpPr>
          <p:cNvPr id="15" name="Shape 13"/>
          <p:cNvSpPr/>
          <p:nvPr/>
        </p:nvSpPr>
        <p:spPr>
          <a:xfrm>
            <a:off x="6080760" y="1920240"/>
            <a:ext cx="201168" cy="201168"/>
          </a:xfrm>
          <a:prstGeom prst="ellipse">
            <a:avLst/>
          </a:prstGeom>
          <a:solidFill>
            <a:srgbClr val="E63946"/>
          </a:solidFill>
          <a:ln/>
        </p:spPr>
      </p:sp>
      <p:sp>
        <p:nvSpPr>
          <p:cNvPr id="16" name="Text 14"/>
          <p:cNvSpPr/>
          <p:nvPr/>
        </p:nvSpPr>
        <p:spPr>
          <a:xfrm>
            <a:off x="6400800" y="1883664"/>
            <a:ext cx="5212080" cy="347472"/>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Engineer meaningful features from temporal, spatial &amp; demographic data</a:t>
            </a:r>
            <a:endParaRPr lang="en-US" sz="1100" dirty="0"/>
          </a:p>
        </p:txBody>
      </p:sp>
      <p:sp>
        <p:nvSpPr>
          <p:cNvPr id="17" name="Shape 15"/>
          <p:cNvSpPr/>
          <p:nvPr/>
        </p:nvSpPr>
        <p:spPr>
          <a:xfrm>
            <a:off x="6080760" y="2359152"/>
            <a:ext cx="201168" cy="201168"/>
          </a:xfrm>
          <a:prstGeom prst="ellipse">
            <a:avLst/>
          </a:prstGeom>
          <a:solidFill>
            <a:srgbClr val="E63946"/>
          </a:solidFill>
          <a:ln/>
        </p:spPr>
      </p:sp>
      <p:sp>
        <p:nvSpPr>
          <p:cNvPr id="18" name="Text 16"/>
          <p:cNvSpPr/>
          <p:nvPr/>
        </p:nvSpPr>
        <p:spPr>
          <a:xfrm>
            <a:off x="6400800" y="2322576"/>
            <a:ext cx="5212080" cy="347472"/>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Train &amp; compare 5 ML classifiers to predict fatality (binary classification)</a:t>
            </a:r>
            <a:endParaRPr lang="en-US" sz="1100" dirty="0"/>
          </a:p>
        </p:txBody>
      </p:sp>
      <p:sp>
        <p:nvSpPr>
          <p:cNvPr id="19" name="Shape 17"/>
          <p:cNvSpPr/>
          <p:nvPr/>
        </p:nvSpPr>
        <p:spPr>
          <a:xfrm>
            <a:off x="6080760" y="2798064"/>
            <a:ext cx="201168" cy="201168"/>
          </a:xfrm>
          <a:prstGeom prst="ellipse">
            <a:avLst/>
          </a:prstGeom>
          <a:solidFill>
            <a:srgbClr val="E63946"/>
          </a:solidFill>
          <a:ln/>
        </p:spPr>
      </p:sp>
      <p:sp>
        <p:nvSpPr>
          <p:cNvPr id="20" name="Text 18"/>
          <p:cNvSpPr/>
          <p:nvPr/>
        </p:nvSpPr>
        <p:spPr>
          <a:xfrm>
            <a:off x="6400800" y="2761488"/>
            <a:ext cx="5212080" cy="347472"/>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Handle class imbalance using SMOTE oversampling technique</a:t>
            </a:r>
            <a:endParaRPr lang="en-US" sz="1100" dirty="0"/>
          </a:p>
        </p:txBody>
      </p:sp>
      <p:sp>
        <p:nvSpPr>
          <p:cNvPr id="21" name="Shape 19"/>
          <p:cNvSpPr/>
          <p:nvPr/>
        </p:nvSpPr>
        <p:spPr>
          <a:xfrm>
            <a:off x="6080760" y="3236976"/>
            <a:ext cx="201168" cy="201168"/>
          </a:xfrm>
          <a:prstGeom prst="ellipse">
            <a:avLst/>
          </a:prstGeom>
          <a:solidFill>
            <a:srgbClr val="E63946"/>
          </a:solidFill>
          <a:ln/>
        </p:spPr>
      </p:sp>
      <p:sp>
        <p:nvSpPr>
          <p:cNvPr id="22" name="Text 20"/>
          <p:cNvSpPr/>
          <p:nvPr/>
        </p:nvSpPr>
        <p:spPr>
          <a:xfrm>
            <a:off x="6400800" y="3200400"/>
            <a:ext cx="5212080" cy="347472"/>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Explain model predictions using SHAP (Shapley values)</a:t>
            </a:r>
            <a:endParaRPr lang="en-US" sz="1100" dirty="0"/>
          </a:p>
        </p:txBody>
      </p:sp>
      <p:sp>
        <p:nvSpPr>
          <p:cNvPr id="23" name="Text 21"/>
          <p:cNvSpPr/>
          <p:nvPr/>
        </p:nvSpPr>
        <p:spPr>
          <a:xfrm>
            <a:off x="320040" y="3977640"/>
            <a:ext cx="11521440" cy="274320"/>
          </a:xfrm>
          <a:prstGeom prst="rect">
            <a:avLst/>
          </a:prstGeom>
          <a:noFill/>
          <a:ln/>
        </p:spPr>
        <p:txBody>
          <a:bodyPr wrap="square" rtlCol="0" anchor="ctr"/>
          <a:lstStyle/>
          <a:p>
            <a:pPr indent="0" marL="0">
              <a:buNone/>
            </a:pPr>
            <a:r>
              <a:rPr lang="en-US" sz="850" b="1" spc="300" kern="0" dirty="0">
                <a:solidFill>
                  <a:srgbClr val="8B949E"/>
                </a:solidFill>
                <a:latin typeface="Calibri" pitchFamily="34" charset="0"/>
                <a:ea typeface="Calibri" pitchFamily="34" charset="-122"/>
                <a:cs typeface="Calibri" pitchFamily="34" charset="-120"/>
              </a:rPr>
              <a:t>END-TO-END ML PIPELINE</a:t>
            </a:r>
            <a:endParaRPr lang="en-US" sz="850" dirty="0"/>
          </a:p>
        </p:txBody>
      </p:sp>
      <p:sp>
        <p:nvSpPr>
          <p:cNvPr id="24" name="Shape 22"/>
          <p:cNvSpPr/>
          <p:nvPr/>
        </p:nvSpPr>
        <p:spPr>
          <a:xfrm>
            <a:off x="320040" y="4315968"/>
            <a:ext cx="1572768" cy="868680"/>
          </a:xfrm>
          <a:prstGeom prst="rect">
            <a:avLst/>
          </a:prstGeom>
          <a:solidFill>
            <a:srgbClr val="457B9D"/>
          </a:solidFill>
          <a:ln/>
        </p:spPr>
      </p:sp>
      <p:sp>
        <p:nvSpPr>
          <p:cNvPr id="25" name="Text 23"/>
          <p:cNvSpPr/>
          <p:nvPr/>
        </p:nvSpPr>
        <p:spPr>
          <a:xfrm>
            <a:off x="320040"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Loading</a:t>
            </a:r>
            <a:endParaRPr lang="en-US" sz="1050" dirty="0"/>
          </a:p>
        </p:txBody>
      </p:sp>
      <p:sp>
        <p:nvSpPr>
          <p:cNvPr id="26" name="Shape 24"/>
          <p:cNvSpPr/>
          <p:nvPr/>
        </p:nvSpPr>
        <p:spPr>
          <a:xfrm>
            <a:off x="1892808" y="4713732"/>
            <a:ext cx="64008" cy="73152"/>
          </a:xfrm>
          <a:prstGeom prst="rect">
            <a:avLst/>
          </a:prstGeom>
          <a:solidFill>
            <a:srgbClr val="E63946"/>
          </a:solidFill>
          <a:ln/>
        </p:spPr>
      </p:sp>
      <p:sp>
        <p:nvSpPr>
          <p:cNvPr id="27" name="Shape 25"/>
          <p:cNvSpPr/>
          <p:nvPr/>
        </p:nvSpPr>
        <p:spPr>
          <a:xfrm>
            <a:off x="1956816" y="4315968"/>
            <a:ext cx="1572768" cy="868680"/>
          </a:xfrm>
          <a:prstGeom prst="rect">
            <a:avLst/>
          </a:prstGeom>
          <a:solidFill>
            <a:srgbClr val="457B9D"/>
          </a:solidFill>
          <a:ln/>
        </p:spPr>
      </p:sp>
      <p:sp>
        <p:nvSpPr>
          <p:cNvPr id="28" name="Text 26"/>
          <p:cNvSpPr/>
          <p:nvPr/>
        </p:nvSpPr>
        <p:spPr>
          <a:xfrm>
            <a:off x="1956816"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EDA &amp;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Insights</a:t>
            </a:r>
            <a:endParaRPr lang="en-US" sz="1050" dirty="0"/>
          </a:p>
        </p:txBody>
      </p:sp>
      <p:sp>
        <p:nvSpPr>
          <p:cNvPr id="29" name="Shape 27"/>
          <p:cNvSpPr/>
          <p:nvPr/>
        </p:nvSpPr>
        <p:spPr>
          <a:xfrm>
            <a:off x="3529584" y="4713732"/>
            <a:ext cx="64008" cy="73152"/>
          </a:xfrm>
          <a:prstGeom prst="rect">
            <a:avLst/>
          </a:prstGeom>
          <a:solidFill>
            <a:srgbClr val="E63946"/>
          </a:solidFill>
          <a:ln/>
        </p:spPr>
      </p:sp>
      <p:sp>
        <p:nvSpPr>
          <p:cNvPr id="30" name="Shape 28"/>
          <p:cNvSpPr/>
          <p:nvPr/>
        </p:nvSpPr>
        <p:spPr>
          <a:xfrm>
            <a:off x="3593592" y="4315968"/>
            <a:ext cx="1572768" cy="868680"/>
          </a:xfrm>
          <a:prstGeom prst="rect">
            <a:avLst/>
          </a:prstGeom>
          <a:solidFill>
            <a:srgbClr val="0D1B2A"/>
          </a:solidFill>
          <a:ln/>
        </p:spPr>
      </p:sp>
      <p:sp>
        <p:nvSpPr>
          <p:cNvPr id="31" name="Text 29"/>
          <p:cNvSpPr/>
          <p:nvPr/>
        </p:nvSpPr>
        <p:spPr>
          <a:xfrm>
            <a:off x="3593592"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Cleaning &amp;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Engineering</a:t>
            </a:r>
            <a:endParaRPr lang="en-US" sz="1050" dirty="0"/>
          </a:p>
        </p:txBody>
      </p:sp>
      <p:sp>
        <p:nvSpPr>
          <p:cNvPr id="32" name="Shape 30"/>
          <p:cNvSpPr/>
          <p:nvPr/>
        </p:nvSpPr>
        <p:spPr>
          <a:xfrm>
            <a:off x="5166360" y="4713732"/>
            <a:ext cx="64008" cy="73152"/>
          </a:xfrm>
          <a:prstGeom prst="rect">
            <a:avLst/>
          </a:prstGeom>
          <a:solidFill>
            <a:srgbClr val="E63946"/>
          </a:solidFill>
          <a:ln/>
        </p:spPr>
      </p:sp>
      <p:sp>
        <p:nvSpPr>
          <p:cNvPr id="33" name="Shape 31"/>
          <p:cNvSpPr/>
          <p:nvPr/>
        </p:nvSpPr>
        <p:spPr>
          <a:xfrm>
            <a:off x="5230368" y="4315968"/>
            <a:ext cx="1572768" cy="868680"/>
          </a:xfrm>
          <a:prstGeom prst="rect">
            <a:avLst/>
          </a:prstGeom>
          <a:solidFill>
            <a:srgbClr val="DD6B20"/>
          </a:solidFill>
          <a:ln/>
        </p:spPr>
      </p:sp>
      <p:sp>
        <p:nvSpPr>
          <p:cNvPr id="34" name="Text 32"/>
          <p:cNvSpPr/>
          <p:nvPr/>
        </p:nvSpPr>
        <p:spPr>
          <a:xfrm>
            <a:off x="5230368"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SMOTE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Balancing</a:t>
            </a:r>
            <a:endParaRPr lang="en-US" sz="1050" dirty="0"/>
          </a:p>
        </p:txBody>
      </p:sp>
      <p:sp>
        <p:nvSpPr>
          <p:cNvPr id="35" name="Shape 33"/>
          <p:cNvSpPr/>
          <p:nvPr/>
        </p:nvSpPr>
        <p:spPr>
          <a:xfrm>
            <a:off x="6803136" y="4713732"/>
            <a:ext cx="64008" cy="73152"/>
          </a:xfrm>
          <a:prstGeom prst="rect">
            <a:avLst/>
          </a:prstGeom>
          <a:solidFill>
            <a:srgbClr val="E63946"/>
          </a:solidFill>
          <a:ln/>
        </p:spPr>
      </p:sp>
      <p:sp>
        <p:nvSpPr>
          <p:cNvPr id="36" name="Shape 34"/>
          <p:cNvSpPr/>
          <p:nvPr/>
        </p:nvSpPr>
        <p:spPr>
          <a:xfrm>
            <a:off x="6867144" y="4315968"/>
            <a:ext cx="1572768" cy="868680"/>
          </a:xfrm>
          <a:prstGeom prst="rect">
            <a:avLst/>
          </a:prstGeom>
          <a:solidFill>
            <a:srgbClr val="E63946"/>
          </a:solidFill>
          <a:ln/>
        </p:spPr>
      </p:sp>
      <p:sp>
        <p:nvSpPr>
          <p:cNvPr id="37" name="Text 35"/>
          <p:cNvSpPr/>
          <p:nvPr/>
        </p:nvSpPr>
        <p:spPr>
          <a:xfrm>
            <a:off x="6867144"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Training</a:t>
            </a:r>
            <a:endParaRPr lang="en-US" sz="1050" dirty="0"/>
          </a:p>
        </p:txBody>
      </p:sp>
      <p:sp>
        <p:nvSpPr>
          <p:cNvPr id="38" name="Shape 36"/>
          <p:cNvSpPr/>
          <p:nvPr/>
        </p:nvSpPr>
        <p:spPr>
          <a:xfrm>
            <a:off x="8439912" y="4713732"/>
            <a:ext cx="64008" cy="73152"/>
          </a:xfrm>
          <a:prstGeom prst="rect">
            <a:avLst/>
          </a:prstGeom>
          <a:solidFill>
            <a:srgbClr val="E63946"/>
          </a:solidFill>
          <a:ln/>
        </p:spPr>
      </p:sp>
      <p:sp>
        <p:nvSpPr>
          <p:cNvPr id="39" name="Shape 37"/>
          <p:cNvSpPr/>
          <p:nvPr/>
        </p:nvSpPr>
        <p:spPr>
          <a:xfrm>
            <a:off x="8503920" y="4315968"/>
            <a:ext cx="1572768" cy="868680"/>
          </a:xfrm>
          <a:prstGeom prst="rect">
            <a:avLst/>
          </a:prstGeom>
          <a:solidFill>
            <a:srgbClr val="457B9D"/>
          </a:solidFill>
          <a:ln/>
        </p:spPr>
      </p:sp>
      <p:sp>
        <p:nvSpPr>
          <p:cNvPr id="40" name="Text 38"/>
          <p:cNvSpPr/>
          <p:nvPr/>
        </p:nvSpPr>
        <p:spPr>
          <a:xfrm>
            <a:off x="8503920"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SHAP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Explainability</a:t>
            </a:r>
            <a:endParaRPr lang="en-US" sz="1050" dirty="0"/>
          </a:p>
        </p:txBody>
      </p:sp>
      <p:sp>
        <p:nvSpPr>
          <p:cNvPr id="41" name="Shape 39"/>
          <p:cNvSpPr/>
          <p:nvPr/>
        </p:nvSpPr>
        <p:spPr>
          <a:xfrm>
            <a:off x="10076688" y="4713732"/>
            <a:ext cx="64008" cy="73152"/>
          </a:xfrm>
          <a:prstGeom prst="rect">
            <a:avLst/>
          </a:prstGeom>
          <a:solidFill>
            <a:srgbClr val="E63946"/>
          </a:solidFill>
          <a:ln/>
        </p:spPr>
      </p:sp>
      <p:sp>
        <p:nvSpPr>
          <p:cNvPr id="42" name="Shape 40"/>
          <p:cNvSpPr/>
          <p:nvPr/>
        </p:nvSpPr>
        <p:spPr>
          <a:xfrm>
            <a:off x="10140696" y="4315968"/>
            <a:ext cx="1572768" cy="868680"/>
          </a:xfrm>
          <a:prstGeom prst="rect">
            <a:avLst/>
          </a:prstGeom>
          <a:solidFill>
            <a:srgbClr val="38A169"/>
          </a:solidFill>
          <a:ln/>
        </p:spPr>
      </p:sp>
      <p:sp>
        <p:nvSpPr>
          <p:cNvPr id="43" name="Text 41"/>
          <p:cNvSpPr/>
          <p:nvPr/>
        </p:nvSpPr>
        <p:spPr>
          <a:xfrm>
            <a:off x="10140696" y="4315968"/>
            <a:ext cx="1572768" cy="86868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Deployment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Dataset Overview — NYPD Historic Shooting Data</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03</a:t>
            </a:r>
            <a:endParaRPr lang="en-US" sz="1200" dirty="0"/>
          </a:p>
        </p:txBody>
      </p:sp>
      <p:sp>
        <p:nvSpPr>
          <p:cNvPr id="6" name="Shape 4"/>
          <p:cNvSpPr/>
          <p:nvPr/>
        </p:nvSpPr>
        <p:spPr>
          <a:xfrm>
            <a:off x="320040" y="822960"/>
            <a:ext cx="2743200" cy="1188720"/>
          </a:xfrm>
          <a:prstGeom prst="rect">
            <a:avLst/>
          </a:prstGeom>
          <a:solidFill>
            <a:srgbClr val="0D1B2A"/>
          </a:solidFill>
          <a:ln/>
          <a:effectLst>
            <a:outerShdw sx="100000" sy="100000" kx="0" ky="0" algn="bl" rotWithShape="0" blurRad="127000" dist="50800" dir="8100000">
              <a:srgbClr val="000000">
                <a:alpha val="18000"/>
              </a:srgbClr>
            </a:outerShdw>
          </a:effectLst>
        </p:spPr>
      </p:sp>
      <p:sp>
        <p:nvSpPr>
          <p:cNvPr id="7" name="Text 5"/>
          <p:cNvSpPr/>
          <p:nvPr/>
        </p:nvSpPr>
        <p:spPr>
          <a:xfrm>
            <a:off x="320040" y="896112"/>
            <a:ext cx="2743200" cy="5943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27,312</a:t>
            </a:r>
            <a:endParaRPr lang="en-US" sz="2800" dirty="0"/>
          </a:p>
        </p:txBody>
      </p:sp>
      <p:sp>
        <p:nvSpPr>
          <p:cNvPr id="8" name="Text 6"/>
          <p:cNvSpPr/>
          <p:nvPr/>
        </p:nvSpPr>
        <p:spPr>
          <a:xfrm>
            <a:off x="320040" y="14630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 Incidents</a:t>
            </a:r>
            <a:endParaRPr lang="en-US" sz="1100" dirty="0"/>
          </a:p>
        </p:txBody>
      </p:sp>
      <p:sp>
        <p:nvSpPr>
          <p:cNvPr id="9" name="Text 7"/>
          <p:cNvSpPr/>
          <p:nvPr/>
        </p:nvSpPr>
        <p:spPr>
          <a:xfrm>
            <a:off x="320040" y="1719072"/>
            <a:ext cx="2743200" cy="219456"/>
          </a:xfrm>
          <a:prstGeom prst="rect">
            <a:avLst/>
          </a:prstGeom>
          <a:noFill/>
          <a:ln/>
        </p:spPr>
        <p:txBody>
          <a:bodyPr wrap="square" rtlCol="0" anchor="ctr"/>
          <a:lstStyle/>
          <a:p>
            <a:pPr algn="ctr" indent="0" marL="0">
              <a:buNone/>
            </a:pPr>
            <a:r>
              <a:rPr lang="en-US" sz="850" dirty="0">
                <a:solidFill>
                  <a:srgbClr val="FFFFFF">
                    <a:alpha val="75000"/>
                  </a:srgbClr>
                </a:solidFill>
                <a:latin typeface="Calibri" pitchFamily="34" charset="0"/>
                <a:ea typeface="Calibri" pitchFamily="34" charset="-122"/>
                <a:cs typeface="Calibri" pitchFamily="34" charset="-120"/>
              </a:rPr>
              <a:t>2006 – 2022</a:t>
            </a:r>
            <a:endParaRPr lang="en-US" sz="850" dirty="0"/>
          </a:p>
        </p:txBody>
      </p:sp>
      <p:sp>
        <p:nvSpPr>
          <p:cNvPr id="10" name="Shape 8"/>
          <p:cNvSpPr/>
          <p:nvPr/>
        </p:nvSpPr>
        <p:spPr>
          <a:xfrm>
            <a:off x="3246120" y="822960"/>
            <a:ext cx="2743200" cy="1188720"/>
          </a:xfrm>
          <a:prstGeom prst="rect">
            <a:avLst/>
          </a:prstGeom>
          <a:solidFill>
            <a:srgbClr val="457B9D"/>
          </a:solidFill>
          <a:ln/>
          <a:effectLst>
            <a:outerShdw sx="100000" sy="100000" kx="0" ky="0" algn="bl" rotWithShape="0" blurRad="127000" dist="50800" dir="8100000">
              <a:srgbClr val="000000">
                <a:alpha val="18000"/>
              </a:srgbClr>
            </a:outerShdw>
          </a:effectLst>
        </p:spPr>
      </p:sp>
      <p:sp>
        <p:nvSpPr>
          <p:cNvPr id="11" name="Text 9"/>
          <p:cNvSpPr/>
          <p:nvPr/>
        </p:nvSpPr>
        <p:spPr>
          <a:xfrm>
            <a:off x="3246120" y="896112"/>
            <a:ext cx="2743200" cy="5943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21</a:t>
            </a:r>
            <a:endParaRPr lang="en-US" sz="2800" dirty="0"/>
          </a:p>
        </p:txBody>
      </p:sp>
      <p:sp>
        <p:nvSpPr>
          <p:cNvPr id="12" name="Text 10"/>
          <p:cNvSpPr/>
          <p:nvPr/>
        </p:nvSpPr>
        <p:spPr>
          <a:xfrm>
            <a:off x="3246120" y="14630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Original Columns</a:t>
            </a:r>
            <a:endParaRPr lang="en-US" sz="1100" dirty="0"/>
          </a:p>
        </p:txBody>
      </p:sp>
      <p:sp>
        <p:nvSpPr>
          <p:cNvPr id="13" name="Text 11"/>
          <p:cNvSpPr/>
          <p:nvPr/>
        </p:nvSpPr>
        <p:spPr>
          <a:xfrm>
            <a:off x="3246120" y="1719072"/>
            <a:ext cx="2743200" cy="219456"/>
          </a:xfrm>
          <a:prstGeom prst="rect">
            <a:avLst/>
          </a:prstGeom>
          <a:noFill/>
          <a:ln/>
        </p:spPr>
        <p:txBody>
          <a:bodyPr wrap="square" rtlCol="0" anchor="ctr"/>
          <a:lstStyle/>
          <a:p>
            <a:pPr algn="ctr" indent="0" marL="0">
              <a:buNone/>
            </a:pPr>
            <a:r>
              <a:rPr lang="en-US" sz="850" dirty="0">
                <a:solidFill>
                  <a:srgbClr val="FFFFFF">
                    <a:alpha val="75000"/>
                  </a:srgbClr>
                </a:solidFill>
                <a:latin typeface="Calibri" pitchFamily="34" charset="0"/>
                <a:ea typeface="Calibri" pitchFamily="34" charset="-122"/>
                <a:cs typeface="Calibri" pitchFamily="34" charset="-120"/>
              </a:rPr>
              <a:t>Temporal · Spatial · Demo</a:t>
            </a:r>
            <a:endParaRPr lang="en-US" sz="850" dirty="0"/>
          </a:p>
        </p:txBody>
      </p:sp>
      <p:sp>
        <p:nvSpPr>
          <p:cNvPr id="14" name="Shape 12"/>
          <p:cNvSpPr/>
          <p:nvPr/>
        </p:nvSpPr>
        <p:spPr>
          <a:xfrm>
            <a:off x="6172200" y="822960"/>
            <a:ext cx="2743200" cy="1188720"/>
          </a:xfrm>
          <a:prstGeom prst="rect">
            <a:avLst/>
          </a:prstGeom>
          <a:solidFill>
            <a:srgbClr val="E63946"/>
          </a:solidFill>
          <a:ln/>
          <a:effectLst>
            <a:outerShdw sx="100000" sy="100000" kx="0" ky="0" algn="bl" rotWithShape="0" blurRad="127000" dist="50800" dir="8100000">
              <a:srgbClr val="000000">
                <a:alpha val="18000"/>
              </a:srgbClr>
            </a:outerShdw>
          </a:effectLst>
        </p:spPr>
      </p:sp>
      <p:sp>
        <p:nvSpPr>
          <p:cNvPr id="15" name="Text 13"/>
          <p:cNvSpPr/>
          <p:nvPr/>
        </p:nvSpPr>
        <p:spPr>
          <a:xfrm>
            <a:off x="6172200" y="896112"/>
            <a:ext cx="2743200" cy="5943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19.28%</a:t>
            </a:r>
            <a:endParaRPr lang="en-US" sz="2800" dirty="0"/>
          </a:p>
        </p:txBody>
      </p:sp>
      <p:sp>
        <p:nvSpPr>
          <p:cNvPr id="16" name="Text 14"/>
          <p:cNvSpPr/>
          <p:nvPr/>
        </p:nvSpPr>
        <p:spPr>
          <a:xfrm>
            <a:off x="6172200" y="14630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Fatality Rate</a:t>
            </a:r>
            <a:endParaRPr lang="en-US" sz="1100" dirty="0"/>
          </a:p>
        </p:txBody>
      </p:sp>
      <p:sp>
        <p:nvSpPr>
          <p:cNvPr id="17" name="Text 15"/>
          <p:cNvSpPr/>
          <p:nvPr/>
        </p:nvSpPr>
        <p:spPr>
          <a:xfrm>
            <a:off x="6172200" y="1719072"/>
            <a:ext cx="2743200" cy="219456"/>
          </a:xfrm>
          <a:prstGeom prst="rect">
            <a:avLst/>
          </a:prstGeom>
          <a:noFill/>
          <a:ln/>
        </p:spPr>
        <p:txBody>
          <a:bodyPr wrap="square" rtlCol="0" anchor="ctr"/>
          <a:lstStyle/>
          <a:p>
            <a:pPr algn="ctr" indent="0" marL="0">
              <a:buNone/>
            </a:pPr>
            <a:r>
              <a:rPr lang="en-US" sz="850" dirty="0">
                <a:solidFill>
                  <a:srgbClr val="FFFFFF">
                    <a:alpha val="75000"/>
                  </a:srgbClr>
                </a:solidFill>
                <a:latin typeface="Calibri" pitchFamily="34" charset="0"/>
                <a:ea typeface="Calibri" pitchFamily="34" charset="-122"/>
                <a:cs typeface="Calibri" pitchFamily="34" charset="-120"/>
              </a:rPr>
              <a:t>5,266 fatal incidents</a:t>
            </a:r>
            <a:endParaRPr lang="en-US" sz="850" dirty="0"/>
          </a:p>
        </p:txBody>
      </p:sp>
      <p:sp>
        <p:nvSpPr>
          <p:cNvPr id="18" name="Shape 16"/>
          <p:cNvSpPr/>
          <p:nvPr/>
        </p:nvSpPr>
        <p:spPr>
          <a:xfrm>
            <a:off x="9098280" y="822960"/>
            <a:ext cx="2743200" cy="1188720"/>
          </a:xfrm>
          <a:prstGeom prst="rect">
            <a:avLst/>
          </a:prstGeom>
          <a:solidFill>
            <a:srgbClr val="38A169"/>
          </a:solidFill>
          <a:ln/>
          <a:effectLst>
            <a:outerShdw sx="100000" sy="100000" kx="0" ky="0" algn="bl" rotWithShape="0" blurRad="127000" dist="50800" dir="8100000">
              <a:srgbClr val="000000">
                <a:alpha val="18000"/>
              </a:srgbClr>
            </a:outerShdw>
          </a:effectLst>
        </p:spPr>
      </p:sp>
      <p:sp>
        <p:nvSpPr>
          <p:cNvPr id="19" name="Text 17"/>
          <p:cNvSpPr/>
          <p:nvPr/>
        </p:nvSpPr>
        <p:spPr>
          <a:xfrm>
            <a:off x="9098280" y="896112"/>
            <a:ext cx="2743200" cy="59436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Binary</a:t>
            </a:r>
            <a:endParaRPr lang="en-US" sz="2800" dirty="0"/>
          </a:p>
        </p:txBody>
      </p:sp>
      <p:sp>
        <p:nvSpPr>
          <p:cNvPr id="20" name="Text 18"/>
          <p:cNvSpPr/>
          <p:nvPr/>
        </p:nvSpPr>
        <p:spPr>
          <a:xfrm>
            <a:off x="9098280" y="1463040"/>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Classification Task</a:t>
            </a:r>
            <a:endParaRPr lang="en-US" sz="1100" dirty="0"/>
          </a:p>
        </p:txBody>
      </p:sp>
      <p:sp>
        <p:nvSpPr>
          <p:cNvPr id="21" name="Text 19"/>
          <p:cNvSpPr/>
          <p:nvPr/>
        </p:nvSpPr>
        <p:spPr>
          <a:xfrm>
            <a:off x="9098280" y="1719072"/>
            <a:ext cx="2743200" cy="219456"/>
          </a:xfrm>
          <a:prstGeom prst="rect">
            <a:avLst/>
          </a:prstGeom>
          <a:noFill/>
          <a:ln/>
        </p:spPr>
        <p:txBody>
          <a:bodyPr wrap="square" rtlCol="0" anchor="ctr"/>
          <a:lstStyle/>
          <a:p>
            <a:pPr algn="ctr" indent="0" marL="0">
              <a:buNone/>
            </a:pPr>
            <a:r>
              <a:rPr lang="en-US" sz="850" dirty="0">
                <a:solidFill>
                  <a:srgbClr val="FFFFFF">
                    <a:alpha val="75000"/>
                  </a:srgbClr>
                </a:solidFill>
                <a:latin typeface="Calibri" pitchFamily="34" charset="0"/>
                <a:ea typeface="Calibri" pitchFamily="34" charset="-122"/>
                <a:cs typeface="Calibri" pitchFamily="34" charset="-120"/>
              </a:rPr>
              <a:t>Fatal vs Non-Fatal</a:t>
            </a:r>
            <a:endParaRPr lang="en-US" sz="850" dirty="0"/>
          </a:p>
        </p:txBody>
      </p:sp>
      <p:sp>
        <p:nvSpPr>
          <p:cNvPr id="22" name="Shape 20"/>
          <p:cNvSpPr/>
          <p:nvPr/>
        </p:nvSpPr>
        <p:spPr>
          <a:xfrm>
            <a:off x="320040" y="2148840"/>
            <a:ext cx="2194560" cy="25146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3" name="Shape 21"/>
          <p:cNvSpPr/>
          <p:nvPr/>
        </p:nvSpPr>
        <p:spPr>
          <a:xfrm>
            <a:off x="320040" y="2148840"/>
            <a:ext cx="2194560" cy="475488"/>
          </a:xfrm>
          <a:prstGeom prst="rect">
            <a:avLst/>
          </a:prstGeom>
          <a:solidFill>
            <a:srgbClr val="457B9D"/>
          </a:solidFill>
          <a:ln/>
        </p:spPr>
      </p:sp>
      <p:sp>
        <p:nvSpPr>
          <p:cNvPr id="24" name="Text 22"/>
          <p:cNvSpPr/>
          <p:nvPr/>
        </p:nvSpPr>
        <p:spPr>
          <a:xfrm>
            <a:off x="393192" y="2203704"/>
            <a:ext cx="2103120"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Temporal Features</a:t>
            </a:r>
            <a:endParaRPr lang="en-US" sz="1050" dirty="0"/>
          </a:p>
        </p:txBody>
      </p:sp>
      <p:sp>
        <p:nvSpPr>
          <p:cNvPr id="25" name="Text 23"/>
          <p:cNvSpPr/>
          <p:nvPr/>
        </p:nvSpPr>
        <p:spPr>
          <a:xfrm>
            <a:off x="411480" y="27157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OCCUR_DATE</a:t>
            </a:r>
            <a:endParaRPr lang="en-US" sz="1000" dirty="0"/>
          </a:p>
        </p:txBody>
      </p:sp>
      <p:sp>
        <p:nvSpPr>
          <p:cNvPr id="26" name="Text 24"/>
          <p:cNvSpPr/>
          <p:nvPr/>
        </p:nvSpPr>
        <p:spPr>
          <a:xfrm>
            <a:off x="411480" y="31729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OCCUR_TIME</a:t>
            </a:r>
            <a:endParaRPr lang="en-US" sz="1000" dirty="0"/>
          </a:p>
        </p:txBody>
      </p:sp>
      <p:sp>
        <p:nvSpPr>
          <p:cNvPr id="27" name="Text 25"/>
          <p:cNvSpPr/>
          <p:nvPr/>
        </p:nvSpPr>
        <p:spPr>
          <a:xfrm>
            <a:off x="411480" y="3630168"/>
            <a:ext cx="2011680" cy="402336"/>
          </a:xfrm>
          <a:prstGeom prst="rect">
            <a:avLst/>
          </a:prstGeom>
          <a:noFill/>
          <a:ln/>
        </p:spPr>
        <p:txBody>
          <a:bodyPr wrap="square" rtlCol="0" anchor="ctr"/>
          <a:lstStyle/>
          <a:p>
            <a:pPr indent="0" marL="0">
              <a:buNone/>
            </a:pPr>
            <a:r>
              <a:rPr lang="en-US" sz="1000" b="1" dirty="0">
                <a:solidFill>
                  <a:srgbClr val="457B9D"/>
                </a:solidFill>
                <a:latin typeface="Calibri" pitchFamily="34" charset="0"/>
                <a:ea typeface="Calibri" pitchFamily="34" charset="-122"/>
                <a:cs typeface="Calibri" pitchFamily="34" charset="-120"/>
              </a:rPr>
              <a:t>→ YEAR, MONTH, HOUR</a:t>
            </a:r>
            <a:endParaRPr lang="en-US" sz="1000" dirty="0"/>
          </a:p>
        </p:txBody>
      </p:sp>
      <p:sp>
        <p:nvSpPr>
          <p:cNvPr id="28" name="Text 26"/>
          <p:cNvSpPr/>
          <p:nvPr/>
        </p:nvSpPr>
        <p:spPr>
          <a:xfrm>
            <a:off x="411480" y="4087368"/>
            <a:ext cx="2011680" cy="402336"/>
          </a:xfrm>
          <a:prstGeom prst="rect">
            <a:avLst/>
          </a:prstGeom>
          <a:noFill/>
          <a:ln/>
        </p:spPr>
        <p:txBody>
          <a:bodyPr wrap="square" rtlCol="0" anchor="ctr"/>
          <a:lstStyle/>
          <a:p>
            <a:pPr indent="0" marL="0">
              <a:buNone/>
            </a:pPr>
            <a:r>
              <a:rPr lang="en-US" sz="1000" b="1" dirty="0">
                <a:solidFill>
                  <a:srgbClr val="457B9D"/>
                </a:solidFill>
                <a:latin typeface="Calibri" pitchFamily="34" charset="0"/>
                <a:ea typeface="Calibri" pitchFamily="34" charset="-122"/>
                <a:cs typeface="Calibri" pitchFamily="34" charset="-120"/>
              </a:rPr>
              <a:t>→ IS_NIGHT, IS_WEEKEND</a:t>
            </a:r>
            <a:endParaRPr lang="en-US" sz="1000" dirty="0"/>
          </a:p>
        </p:txBody>
      </p:sp>
      <p:sp>
        <p:nvSpPr>
          <p:cNvPr id="29" name="Shape 27"/>
          <p:cNvSpPr/>
          <p:nvPr/>
        </p:nvSpPr>
        <p:spPr>
          <a:xfrm>
            <a:off x="2633472" y="2148840"/>
            <a:ext cx="2194560" cy="25146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0" name="Shape 28"/>
          <p:cNvSpPr/>
          <p:nvPr/>
        </p:nvSpPr>
        <p:spPr>
          <a:xfrm>
            <a:off x="2633472" y="2148840"/>
            <a:ext cx="2194560" cy="475488"/>
          </a:xfrm>
          <a:prstGeom prst="rect">
            <a:avLst/>
          </a:prstGeom>
          <a:solidFill>
            <a:srgbClr val="0D1B2A"/>
          </a:solidFill>
          <a:ln/>
        </p:spPr>
      </p:sp>
      <p:sp>
        <p:nvSpPr>
          <p:cNvPr id="31" name="Text 29"/>
          <p:cNvSpPr/>
          <p:nvPr/>
        </p:nvSpPr>
        <p:spPr>
          <a:xfrm>
            <a:off x="2706624" y="2203704"/>
            <a:ext cx="2103120"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Spatial Features</a:t>
            </a:r>
            <a:endParaRPr lang="en-US" sz="1050" dirty="0"/>
          </a:p>
        </p:txBody>
      </p:sp>
      <p:sp>
        <p:nvSpPr>
          <p:cNvPr id="32" name="Text 30"/>
          <p:cNvSpPr/>
          <p:nvPr/>
        </p:nvSpPr>
        <p:spPr>
          <a:xfrm>
            <a:off x="2724912" y="27157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BORO (5 boroughs)</a:t>
            </a:r>
            <a:endParaRPr lang="en-US" sz="1000" dirty="0"/>
          </a:p>
        </p:txBody>
      </p:sp>
      <p:sp>
        <p:nvSpPr>
          <p:cNvPr id="33" name="Text 31"/>
          <p:cNvSpPr/>
          <p:nvPr/>
        </p:nvSpPr>
        <p:spPr>
          <a:xfrm>
            <a:off x="2724912" y="31729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PRECINCT (77)</a:t>
            </a:r>
            <a:endParaRPr lang="en-US" sz="1000" dirty="0"/>
          </a:p>
        </p:txBody>
      </p:sp>
      <p:sp>
        <p:nvSpPr>
          <p:cNvPr id="34" name="Text 32"/>
          <p:cNvSpPr/>
          <p:nvPr/>
        </p:nvSpPr>
        <p:spPr>
          <a:xfrm>
            <a:off x="2724912" y="3630168"/>
            <a:ext cx="201168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Latitude / Longitude</a:t>
            </a:r>
            <a:endParaRPr lang="en-US" sz="1000" dirty="0"/>
          </a:p>
        </p:txBody>
      </p:sp>
      <p:sp>
        <p:nvSpPr>
          <p:cNvPr id="35" name="Text 33"/>
          <p:cNvSpPr/>
          <p:nvPr/>
        </p:nvSpPr>
        <p:spPr>
          <a:xfrm>
            <a:off x="2724912" y="4087368"/>
            <a:ext cx="2011680" cy="402336"/>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JURISDICTION_CODE</a:t>
            </a:r>
            <a:endParaRPr lang="en-US" sz="1000" dirty="0"/>
          </a:p>
        </p:txBody>
      </p:sp>
      <p:sp>
        <p:nvSpPr>
          <p:cNvPr id="36" name="Shape 34"/>
          <p:cNvSpPr/>
          <p:nvPr/>
        </p:nvSpPr>
        <p:spPr>
          <a:xfrm>
            <a:off x="4946904" y="2148840"/>
            <a:ext cx="2194560" cy="25146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7" name="Shape 35"/>
          <p:cNvSpPr/>
          <p:nvPr/>
        </p:nvSpPr>
        <p:spPr>
          <a:xfrm>
            <a:off x="4946904" y="2148840"/>
            <a:ext cx="2194560" cy="475488"/>
          </a:xfrm>
          <a:prstGeom prst="rect">
            <a:avLst/>
          </a:prstGeom>
          <a:solidFill>
            <a:srgbClr val="DD6B20"/>
          </a:solidFill>
          <a:ln/>
        </p:spPr>
      </p:sp>
      <p:sp>
        <p:nvSpPr>
          <p:cNvPr id="38" name="Text 36"/>
          <p:cNvSpPr/>
          <p:nvPr/>
        </p:nvSpPr>
        <p:spPr>
          <a:xfrm>
            <a:off x="5020056" y="2203704"/>
            <a:ext cx="2103120"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Perpetrator Data</a:t>
            </a:r>
            <a:endParaRPr lang="en-US" sz="1050" dirty="0"/>
          </a:p>
        </p:txBody>
      </p:sp>
      <p:sp>
        <p:nvSpPr>
          <p:cNvPr id="39" name="Text 37"/>
          <p:cNvSpPr/>
          <p:nvPr/>
        </p:nvSpPr>
        <p:spPr>
          <a:xfrm>
            <a:off x="5038344" y="27157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PERP_AGE_GROUP</a:t>
            </a:r>
            <a:endParaRPr lang="en-US" sz="1000" dirty="0"/>
          </a:p>
        </p:txBody>
      </p:sp>
      <p:sp>
        <p:nvSpPr>
          <p:cNvPr id="40" name="Text 38"/>
          <p:cNvSpPr/>
          <p:nvPr/>
        </p:nvSpPr>
        <p:spPr>
          <a:xfrm>
            <a:off x="5038344" y="31729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PERP_SEX</a:t>
            </a:r>
            <a:endParaRPr lang="en-US" sz="1000" dirty="0"/>
          </a:p>
        </p:txBody>
      </p:sp>
      <p:sp>
        <p:nvSpPr>
          <p:cNvPr id="41" name="Text 39"/>
          <p:cNvSpPr/>
          <p:nvPr/>
        </p:nvSpPr>
        <p:spPr>
          <a:xfrm>
            <a:off x="5038344" y="3630168"/>
            <a:ext cx="2011680" cy="402336"/>
          </a:xfrm>
          <a:prstGeom prst="rect">
            <a:avLst/>
          </a:prstGeom>
          <a:noFill/>
          <a:ln/>
        </p:spPr>
        <p:txBody>
          <a:bodyPr wrap="square" rtlCol="0" anchor="ctr"/>
          <a:lstStyle/>
          <a:p>
            <a:pPr indent="0" marL="0">
              <a:buNone/>
            </a:pPr>
            <a:r>
              <a:rPr lang="en-US" sz="1000" b="1" dirty="0">
                <a:solidFill>
                  <a:srgbClr val="DD6B20"/>
                </a:solidFill>
                <a:latin typeface="Calibri" pitchFamily="34" charset="0"/>
                <a:ea typeface="Calibri" pitchFamily="34" charset="-122"/>
                <a:cs typeface="Calibri" pitchFamily="34" charset="-120"/>
              </a:rPr>
              <a:t>PERP_RACE</a:t>
            </a:r>
            <a:endParaRPr lang="en-US" sz="1000" dirty="0"/>
          </a:p>
        </p:txBody>
      </p:sp>
      <p:sp>
        <p:nvSpPr>
          <p:cNvPr id="42" name="Text 40"/>
          <p:cNvSpPr/>
          <p:nvPr/>
        </p:nvSpPr>
        <p:spPr>
          <a:xfrm>
            <a:off x="5038344" y="4087368"/>
            <a:ext cx="2011680" cy="402336"/>
          </a:xfrm>
          <a:prstGeom prst="rect">
            <a:avLst/>
          </a:prstGeom>
          <a:noFill/>
          <a:ln/>
        </p:spPr>
        <p:txBody>
          <a:bodyPr wrap="square" rtlCol="0" anchor="ctr"/>
          <a:lstStyle/>
          <a:p>
            <a:pPr indent="0" marL="0">
              <a:buNone/>
            </a:pPr>
            <a:r>
              <a:rPr lang="en-US" sz="1000" b="1" dirty="0">
                <a:solidFill>
                  <a:srgbClr val="DD6B20"/>
                </a:solidFill>
                <a:latin typeface="Calibri" pitchFamily="34" charset="0"/>
                <a:ea typeface="Calibri" pitchFamily="34" charset="-122"/>
                <a:cs typeface="Calibri" pitchFamily="34" charset="-120"/>
              </a:rPr>
              <a:t>34% values = UNKNOWN</a:t>
            </a:r>
            <a:endParaRPr lang="en-US" sz="1000" dirty="0"/>
          </a:p>
        </p:txBody>
      </p:sp>
      <p:sp>
        <p:nvSpPr>
          <p:cNvPr id="43" name="Shape 41"/>
          <p:cNvSpPr/>
          <p:nvPr/>
        </p:nvSpPr>
        <p:spPr>
          <a:xfrm>
            <a:off x="7260336" y="2148840"/>
            <a:ext cx="2194560" cy="25146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44" name="Shape 42"/>
          <p:cNvSpPr/>
          <p:nvPr/>
        </p:nvSpPr>
        <p:spPr>
          <a:xfrm>
            <a:off x="7260336" y="2148840"/>
            <a:ext cx="2194560" cy="475488"/>
          </a:xfrm>
          <a:prstGeom prst="rect">
            <a:avLst/>
          </a:prstGeom>
          <a:solidFill>
            <a:srgbClr val="38A169"/>
          </a:solidFill>
          <a:ln/>
        </p:spPr>
      </p:sp>
      <p:sp>
        <p:nvSpPr>
          <p:cNvPr id="45" name="Text 43"/>
          <p:cNvSpPr/>
          <p:nvPr/>
        </p:nvSpPr>
        <p:spPr>
          <a:xfrm>
            <a:off x="7333488" y="2203704"/>
            <a:ext cx="2103120"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Victim Data</a:t>
            </a:r>
            <a:endParaRPr lang="en-US" sz="1050" dirty="0"/>
          </a:p>
        </p:txBody>
      </p:sp>
      <p:sp>
        <p:nvSpPr>
          <p:cNvPr id="46" name="Text 44"/>
          <p:cNvSpPr/>
          <p:nvPr/>
        </p:nvSpPr>
        <p:spPr>
          <a:xfrm>
            <a:off x="7351776" y="27157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VIC_AGE_GROUP</a:t>
            </a:r>
            <a:endParaRPr lang="en-US" sz="1000" dirty="0"/>
          </a:p>
        </p:txBody>
      </p:sp>
      <p:sp>
        <p:nvSpPr>
          <p:cNvPr id="47" name="Text 45"/>
          <p:cNvSpPr/>
          <p:nvPr/>
        </p:nvSpPr>
        <p:spPr>
          <a:xfrm>
            <a:off x="7351776" y="31729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VIC_SEX</a:t>
            </a:r>
            <a:endParaRPr lang="en-US" sz="1000" dirty="0"/>
          </a:p>
        </p:txBody>
      </p:sp>
      <p:sp>
        <p:nvSpPr>
          <p:cNvPr id="48" name="Text 46"/>
          <p:cNvSpPr/>
          <p:nvPr/>
        </p:nvSpPr>
        <p:spPr>
          <a:xfrm>
            <a:off x="7351776" y="3630168"/>
            <a:ext cx="2011680" cy="402336"/>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VIC_RACE</a:t>
            </a:r>
            <a:endParaRPr lang="en-US" sz="1000" dirty="0"/>
          </a:p>
        </p:txBody>
      </p:sp>
      <p:sp>
        <p:nvSpPr>
          <p:cNvPr id="49" name="Text 47"/>
          <p:cNvSpPr/>
          <p:nvPr/>
        </p:nvSpPr>
        <p:spPr>
          <a:xfrm>
            <a:off x="7351776" y="4087368"/>
            <a:ext cx="2011680" cy="402336"/>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100% complete ✅</a:t>
            </a:r>
            <a:endParaRPr lang="en-US" sz="1000" dirty="0"/>
          </a:p>
        </p:txBody>
      </p:sp>
      <p:sp>
        <p:nvSpPr>
          <p:cNvPr id="50" name="Shape 48"/>
          <p:cNvSpPr/>
          <p:nvPr/>
        </p:nvSpPr>
        <p:spPr>
          <a:xfrm>
            <a:off x="9573768" y="2148840"/>
            <a:ext cx="2194560" cy="25146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51" name="Shape 49"/>
          <p:cNvSpPr/>
          <p:nvPr/>
        </p:nvSpPr>
        <p:spPr>
          <a:xfrm>
            <a:off x="9573768" y="2148840"/>
            <a:ext cx="2194560" cy="475488"/>
          </a:xfrm>
          <a:prstGeom prst="rect">
            <a:avLst/>
          </a:prstGeom>
          <a:solidFill>
            <a:srgbClr val="E63946"/>
          </a:solidFill>
          <a:ln/>
        </p:spPr>
      </p:sp>
      <p:sp>
        <p:nvSpPr>
          <p:cNvPr id="52" name="Text 50"/>
          <p:cNvSpPr/>
          <p:nvPr/>
        </p:nvSpPr>
        <p:spPr>
          <a:xfrm>
            <a:off x="9646920" y="2203704"/>
            <a:ext cx="2103120" cy="36576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Target Variable</a:t>
            </a:r>
            <a:endParaRPr lang="en-US" sz="1050" dirty="0"/>
          </a:p>
        </p:txBody>
      </p:sp>
      <p:sp>
        <p:nvSpPr>
          <p:cNvPr id="53" name="Text 51"/>
          <p:cNvSpPr/>
          <p:nvPr/>
        </p:nvSpPr>
        <p:spPr>
          <a:xfrm>
            <a:off x="9665208" y="27157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STATISTICAL_MURDER_FLAG</a:t>
            </a:r>
            <a:endParaRPr lang="en-US" sz="1000" dirty="0"/>
          </a:p>
        </p:txBody>
      </p:sp>
      <p:sp>
        <p:nvSpPr>
          <p:cNvPr id="54" name="Text 52"/>
          <p:cNvSpPr/>
          <p:nvPr/>
        </p:nvSpPr>
        <p:spPr>
          <a:xfrm>
            <a:off x="9665208" y="3172968"/>
            <a:ext cx="2011680" cy="402336"/>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True → Fatal (19.3%)</a:t>
            </a:r>
            <a:endParaRPr lang="en-US" sz="1000" dirty="0"/>
          </a:p>
        </p:txBody>
      </p:sp>
      <p:sp>
        <p:nvSpPr>
          <p:cNvPr id="55" name="Text 53"/>
          <p:cNvSpPr/>
          <p:nvPr/>
        </p:nvSpPr>
        <p:spPr>
          <a:xfrm>
            <a:off x="9665208" y="3630168"/>
            <a:ext cx="2011680" cy="402336"/>
          </a:xfrm>
          <a:prstGeom prst="rect">
            <a:avLst/>
          </a:prstGeom>
          <a:noFill/>
          <a:ln/>
        </p:spPr>
        <p:txBody>
          <a:bodyPr wrap="square" rtlCol="0" anchor="ctr"/>
          <a:lstStyle/>
          <a:p>
            <a:pPr indent="0" marL="0">
              <a:buNone/>
            </a:pPr>
            <a:r>
              <a:rPr lang="en-US" sz="1000" b="1" dirty="0">
                <a:solidFill>
                  <a:srgbClr val="E63946"/>
                </a:solidFill>
                <a:latin typeface="Calibri" pitchFamily="34" charset="0"/>
                <a:ea typeface="Calibri" pitchFamily="34" charset="-122"/>
                <a:cs typeface="Calibri" pitchFamily="34" charset="-120"/>
              </a:rPr>
              <a:t>False → Non-Fatal (80.7%)</a:t>
            </a:r>
            <a:endParaRPr lang="en-US" sz="1000" dirty="0"/>
          </a:p>
        </p:txBody>
      </p:sp>
      <p:sp>
        <p:nvSpPr>
          <p:cNvPr id="56" name="Text 54"/>
          <p:cNvSpPr/>
          <p:nvPr/>
        </p:nvSpPr>
        <p:spPr>
          <a:xfrm>
            <a:off x="9665208" y="4087368"/>
            <a:ext cx="2011680" cy="402336"/>
          </a:xfrm>
          <a:prstGeom prst="rect">
            <a:avLst/>
          </a:prstGeom>
          <a:noFill/>
          <a:ln/>
        </p:spPr>
        <p:txBody>
          <a:bodyPr wrap="square" rtlCol="0" anchor="ctr"/>
          <a:lstStyle/>
          <a:p>
            <a:pPr indent="0" marL="0">
              <a:buNone/>
            </a:pPr>
            <a:r>
              <a:rPr lang="en-US" sz="1000" b="1" dirty="0">
                <a:solidFill>
                  <a:srgbClr val="E63946"/>
                </a:solidFill>
                <a:latin typeface="Calibri" pitchFamily="34" charset="0"/>
                <a:ea typeface="Calibri" pitchFamily="34" charset="-122"/>
                <a:cs typeface="Calibri" pitchFamily="34" charset="-120"/>
              </a:rPr>
              <a:t>4.2 : 1 imbalance ratio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Data Quality Analysis — Missing Values &amp; Duplicates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04</a:t>
            </a:r>
            <a:endParaRPr lang="en-US" sz="1200" dirty="0"/>
          </a:p>
        </p:txBody>
      </p:sp>
      <p:sp>
        <p:nvSpPr>
          <p:cNvPr id="6" name="Shape 4"/>
          <p:cNvSpPr/>
          <p:nvPr/>
        </p:nvSpPr>
        <p:spPr>
          <a:xfrm>
            <a:off x="320040" y="841248"/>
            <a:ext cx="6858000" cy="42976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Text 5"/>
          <p:cNvSpPr/>
          <p:nvPr/>
        </p:nvSpPr>
        <p:spPr>
          <a:xfrm>
            <a:off x="457200" y="914400"/>
            <a:ext cx="658368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Missing Values by Column</a:t>
            </a:r>
            <a:endParaRPr lang="en-US" sz="1300" dirty="0"/>
          </a:p>
        </p:txBody>
      </p:sp>
      <p:sp>
        <p:nvSpPr>
          <p:cNvPr id="8" name="Text 6"/>
          <p:cNvSpPr/>
          <p:nvPr/>
        </p:nvSpPr>
        <p:spPr>
          <a:xfrm>
            <a:off x="457200" y="1389888"/>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LOC_OF_OCCUR_DESC</a:t>
            </a:r>
            <a:endParaRPr lang="en-US" sz="900" dirty="0"/>
          </a:p>
        </p:txBody>
      </p:sp>
      <p:sp>
        <p:nvSpPr>
          <p:cNvPr id="9" name="Shape 7"/>
          <p:cNvSpPr/>
          <p:nvPr/>
        </p:nvSpPr>
        <p:spPr>
          <a:xfrm>
            <a:off x="2423160" y="1444752"/>
            <a:ext cx="4754880" cy="219456"/>
          </a:xfrm>
          <a:prstGeom prst="rect">
            <a:avLst/>
          </a:prstGeom>
          <a:solidFill>
            <a:srgbClr val="E2E8F0"/>
          </a:solidFill>
          <a:ln/>
        </p:spPr>
      </p:sp>
      <p:sp>
        <p:nvSpPr>
          <p:cNvPr id="10" name="Shape 8"/>
          <p:cNvSpPr/>
          <p:nvPr/>
        </p:nvSpPr>
        <p:spPr>
          <a:xfrm>
            <a:off x="2423160" y="1444752"/>
            <a:ext cx="4455323" cy="219456"/>
          </a:xfrm>
          <a:prstGeom prst="rect">
            <a:avLst/>
          </a:prstGeom>
          <a:solidFill>
            <a:srgbClr val="E63946"/>
          </a:solidFill>
          <a:ln/>
        </p:spPr>
      </p:sp>
      <p:sp>
        <p:nvSpPr>
          <p:cNvPr id="11" name="Text 9"/>
          <p:cNvSpPr/>
          <p:nvPr/>
        </p:nvSpPr>
        <p:spPr>
          <a:xfrm>
            <a:off x="6924203" y="1426464"/>
            <a:ext cx="548640" cy="256032"/>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93.7%</a:t>
            </a:r>
            <a:endParaRPr lang="en-US" sz="850" dirty="0"/>
          </a:p>
        </p:txBody>
      </p:sp>
      <p:sp>
        <p:nvSpPr>
          <p:cNvPr id="12" name="Shape 10"/>
          <p:cNvSpPr/>
          <p:nvPr/>
        </p:nvSpPr>
        <p:spPr>
          <a:xfrm>
            <a:off x="6656832" y="1444752"/>
            <a:ext cx="411480" cy="219456"/>
          </a:xfrm>
          <a:prstGeom prst="rect">
            <a:avLst/>
          </a:prstGeom>
          <a:solidFill>
            <a:srgbClr val="E63946"/>
          </a:solidFill>
          <a:ln/>
        </p:spPr>
      </p:sp>
      <p:sp>
        <p:nvSpPr>
          <p:cNvPr id="13" name="Text 11"/>
          <p:cNvSpPr/>
          <p:nvPr/>
        </p:nvSpPr>
        <p:spPr>
          <a:xfrm>
            <a:off x="6656832" y="1444752"/>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DROP</a:t>
            </a:r>
            <a:endParaRPr lang="en-US" sz="700" dirty="0"/>
          </a:p>
        </p:txBody>
      </p:sp>
      <p:sp>
        <p:nvSpPr>
          <p:cNvPr id="14" name="Text 12"/>
          <p:cNvSpPr/>
          <p:nvPr/>
        </p:nvSpPr>
        <p:spPr>
          <a:xfrm>
            <a:off x="457200" y="1792224"/>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LOC_CLASSFCTN_DESC</a:t>
            </a:r>
            <a:endParaRPr lang="en-US" sz="900" dirty="0"/>
          </a:p>
        </p:txBody>
      </p:sp>
      <p:sp>
        <p:nvSpPr>
          <p:cNvPr id="15" name="Shape 13"/>
          <p:cNvSpPr/>
          <p:nvPr/>
        </p:nvSpPr>
        <p:spPr>
          <a:xfrm>
            <a:off x="2423160" y="1847088"/>
            <a:ext cx="4754880" cy="219456"/>
          </a:xfrm>
          <a:prstGeom prst="rect">
            <a:avLst/>
          </a:prstGeom>
          <a:solidFill>
            <a:srgbClr val="E2E8F0"/>
          </a:solidFill>
          <a:ln/>
        </p:spPr>
      </p:sp>
      <p:sp>
        <p:nvSpPr>
          <p:cNvPr id="16" name="Shape 14"/>
          <p:cNvSpPr/>
          <p:nvPr/>
        </p:nvSpPr>
        <p:spPr>
          <a:xfrm>
            <a:off x="2423160" y="1847088"/>
            <a:ext cx="4455323" cy="219456"/>
          </a:xfrm>
          <a:prstGeom prst="rect">
            <a:avLst/>
          </a:prstGeom>
          <a:solidFill>
            <a:srgbClr val="E63946"/>
          </a:solidFill>
          <a:ln/>
        </p:spPr>
      </p:sp>
      <p:sp>
        <p:nvSpPr>
          <p:cNvPr id="17" name="Text 15"/>
          <p:cNvSpPr/>
          <p:nvPr/>
        </p:nvSpPr>
        <p:spPr>
          <a:xfrm>
            <a:off x="6924203" y="1828800"/>
            <a:ext cx="548640" cy="256032"/>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93.7%</a:t>
            </a:r>
            <a:endParaRPr lang="en-US" sz="850" dirty="0"/>
          </a:p>
        </p:txBody>
      </p:sp>
      <p:sp>
        <p:nvSpPr>
          <p:cNvPr id="18" name="Shape 16"/>
          <p:cNvSpPr/>
          <p:nvPr/>
        </p:nvSpPr>
        <p:spPr>
          <a:xfrm>
            <a:off x="6656832" y="1847088"/>
            <a:ext cx="411480" cy="219456"/>
          </a:xfrm>
          <a:prstGeom prst="rect">
            <a:avLst/>
          </a:prstGeom>
          <a:solidFill>
            <a:srgbClr val="E63946"/>
          </a:solidFill>
          <a:ln/>
        </p:spPr>
      </p:sp>
      <p:sp>
        <p:nvSpPr>
          <p:cNvPr id="19" name="Text 17"/>
          <p:cNvSpPr/>
          <p:nvPr/>
        </p:nvSpPr>
        <p:spPr>
          <a:xfrm>
            <a:off x="6656832" y="1847088"/>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DROP</a:t>
            </a:r>
            <a:endParaRPr lang="en-US" sz="700" dirty="0"/>
          </a:p>
        </p:txBody>
      </p:sp>
      <p:sp>
        <p:nvSpPr>
          <p:cNvPr id="20" name="Text 18"/>
          <p:cNvSpPr/>
          <p:nvPr/>
        </p:nvSpPr>
        <p:spPr>
          <a:xfrm>
            <a:off x="457200" y="2194560"/>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LOCATION_DESC</a:t>
            </a:r>
            <a:endParaRPr lang="en-US" sz="900" dirty="0"/>
          </a:p>
        </p:txBody>
      </p:sp>
      <p:sp>
        <p:nvSpPr>
          <p:cNvPr id="21" name="Shape 19"/>
          <p:cNvSpPr/>
          <p:nvPr/>
        </p:nvSpPr>
        <p:spPr>
          <a:xfrm>
            <a:off x="2423160" y="2249424"/>
            <a:ext cx="4754880" cy="219456"/>
          </a:xfrm>
          <a:prstGeom prst="rect">
            <a:avLst/>
          </a:prstGeom>
          <a:solidFill>
            <a:srgbClr val="E2E8F0"/>
          </a:solidFill>
          <a:ln/>
        </p:spPr>
      </p:sp>
      <p:sp>
        <p:nvSpPr>
          <p:cNvPr id="22" name="Shape 20"/>
          <p:cNvSpPr/>
          <p:nvPr/>
        </p:nvSpPr>
        <p:spPr>
          <a:xfrm>
            <a:off x="2423160" y="2249424"/>
            <a:ext cx="2605674" cy="219456"/>
          </a:xfrm>
          <a:prstGeom prst="rect">
            <a:avLst/>
          </a:prstGeom>
          <a:solidFill>
            <a:srgbClr val="E63946"/>
          </a:solidFill>
          <a:ln/>
        </p:spPr>
      </p:sp>
      <p:sp>
        <p:nvSpPr>
          <p:cNvPr id="23" name="Text 21"/>
          <p:cNvSpPr/>
          <p:nvPr/>
        </p:nvSpPr>
        <p:spPr>
          <a:xfrm>
            <a:off x="5074554" y="2231136"/>
            <a:ext cx="548640" cy="256032"/>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54.8%</a:t>
            </a:r>
            <a:endParaRPr lang="en-US" sz="850" dirty="0"/>
          </a:p>
        </p:txBody>
      </p:sp>
      <p:sp>
        <p:nvSpPr>
          <p:cNvPr id="24" name="Shape 22"/>
          <p:cNvSpPr/>
          <p:nvPr/>
        </p:nvSpPr>
        <p:spPr>
          <a:xfrm>
            <a:off x="6656832" y="2249424"/>
            <a:ext cx="411480" cy="219456"/>
          </a:xfrm>
          <a:prstGeom prst="rect">
            <a:avLst/>
          </a:prstGeom>
          <a:solidFill>
            <a:srgbClr val="E63946"/>
          </a:solidFill>
          <a:ln/>
        </p:spPr>
      </p:sp>
      <p:sp>
        <p:nvSpPr>
          <p:cNvPr id="25" name="Text 23"/>
          <p:cNvSpPr/>
          <p:nvPr/>
        </p:nvSpPr>
        <p:spPr>
          <a:xfrm>
            <a:off x="6656832" y="2249424"/>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DROP</a:t>
            </a:r>
            <a:endParaRPr lang="en-US" sz="700" dirty="0"/>
          </a:p>
        </p:txBody>
      </p:sp>
      <p:sp>
        <p:nvSpPr>
          <p:cNvPr id="26" name="Text 24"/>
          <p:cNvSpPr/>
          <p:nvPr/>
        </p:nvSpPr>
        <p:spPr>
          <a:xfrm>
            <a:off x="457200" y="2596896"/>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PERP_AGE_GROUP</a:t>
            </a:r>
            <a:endParaRPr lang="en-US" sz="900" dirty="0"/>
          </a:p>
        </p:txBody>
      </p:sp>
      <p:sp>
        <p:nvSpPr>
          <p:cNvPr id="27" name="Shape 25"/>
          <p:cNvSpPr/>
          <p:nvPr/>
        </p:nvSpPr>
        <p:spPr>
          <a:xfrm>
            <a:off x="2423160" y="2651760"/>
            <a:ext cx="4754880" cy="219456"/>
          </a:xfrm>
          <a:prstGeom prst="rect">
            <a:avLst/>
          </a:prstGeom>
          <a:solidFill>
            <a:srgbClr val="E2E8F0"/>
          </a:solidFill>
          <a:ln/>
        </p:spPr>
      </p:sp>
      <p:sp>
        <p:nvSpPr>
          <p:cNvPr id="28" name="Shape 26"/>
          <p:cNvSpPr/>
          <p:nvPr/>
        </p:nvSpPr>
        <p:spPr>
          <a:xfrm>
            <a:off x="2423160" y="2651760"/>
            <a:ext cx="1626169" cy="219456"/>
          </a:xfrm>
          <a:prstGeom prst="rect">
            <a:avLst/>
          </a:prstGeom>
          <a:solidFill>
            <a:srgbClr val="DD6B20"/>
          </a:solidFill>
          <a:ln/>
        </p:spPr>
      </p:sp>
      <p:sp>
        <p:nvSpPr>
          <p:cNvPr id="29" name="Text 27"/>
          <p:cNvSpPr/>
          <p:nvPr/>
        </p:nvSpPr>
        <p:spPr>
          <a:xfrm>
            <a:off x="4095049" y="2633472"/>
            <a:ext cx="548640" cy="256032"/>
          </a:xfrm>
          <a:prstGeom prst="rect">
            <a:avLst/>
          </a:prstGeom>
          <a:noFill/>
          <a:ln/>
        </p:spPr>
        <p:txBody>
          <a:bodyPr wrap="square" rtlCol="0" anchor="ctr"/>
          <a:lstStyle/>
          <a:p>
            <a:pPr indent="0" marL="0">
              <a:buNone/>
            </a:pPr>
            <a:r>
              <a:rPr lang="en-US" sz="850" b="1" dirty="0">
                <a:solidFill>
                  <a:srgbClr val="DD6B20"/>
                </a:solidFill>
                <a:latin typeface="Calibri" pitchFamily="34" charset="0"/>
                <a:ea typeface="Calibri" pitchFamily="34" charset="-122"/>
                <a:cs typeface="Calibri" pitchFamily="34" charset="-120"/>
              </a:rPr>
              <a:t>34.2%</a:t>
            </a:r>
            <a:endParaRPr lang="en-US" sz="850" dirty="0"/>
          </a:p>
        </p:txBody>
      </p:sp>
      <p:sp>
        <p:nvSpPr>
          <p:cNvPr id="30" name="Shape 28"/>
          <p:cNvSpPr/>
          <p:nvPr/>
        </p:nvSpPr>
        <p:spPr>
          <a:xfrm>
            <a:off x="6656832" y="2651760"/>
            <a:ext cx="411480" cy="219456"/>
          </a:xfrm>
          <a:prstGeom prst="rect">
            <a:avLst/>
          </a:prstGeom>
          <a:solidFill>
            <a:srgbClr val="DD6B20"/>
          </a:solidFill>
          <a:ln/>
        </p:spPr>
      </p:sp>
      <p:sp>
        <p:nvSpPr>
          <p:cNvPr id="31" name="Text 29"/>
          <p:cNvSpPr/>
          <p:nvPr/>
        </p:nvSpPr>
        <p:spPr>
          <a:xfrm>
            <a:off x="6656832" y="2651760"/>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IMPUTE</a:t>
            </a:r>
            <a:endParaRPr lang="en-US" sz="700" dirty="0"/>
          </a:p>
        </p:txBody>
      </p:sp>
      <p:sp>
        <p:nvSpPr>
          <p:cNvPr id="32" name="Text 30"/>
          <p:cNvSpPr/>
          <p:nvPr/>
        </p:nvSpPr>
        <p:spPr>
          <a:xfrm>
            <a:off x="457200" y="2999232"/>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PERP_SEX</a:t>
            </a:r>
            <a:endParaRPr lang="en-US" sz="900" dirty="0"/>
          </a:p>
        </p:txBody>
      </p:sp>
      <p:sp>
        <p:nvSpPr>
          <p:cNvPr id="33" name="Shape 31"/>
          <p:cNvSpPr/>
          <p:nvPr/>
        </p:nvSpPr>
        <p:spPr>
          <a:xfrm>
            <a:off x="2423160" y="3054096"/>
            <a:ext cx="4754880" cy="219456"/>
          </a:xfrm>
          <a:prstGeom prst="rect">
            <a:avLst/>
          </a:prstGeom>
          <a:solidFill>
            <a:srgbClr val="E2E8F0"/>
          </a:solidFill>
          <a:ln/>
        </p:spPr>
      </p:sp>
      <p:sp>
        <p:nvSpPr>
          <p:cNvPr id="34" name="Shape 32"/>
          <p:cNvSpPr/>
          <p:nvPr/>
        </p:nvSpPr>
        <p:spPr>
          <a:xfrm>
            <a:off x="2423160" y="3054096"/>
            <a:ext cx="1621414" cy="219456"/>
          </a:xfrm>
          <a:prstGeom prst="rect">
            <a:avLst/>
          </a:prstGeom>
          <a:solidFill>
            <a:srgbClr val="DD6B20"/>
          </a:solidFill>
          <a:ln/>
        </p:spPr>
      </p:sp>
      <p:sp>
        <p:nvSpPr>
          <p:cNvPr id="35" name="Text 33"/>
          <p:cNvSpPr/>
          <p:nvPr/>
        </p:nvSpPr>
        <p:spPr>
          <a:xfrm>
            <a:off x="4090294" y="3035808"/>
            <a:ext cx="548640" cy="256032"/>
          </a:xfrm>
          <a:prstGeom prst="rect">
            <a:avLst/>
          </a:prstGeom>
          <a:noFill/>
          <a:ln/>
        </p:spPr>
        <p:txBody>
          <a:bodyPr wrap="square" rtlCol="0" anchor="ctr"/>
          <a:lstStyle/>
          <a:p>
            <a:pPr indent="0" marL="0">
              <a:buNone/>
            </a:pPr>
            <a:r>
              <a:rPr lang="en-US" sz="850" b="1" dirty="0">
                <a:solidFill>
                  <a:srgbClr val="DD6B20"/>
                </a:solidFill>
                <a:latin typeface="Calibri" pitchFamily="34" charset="0"/>
                <a:ea typeface="Calibri" pitchFamily="34" charset="-122"/>
                <a:cs typeface="Calibri" pitchFamily="34" charset="-120"/>
              </a:rPr>
              <a:t>34.1%</a:t>
            </a:r>
            <a:endParaRPr lang="en-US" sz="850" dirty="0"/>
          </a:p>
        </p:txBody>
      </p:sp>
      <p:sp>
        <p:nvSpPr>
          <p:cNvPr id="36" name="Shape 34"/>
          <p:cNvSpPr/>
          <p:nvPr/>
        </p:nvSpPr>
        <p:spPr>
          <a:xfrm>
            <a:off x="6656832" y="3054096"/>
            <a:ext cx="411480" cy="219456"/>
          </a:xfrm>
          <a:prstGeom prst="rect">
            <a:avLst/>
          </a:prstGeom>
          <a:solidFill>
            <a:srgbClr val="DD6B20"/>
          </a:solidFill>
          <a:ln/>
        </p:spPr>
      </p:sp>
      <p:sp>
        <p:nvSpPr>
          <p:cNvPr id="37" name="Text 35"/>
          <p:cNvSpPr/>
          <p:nvPr/>
        </p:nvSpPr>
        <p:spPr>
          <a:xfrm>
            <a:off x="6656832" y="3054096"/>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IMPUTE</a:t>
            </a:r>
            <a:endParaRPr lang="en-US" sz="700" dirty="0"/>
          </a:p>
        </p:txBody>
      </p:sp>
      <p:sp>
        <p:nvSpPr>
          <p:cNvPr id="38" name="Text 36"/>
          <p:cNvSpPr/>
          <p:nvPr/>
        </p:nvSpPr>
        <p:spPr>
          <a:xfrm>
            <a:off x="457200" y="3401568"/>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PERP_RACE</a:t>
            </a:r>
            <a:endParaRPr lang="en-US" sz="900" dirty="0"/>
          </a:p>
        </p:txBody>
      </p:sp>
      <p:sp>
        <p:nvSpPr>
          <p:cNvPr id="39" name="Shape 37"/>
          <p:cNvSpPr/>
          <p:nvPr/>
        </p:nvSpPr>
        <p:spPr>
          <a:xfrm>
            <a:off x="2423160" y="3456432"/>
            <a:ext cx="4754880" cy="219456"/>
          </a:xfrm>
          <a:prstGeom prst="rect">
            <a:avLst/>
          </a:prstGeom>
          <a:solidFill>
            <a:srgbClr val="E2E8F0"/>
          </a:solidFill>
          <a:ln/>
        </p:spPr>
      </p:sp>
      <p:sp>
        <p:nvSpPr>
          <p:cNvPr id="40" name="Shape 38"/>
          <p:cNvSpPr/>
          <p:nvPr/>
        </p:nvSpPr>
        <p:spPr>
          <a:xfrm>
            <a:off x="2423160" y="3456432"/>
            <a:ext cx="1621414" cy="219456"/>
          </a:xfrm>
          <a:prstGeom prst="rect">
            <a:avLst/>
          </a:prstGeom>
          <a:solidFill>
            <a:srgbClr val="DD6B20"/>
          </a:solidFill>
          <a:ln/>
        </p:spPr>
      </p:sp>
      <p:sp>
        <p:nvSpPr>
          <p:cNvPr id="41" name="Text 39"/>
          <p:cNvSpPr/>
          <p:nvPr/>
        </p:nvSpPr>
        <p:spPr>
          <a:xfrm>
            <a:off x="4090294" y="3438144"/>
            <a:ext cx="548640" cy="256032"/>
          </a:xfrm>
          <a:prstGeom prst="rect">
            <a:avLst/>
          </a:prstGeom>
          <a:noFill/>
          <a:ln/>
        </p:spPr>
        <p:txBody>
          <a:bodyPr wrap="square" rtlCol="0" anchor="ctr"/>
          <a:lstStyle/>
          <a:p>
            <a:pPr indent="0" marL="0">
              <a:buNone/>
            </a:pPr>
            <a:r>
              <a:rPr lang="en-US" sz="850" b="1" dirty="0">
                <a:solidFill>
                  <a:srgbClr val="DD6B20"/>
                </a:solidFill>
                <a:latin typeface="Calibri" pitchFamily="34" charset="0"/>
                <a:ea typeface="Calibri" pitchFamily="34" charset="-122"/>
                <a:cs typeface="Calibri" pitchFamily="34" charset="-120"/>
              </a:rPr>
              <a:t>34.1%</a:t>
            </a:r>
            <a:endParaRPr lang="en-US" sz="850" dirty="0"/>
          </a:p>
        </p:txBody>
      </p:sp>
      <p:sp>
        <p:nvSpPr>
          <p:cNvPr id="42" name="Shape 40"/>
          <p:cNvSpPr/>
          <p:nvPr/>
        </p:nvSpPr>
        <p:spPr>
          <a:xfrm>
            <a:off x="6656832" y="3456432"/>
            <a:ext cx="411480" cy="219456"/>
          </a:xfrm>
          <a:prstGeom prst="rect">
            <a:avLst/>
          </a:prstGeom>
          <a:solidFill>
            <a:srgbClr val="DD6B20"/>
          </a:solidFill>
          <a:ln/>
        </p:spPr>
      </p:sp>
      <p:sp>
        <p:nvSpPr>
          <p:cNvPr id="43" name="Text 41"/>
          <p:cNvSpPr/>
          <p:nvPr/>
        </p:nvSpPr>
        <p:spPr>
          <a:xfrm>
            <a:off x="6656832" y="3456432"/>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IMPUTE</a:t>
            </a:r>
            <a:endParaRPr lang="en-US" sz="700" dirty="0"/>
          </a:p>
        </p:txBody>
      </p:sp>
      <p:sp>
        <p:nvSpPr>
          <p:cNvPr id="44" name="Text 42"/>
          <p:cNvSpPr/>
          <p:nvPr/>
        </p:nvSpPr>
        <p:spPr>
          <a:xfrm>
            <a:off x="457200" y="3803904"/>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Latitude</a:t>
            </a:r>
            <a:endParaRPr lang="en-US" sz="900" dirty="0"/>
          </a:p>
        </p:txBody>
      </p:sp>
      <p:sp>
        <p:nvSpPr>
          <p:cNvPr id="45" name="Shape 43"/>
          <p:cNvSpPr/>
          <p:nvPr/>
        </p:nvSpPr>
        <p:spPr>
          <a:xfrm>
            <a:off x="2423160" y="3858768"/>
            <a:ext cx="4754880" cy="219456"/>
          </a:xfrm>
          <a:prstGeom prst="rect">
            <a:avLst/>
          </a:prstGeom>
          <a:solidFill>
            <a:srgbClr val="E2E8F0"/>
          </a:solidFill>
          <a:ln/>
        </p:spPr>
      </p:sp>
      <p:sp>
        <p:nvSpPr>
          <p:cNvPr id="46" name="Text 44"/>
          <p:cNvSpPr/>
          <p:nvPr/>
        </p:nvSpPr>
        <p:spPr>
          <a:xfrm>
            <a:off x="2470782" y="3840480"/>
            <a:ext cx="548640" cy="256032"/>
          </a:xfrm>
          <a:prstGeom prst="rect">
            <a:avLst/>
          </a:prstGeom>
          <a:noFill/>
          <a:ln/>
        </p:spPr>
        <p:txBody>
          <a:bodyPr wrap="square" rtlCol="0" anchor="ctr"/>
          <a:lstStyle/>
          <a:p>
            <a:pPr indent="0" marL="0">
              <a:buNone/>
            </a:pPr>
            <a:r>
              <a:rPr lang="en-US" sz="850" b="1" dirty="0">
                <a:solidFill>
                  <a:srgbClr val="38A169"/>
                </a:solidFill>
                <a:latin typeface="Calibri" pitchFamily="34" charset="0"/>
                <a:ea typeface="Calibri" pitchFamily="34" charset="-122"/>
                <a:cs typeface="Calibri" pitchFamily="34" charset="-120"/>
              </a:rPr>
              <a:t>0.04%</a:t>
            </a:r>
            <a:endParaRPr lang="en-US" sz="850" dirty="0"/>
          </a:p>
        </p:txBody>
      </p:sp>
      <p:sp>
        <p:nvSpPr>
          <p:cNvPr id="47" name="Shape 45"/>
          <p:cNvSpPr/>
          <p:nvPr/>
        </p:nvSpPr>
        <p:spPr>
          <a:xfrm>
            <a:off x="6656832" y="3858768"/>
            <a:ext cx="411480" cy="219456"/>
          </a:xfrm>
          <a:prstGeom prst="rect">
            <a:avLst/>
          </a:prstGeom>
          <a:solidFill>
            <a:srgbClr val="38A169"/>
          </a:solidFill>
          <a:ln/>
        </p:spPr>
      </p:sp>
      <p:sp>
        <p:nvSpPr>
          <p:cNvPr id="48" name="Text 46"/>
          <p:cNvSpPr/>
          <p:nvPr/>
        </p:nvSpPr>
        <p:spPr>
          <a:xfrm>
            <a:off x="6656832" y="3858768"/>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FILL</a:t>
            </a:r>
            <a:endParaRPr lang="en-US" sz="700" dirty="0"/>
          </a:p>
        </p:txBody>
      </p:sp>
      <p:sp>
        <p:nvSpPr>
          <p:cNvPr id="49" name="Text 47"/>
          <p:cNvSpPr/>
          <p:nvPr/>
        </p:nvSpPr>
        <p:spPr>
          <a:xfrm>
            <a:off x="457200" y="4206240"/>
            <a:ext cx="1920240" cy="329184"/>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JURISDICTION_CODE</a:t>
            </a:r>
            <a:endParaRPr lang="en-US" sz="900" dirty="0"/>
          </a:p>
        </p:txBody>
      </p:sp>
      <p:sp>
        <p:nvSpPr>
          <p:cNvPr id="50" name="Shape 48"/>
          <p:cNvSpPr/>
          <p:nvPr/>
        </p:nvSpPr>
        <p:spPr>
          <a:xfrm>
            <a:off x="2423160" y="4261104"/>
            <a:ext cx="4754880" cy="219456"/>
          </a:xfrm>
          <a:prstGeom prst="rect">
            <a:avLst/>
          </a:prstGeom>
          <a:solidFill>
            <a:srgbClr val="E2E8F0"/>
          </a:solidFill>
          <a:ln/>
        </p:spPr>
      </p:sp>
      <p:sp>
        <p:nvSpPr>
          <p:cNvPr id="51" name="Text 49"/>
          <p:cNvSpPr/>
          <p:nvPr/>
        </p:nvSpPr>
        <p:spPr>
          <a:xfrm>
            <a:off x="2469355" y="4242816"/>
            <a:ext cx="548640" cy="256032"/>
          </a:xfrm>
          <a:prstGeom prst="rect">
            <a:avLst/>
          </a:prstGeom>
          <a:noFill/>
          <a:ln/>
        </p:spPr>
        <p:txBody>
          <a:bodyPr wrap="square" rtlCol="0" anchor="ctr"/>
          <a:lstStyle/>
          <a:p>
            <a:pPr indent="0" marL="0">
              <a:buNone/>
            </a:pPr>
            <a:r>
              <a:rPr lang="en-US" sz="850" b="1" dirty="0">
                <a:solidFill>
                  <a:srgbClr val="38A169"/>
                </a:solidFill>
                <a:latin typeface="Calibri" pitchFamily="34" charset="0"/>
                <a:ea typeface="Calibri" pitchFamily="34" charset="-122"/>
                <a:cs typeface="Calibri" pitchFamily="34" charset="-120"/>
              </a:rPr>
              <a:t>0.01%</a:t>
            </a:r>
            <a:endParaRPr lang="en-US" sz="850" dirty="0"/>
          </a:p>
        </p:txBody>
      </p:sp>
      <p:sp>
        <p:nvSpPr>
          <p:cNvPr id="52" name="Shape 50"/>
          <p:cNvSpPr/>
          <p:nvPr/>
        </p:nvSpPr>
        <p:spPr>
          <a:xfrm>
            <a:off x="6656832" y="4261104"/>
            <a:ext cx="411480" cy="219456"/>
          </a:xfrm>
          <a:prstGeom prst="rect">
            <a:avLst/>
          </a:prstGeom>
          <a:solidFill>
            <a:srgbClr val="38A169"/>
          </a:solidFill>
          <a:ln/>
        </p:spPr>
      </p:sp>
      <p:sp>
        <p:nvSpPr>
          <p:cNvPr id="53" name="Text 51"/>
          <p:cNvSpPr/>
          <p:nvPr/>
        </p:nvSpPr>
        <p:spPr>
          <a:xfrm>
            <a:off x="6656832" y="4261104"/>
            <a:ext cx="411480"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FILL</a:t>
            </a:r>
            <a:endParaRPr lang="en-US" sz="700" dirty="0"/>
          </a:p>
        </p:txBody>
      </p:sp>
      <p:sp>
        <p:nvSpPr>
          <p:cNvPr id="54" name="Shape 52"/>
          <p:cNvSpPr/>
          <p:nvPr/>
        </p:nvSpPr>
        <p:spPr>
          <a:xfrm>
            <a:off x="457200" y="4754880"/>
            <a:ext cx="164592" cy="164592"/>
          </a:xfrm>
          <a:prstGeom prst="rect">
            <a:avLst/>
          </a:prstGeom>
          <a:solidFill>
            <a:srgbClr val="E63946"/>
          </a:solidFill>
          <a:ln/>
        </p:spPr>
      </p:sp>
      <p:sp>
        <p:nvSpPr>
          <p:cNvPr id="55" name="Text 53"/>
          <p:cNvSpPr/>
          <p:nvPr/>
        </p:nvSpPr>
        <p:spPr>
          <a:xfrm>
            <a:off x="685800" y="4727448"/>
            <a:ext cx="1828800" cy="20116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Drop (&gt;50%)</a:t>
            </a:r>
            <a:endParaRPr lang="en-US" sz="900" dirty="0"/>
          </a:p>
        </p:txBody>
      </p:sp>
      <p:sp>
        <p:nvSpPr>
          <p:cNvPr id="56" name="Shape 54"/>
          <p:cNvSpPr/>
          <p:nvPr/>
        </p:nvSpPr>
        <p:spPr>
          <a:xfrm>
            <a:off x="2560320" y="4754880"/>
            <a:ext cx="164592" cy="164592"/>
          </a:xfrm>
          <a:prstGeom prst="rect">
            <a:avLst/>
          </a:prstGeom>
          <a:solidFill>
            <a:srgbClr val="DD6B20"/>
          </a:solidFill>
          <a:ln/>
        </p:spPr>
      </p:sp>
      <p:sp>
        <p:nvSpPr>
          <p:cNvPr id="57" name="Text 55"/>
          <p:cNvSpPr/>
          <p:nvPr/>
        </p:nvSpPr>
        <p:spPr>
          <a:xfrm>
            <a:off x="2788920" y="4727448"/>
            <a:ext cx="1828800" cy="20116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Impute 'UNKNOWN'</a:t>
            </a:r>
            <a:endParaRPr lang="en-US" sz="900" dirty="0"/>
          </a:p>
        </p:txBody>
      </p:sp>
      <p:sp>
        <p:nvSpPr>
          <p:cNvPr id="58" name="Shape 56"/>
          <p:cNvSpPr/>
          <p:nvPr/>
        </p:nvSpPr>
        <p:spPr>
          <a:xfrm>
            <a:off x="4663440" y="4754880"/>
            <a:ext cx="164592" cy="164592"/>
          </a:xfrm>
          <a:prstGeom prst="rect">
            <a:avLst/>
          </a:prstGeom>
          <a:solidFill>
            <a:srgbClr val="38A169"/>
          </a:solidFill>
          <a:ln/>
        </p:spPr>
      </p:sp>
      <p:sp>
        <p:nvSpPr>
          <p:cNvPr id="59" name="Text 57"/>
          <p:cNvSpPr/>
          <p:nvPr/>
        </p:nvSpPr>
        <p:spPr>
          <a:xfrm>
            <a:off x="4892040" y="4727448"/>
            <a:ext cx="1828800" cy="20116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Fill median</a:t>
            </a:r>
            <a:endParaRPr lang="en-US" sz="900" dirty="0"/>
          </a:p>
        </p:txBody>
      </p:sp>
      <p:sp>
        <p:nvSpPr>
          <p:cNvPr id="60" name="Shape 58"/>
          <p:cNvSpPr/>
          <p:nvPr/>
        </p:nvSpPr>
        <p:spPr>
          <a:xfrm>
            <a:off x="7406640" y="841248"/>
            <a:ext cx="4434840" cy="13258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61" name="Shape 59"/>
          <p:cNvSpPr/>
          <p:nvPr/>
        </p:nvSpPr>
        <p:spPr>
          <a:xfrm>
            <a:off x="7406640" y="841248"/>
            <a:ext cx="64008" cy="1325880"/>
          </a:xfrm>
          <a:prstGeom prst="rect">
            <a:avLst/>
          </a:prstGeom>
          <a:solidFill>
            <a:srgbClr val="457B9D"/>
          </a:solidFill>
          <a:ln/>
        </p:spPr>
      </p:sp>
      <p:sp>
        <p:nvSpPr>
          <p:cNvPr id="62" name="Text 60"/>
          <p:cNvSpPr/>
          <p:nvPr/>
        </p:nvSpPr>
        <p:spPr>
          <a:xfrm>
            <a:off x="7543800" y="950976"/>
            <a:ext cx="594360" cy="59436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3" name="Text 61"/>
          <p:cNvSpPr/>
          <p:nvPr/>
        </p:nvSpPr>
        <p:spPr>
          <a:xfrm>
            <a:off x="8229600" y="932688"/>
            <a:ext cx="3383280" cy="566928"/>
          </a:xfrm>
          <a:prstGeom prst="rect">
            <a:avLst/>
          </a:prstGeom>
          <a:noFill/>
          <a:ln/>
        </p:spPr>
        <p:txBody>
          <a:bodyPr wrap="square" rtlCol="0" anchor="ctr"/>
          <a:lstStyle/>
          <a:p>
            <a:pPr indent="0" marL="0">
              <a:buNone/>
            </a:pPr>
            <a:r>
              <a:rPr lang="en-US" sz="3000" b="1" dirty="0">
                <a:solidFill>
                  <a:srgbClr val="457B9D"/>
                </a:solidFill>
                <a:latin typeface="Georgia" pitchFamily="34" charset="0"/>
                <a:ea typeface="Georgia" pitchFamily="34" charset="-122"/>
                <a:cs typeface="Georgia" pitchFamily="34" charset="-120"/>
              </a:rPr>
              <a:t>573,552</a:t>
            </a:r>
            <a:endParaRPr lang="en-US" sz="3000" dirty="0"/>
          </a:p>
        </p:txBody>
      </p:sp>
      <p:sp>
        <p:nvSpPr>
          <p:cNvPr id="64" name="Text 62"/>
          <p:cNvSpPr/>
          <p:nvPr/>
        </p:nvSpPr>
        <p:spPr>
          <a:xfrm>
            <a:off x="8229600" y="1453896"/>
            <a:ext cx="3383280"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Total Cells</a:t>
            </a:r>
            <a:endParaRPr lang="en-US" sz="1100" dirty="0"/>
          </a:p>
        </p:txBody>
      </p:sp>
      <p:sp>
        <p:nvSpPr>
          <p:cNvPr id="65" name="Text 63"/>
          <p:cNvSpPr/>
          <p:nvPr/>
        </p:nvSpPr>
        <p:spPr>
          <a:xfrm>
            <a:off x="8229600" y="1709928"/>
            <a:ext cx="3383280" cy="274320"/>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27,312 × 21</a:t>
            </a:r>
            <a:endParaRPr lang="en-US" sz="950" dirty="0"/>
          </a:p>
        </p:txBody>
      </p:sp>
      <p:sp>
        <p:nvSpPr>
          <p:cNvPr id="66" name="Shape 64"/>
          <p:cNvSpPr/>
          <p:nvPr/>
        </p:nvSpPr>
        <p:spPr>
          <a:xfrm>
            <a:off x="7406640" y="2304288"/>
            <a:ext cx="4434840" cy="13258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67" name="Shape 65"/>
          <p:cNvSpPr/>
          <p:nvPr/>
        </p:nvSpPr>
        <p:spPr>
          <a:xfrm>
            <a:off x="7406640" y="2304288"/>
            <a:ext cx="64008" cy="1325880"/>
          </a:xfrm>
          <a:prstGeom prst="rect">
            <a:avLst/>
          </a:prstGeom>
          <a:solidFill>
            <a:srgbClr val="E63946"/>
          </a:solidFill>
          <a:ln/>
        </p:spPr>
      </p:sp>
      <p:sp>
        <p:nvSpPr>
          <p:cNvPr id="68" name="Text 66"/>
          <p:cNvSpPr/>
          <p:nvPr/>
        </p:nvSpPr>
        <p:spPr>
          <a:xfrm>
            <a:off x="7543800" y="2414016"/>
            <a:ext cx="594360" cy="59436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9" name="Text 67"/>
          <p:cNvSpPr/>
          <p:nvPr/>
        </p:nvSpPr>
        <p:spPr>
          <a:xfrm>
            <a:off x="8229600" y="2395728"/>
            <a:ext cx="3383280" cy="566928"/>
          </a:xfrm>
          <a:prstGeom prst="rect">
            <a:avLst/>
          </a:prstGeom>
          <a:noFill/>
          <a:ln/>
        </p:spPr>
        <p:txBody>
          <a:bodyPr wrap="square" rtlCol="0" anchor="ctr"/>
          <a:lstStyle/>
          <a:p>
            <a:pPr indent="0" marL="0">
              <a:buNone/>
            </a:pPr>
            <a:r>
              <a:rPr lang="en-US" sz="3000" b="1" dirty="0">
                <a:solidFill>
                  <a:srgbClr val="E63946"/>
                </a:solidFill>
                <a:latin typeface="Georgia" pitchFamily="34" charset="0"/>
                <a:ea typeface="Georgia" pitchFamily="34" charset="-122"/>
                <a:cs typeface="Georgia" pitchFamily="34" charset="-120"/>
              </a:rPr>
              <a:t>94,165</a:t>
            </a:r>
            <a:endParaRPr lang="en-US" sz="3000" dirty="0"/>
          </a:p>
        </p:txBody>
      </p:sp>
      <p:sp>
        <p:nvSpPr>
          <p:cNvPr id="70" name="Text 68"/>
          <p:cNvSpPr/>
          <p:nvPr/>
        </p:nvSpPr>
        <p:spPr>
          <a:xfrm>
            <a:off x="8229600" y="2916936"/>
            <a:ext cx="3383280"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Total Nulls</a:t>
            </a:r>
            <a:endParaRPr lang="en-US" sz="1100" dirty="0"/>
          </a:p>
        </p:txBody>
      </p:sp>
      <p:sp>
        <p:nvSpPr>
          <p:cNvPr id="71" name="Text 69"/>
          <p:cNvSpPr/>
          <p:nvPr/>
        </p:nvSpPr>
        <p:spPr>
          <a:xfrm>
            <a:off x="8229600" y="3172968"/>
            <a:ext cx="3383280" cy="274320"/>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16.4% of all cells</a:t>
            </a:r>
            <a:endParaRPr lang="en-US" sz="950" dirty="0"/>
          </a:p>
        </p:txBody>
      </p:sp>
      <p:sp>
        <p:nvSpPr>
          <p:cNvPr id="72" name="Shape 70"/>
          <p:cNvSpPr/>
          <p:nvPr/>
        </p:nvSpPr>
        <p:spPr>
          <a:xfrm>
            <a:off x="7406640" y="3767328"/>
            <a:ext cx="4434840" cy="13258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3" name="Shape 71"/>
          <p:cNvSpPr/>
          <p:nvPr/>
        </p:nvSpPr>
        <p:spPr>
          <a:xfrm>
            <a:off x="7406640" y="3767328"/>
            <a:ext cx="64008" cy="1325880"/>
          </a:xfrm>
          <a:prstGeom prst="rect">
            <a:avLst/>
          </a:prstGeom>
          <a:solidFill>
            <a:srgbClr val="38A169"/>
          </a:solidFill>
          <a:ln/>
        </p:spPr>
      </p:sp>
      <p:sp>
        <p:nvSpPr>
          <p:cNvPr id="74" name="Text 72"/>
          <p:cNvSpPr/>
          <p:nvPr/>
        </p:nvSpPr>
        <p:spPr>
          <a:xfrm>
            <a:off x="7543800" y="3877056"/>
            <a:ext cx="594360" cy="59436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75" name="Text 73"/>
          <p:cNvSpPr/>
          <p:nvPr/>
        </p:nvSpPr>
        <p:spPr>
          <a:xfrm>
            <a:off x="8229600" y="3858768"/>
            <a:ext cx="3383280" cy="566928"/>
          </a:xfrm>
          <a:prstGeom prst="rect">
            <a:avLst/>
          </a:prstGeom>
          <a:noFill/>
          <a:ln/>
        </p:spPr>
        <p:txBody>
          <a:bodyPr wrap="square" rtlCol="0" anchor="ctr"/>
          <a:lstStyle/>
          <a:p>
            <a:pPr indent="0" marL="0">
              <a:buNone/>
            </a:pPr>
            <a:r>
              <a:rPr lang="en-US" sz="3000" b="1" dirty="0">
                <a:solidFill>
                  <a:srgbClr val="38A169"/>
                </a:solidFill>
                <a:latin typeface="Georgia" pitchFamily="34" charset="0"/>
                <a:ea typeface="Georgia" pitchFamily="34" charset="-122"/>
                <a:cs typeface="Georgia" pitchFamily="34" charset="-120"/>
              </a:rPr>
              <a:t>0</a:t>
            </a:r>
            <a:endParaRPr lang="en-US" sz="3000" dirty="0"/>
          </a:p>
        </p:txBody>
      </p:sp>
      <p:sp>
        <p:nvSpPr>
          <p:cNvPr id="76" name="Text 74"/>
          <p:cNvSpPr/>
          <p:nvPr/>
        </p:nvSpPr>
        <p:spPr>
          <a:xfrm>
            <a:off x="8229600" y="4379976"/>
            <a:ext cx="3383280" cy="256032"/>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Duplicate Rows</a:t>
            </a:r>
            <a:endParaRPr lang="en-US" sz="1100" dirty="0"/>
          </a:p>
        </p:txBody>
      </p:sp>
      <p:sp>
        <p:nvSpPr>
          <p:cNvPr id="77" name="Text 75"/>
          <p:cNvSpPr/>
          <p:nvPr/>
        </p:nvSpPr>
        <p:spPr>
          <a:xfrm>
            <a:off x="8229600" y="4636008"/>
            <a:ext cx="3383280" cy="274320"/>
          </a:xfrm>
          <a:prstGeom prst="rect">
            <a:avLst/>
          </a:prstGeom>
          <a:noFill/>
          <a:ln/>
        </p:spPr>
        <p:txBody>
          <a:bodyPr wrap="square" rtlCol="0" anchor="ctr"/>
          <a:lstStyle/>
          <a:p>
            <a:pPr indent="0" marL="0">
              <a:buNone/>
            </a:pPr>
            <a:r>
              <a:rPr lang="en-US" sz="950" dirty="0">
                <a:solidFill>
                  <a:srgbClr val="8B949E"/>
                </a:solidFill>
                <a:latin typeface="Calibri" pitchFamily="34" charset="0"/>
                <a:ea typeface="Calibri" pitchFamily="34" charset="-122"/>
                <a:cs typeface="Calibri" pitchFamily="34" charset="-120"/>
              </a:rPr>
              <a:t>Dataset is clean ✅</a:t>
            </a:r>
            <a:endParaRPr lang="en-US" sz="950" dirty="0"/>
          </a:p>
        </p:txBody>
      </p:sp>
      <p:sp>
        <p:nvSpPr>
          <p:cNvPr id="78" name="Shape 76"/>
          <p:cNvSpPr/>
          <p:nvPr/>
        </p:nvSpPr>
        <p:spPr>
          <a:xfrm>
            <a:off x="7406640" y="4864608"/>
            <a:ext cx="4434840" cy="685800"/>
          </a:xfrm>
          <a:prstGeom prst="rect">
            <a:avLst/>
          </a:prstGeom>
          <a:solidFill>
            <a:srgbClr val="0D1B2A"/>
          </a:solidFill>
          <a:ln/>
        </p:spPr>
      </p:sp>
      <p:sp>
        <p:nvSpPr>
          <p:cNvPr id="79" name="Text 77"/>
          <p:cNvSpPr/>
          <p:nvPr/>
        </p:nvSpPr>
        <p:spPr>
          <a:xfrm>
            <a:off x="7498080" y="4892040"/>
            <a:ext cx="4251960" cy="594360"/>
          </a:xfrm>
          <a:prstGeom prst="rect">
            <a:avLst/>
          </a:prstGeom>
          <a:noFill/>
          <a:ln/>
        </p:spPr>
        <p:txBody>
          <a:bodyPr wrap="square" rtlCol="0" anchor="ctr"/>
          <a:lstStyle/>
          <a:p>
            <a:pPr indent="0" marL="0">
              <a:lnSpc>
                <a:spcPct val="130000"/>
              </a:lnSpc>
              <a:buNone/>
            </a:pPr>
            <a:r>
              <a:rPr lang="en-US" sz="1000" dirty="0">
                <a:solidFill>
                  <a:srgbClr val="A8DADC"/>
                </a:solidFill>
                <a:latin typeface="Calibri" pitchFamily="34" charset="0"/>
                <a:ea typeface="Calibri" pitchFamily="34" charset="-122"/>
                <a:cs typeface="Calibri" pitchFamily="34" charset="-120"/>
              </a:rPr>
              <a:t>💡  Victim columns are 100% complete — far more reliable than perpetrator columns for model training.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Target Variable — Class Imbalance Analysis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05</a:t>
            </a:r>
            <a:endParaRPr lang="en-US" sz="1200" dirty="0"/>
          </a:p>
        </p:txBody>
      </p:sp>
      <p:sp>
        <p:nvSpPr>
          <p:cNvPr id="6" name="Shape 4"/>
          <p:cNvSpPr/>
          <p:nvPr/>
        </p:nvSpPr>
        <p:spPr>
          <a:xfrm>
            <a:off x="1325880" y="1691640"/>
            <a:ext cx="3017520" cy="3017520"/>
          </a:xfrm>
          <a:prstGeom prst="ellipse">
            <a:avLst/>
          </a:prstGeom>
          <a:solidFill>
            <a:srgbClr val="E63946"/>
          </a:solidFill>
          <a:ln/>
        </p:spPr>
      </p:sp>
      <p:sp>
        <p:nvSpPr>
          <p:cNvPr id="7" name="Shape 5"/>
          <p:cNvSpPr/>
          <p:nvPr/>
        </p:nvSpPr>
        <p:spPr>
          <a:xfrm>
            <a:off x="1691640" y="2057400"/>
            <a:ext cx="2286000" cy="2286000"/>
          </a:xfrm>
          <a:prstGeom prst="ellipse">
            <a:avLst/>
          </a:prstGeom>
          <a:solidFill>
            <a:srgbClr val="F8FAFC"/>
          </a:solidFill>
          <a:ln/>
        </p:spPr>
      </p:sp>
      <p:sp>
        <p:nvSpPr>
          <p:cNvPr id="8" name="Shape 6"/>
          <p:cNvSpPr/>
          <p:nvPr/>
        </p:nvSpPr>
        <p:spPr>
          <a:xfrm>
            <a:off x="1325880" y="1691640"/>
            <a:ext cx="3017520" cy="3017520"/>
          </a:xfrm>
          <a:prstGeom prst="ellipse">
            <a:avLst/>
          </a:prstGeom>
          <a:solidFill>
            <a:srgbClr val="457B9D"/>
          </a:solidFill>
          <a:ln/>
        </p:spPr>
      </p:sp>
      <p:sp>
        <p:nvSpPr>
          <p:cNvPr id="9" name="Shape 7"/>
          <p:cNvSpPr/>
          <p:nvPr/>
        </p:nvSpPr>
        <p:spPr>
          <a:xfrm>
            <a:off x="1325880" y="1691640"/>
            <a:ext cx="3017520" cy="1508760"/>
          </a:xfrm>
          <a:prstGeom prst="rect">
            <a:avLst/>
          </a:prstGeom>
          <a:solidFill>
            <a:srgbClr val="E63946"/>
          </a:solidFill>
          <a:ln/>
        </p:spPr>
      </p:sp>
      <p:sp>
        <p:nvSpPr>
          <p:cNvPr id="10" name="Shape 8"/>
          <p:cNvSpPr/>
          <p:nvPr/>
        </p:nvSpPr>
        <p:spPr>
          <a:xfrm>
            <a:off x="1691640" y="2057400"/>
            <a:ext cx="2286000" cy="2286000"/>
          </a:xfrm>
          <a:prstGeom prst="ellipse">
            <a:avLst/>
          </a:prstGeom>
          <a:solidFill>
            <a:srgbClr val="F8FAFC"/>
          </a:solidFill>
          <a:ln/>
        </p:spPr>
      </p:sp>
      <p:sp>
        <p:nvSpPr>
          <p:cNvPr id="11" name="Text 9"/>
          <p:cNvSpPr/>
          <p:nvPr/>
        </p:nvSpPr>
        <p:spPr>
          <a:xfrm>
            <a:off x="1691640" y="2743200"/>
            <a:ext cx="2286000" cy="594360"/>
          </a:xfrm>
          <a:prstGeom prst="rect">
            <a:avLst/>
          </a:prstGeom>
          <a:noFill/>
          <a:ln/>
        </p:spPr>
        <p:txBody>
          <a:bodyPr wrap="square" rtlCol="0" anchor="ctr"/>
          <a:lstStyle/>
          <a:p>
            <a:pPr algn="ctr" indent="0" marL="0">
              <a:buNone/>
            </a:pPr>
            <a:r>
              <a:rPr lang="en-US" sz="2600" b="1" dirty="0">
                <a:solidFill>
                  <a:srgbClr val="0D1B2A"/>
                </a:solidFill>
                <a:latin typeface="Georgia" pitchFamily="34" charset="0"/>
                <a:ea typeface="Georgia" pitchFamily="34" charset="-122"/>
                <a:cs typeface="Georgia" pitchFamily="34" charset="-120"/>
              </a:rPr>
              <a:t>4.2:1</a:t>
            </a:r>
            <a:endParaRPr lang="en-US" sz="2600" dirty="0"/>
          </a:p>
        </p:txBody>
      </p:sp>
      <p:sp>
        <p:nvSpPr>
          <p:cNvPr id="12" name="Text 10"/>
          <p:cNvSpPr/>
          <p:nvPr/>
        </p:nvSpPr>
        <p:spPr>
          <a:xfrm>
            <a:off x="1691640" y="3337560"/>
            <a:ext cx="2286000" cy="502920"/>
          </a:xfrm>
          <a:prstGeom prst="rect">
            <a:avLst/>
          </a:prstGeom>
          <a:noFill/>
          <a:ln/>
        </p:spPr>
        <p:txBody>
          <a:bodyPr wrap="square" rtlCol="0" anchor="ctr"/>
          <a:lstStyle/>
          <a:p>
            <a:pPr algn="ctr" indent="0" marL="0">
              <a:buNone/>
            </a:pPr>
            <a:r>
              <a:rPr lang="en-US" sz="950" dirty="0">
                <a:solidFill>
                  <a:srgbClr val="8B949E"/>
                </a:solidFill>
                <a:latin typeface="Calibri" pitchFamily="34" charset="0"/>
                <a:ea typeface="Calibri" pitchFamily="34" charset="-122"/>
                <a:cs typeface="Calibri" pitchFamily="34" charset="-120"/>
              </a:rPr>
              <a:t>Imbalance</a:t>
            </a:r>
            <a:endParaRPr lang="en-US" sz="950" dirty="0"/>
          </a:p>
          <a:p>
            <a:pPr algn="ctr" indent="0" marL="0">
              <a:buNone/>
            </a:pPr>
            <a:r>
              <a:rPr lang="en-US" sz="950" dirty="0">
                <a:solidFill>
                  <a:srgbClr val="8B949E"/>
                </a:solidFill>
                <a:latin typeface="Calibri" pitchFamily="34" charset="0"/>
                <a:ea typeface="Calibri" pitchFamily="34" charset="-122"/>
                <a:cs typeface="Calibri" pitchFamily="34" charset="-120"/>
              </a:rPr>
              <a:t>Ratio</a:t>
            </a:r>
            <a:endParaRPr lang="en-US" sz="950" dirty="0"/>
          </a:p>
        </p:txBody>
      </p:sp>
      <p:sp>
        <p:nvSpPr>
          <p:cNvPr id="13" name="Shape 11"/>
          <p:cNvSpPr/>
          <p:nvPr/>
        </p:nvSpPr>
        <p:spPr>
          <a:xfrm>
            <a:off x="548640" y="5166360"/>
            <a:ext cx="256032" cy="256032"/>
          </a:xfrm>
          <a:prstGeom prst="rect">
            <a:avLst/>
          </a:prstGeom>
          <a:solidFill>
            <a:srgbClr val="457B9D"/>
          </a:solidFill>
          <a:ln/>
        </p:spPr>
      </p:sp>
      <p:sp>
        <p:nvSpPr>
          <p:cNvPr id="14" name="Text 12"/>
          <p:cNvSpPr/>
          <p:nvPr/>
        </p:nvSpPr>
        <p:spPr>
          <a:xfrm>
            <a:off x="886968" y="5148072"/>
            <a:ext cx="3200400" cy="29260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Non-Fatal — 80.7%  (22,046 incidents)</a:t>
            </a:r>
            <a:endParaRPr lang="en-US" sz="1050" dirty="0"/>
          </a:p>
        </p:txBody>
      </p:sp>
      <p:sp>
        <p:nvSpPr>
          <p:cNvPr id="15" name="Shape 13"/>
          <p:cNvSpPr/>
          <p:nvPr/>
        </p:nvSpPr>
        <p:spPr>
          <a:xfrm>
            <a:off x="548640" y="5532120"/>
            <a:ext cx="256032" cy="256032"/>
          </a:xfrm>
          <a:prstGeom prst="rect">
            <a:avLst/>
          </a:prstGeom>
          <a:solidFill>
            <a:srgbClr val="E63946"/>
          </a:solidFill>
          <a:ln/>
        </p:spPr>
      </p:sp>
      <p:sp>
        <p:nvSpPr>
          <p:cNvPr id="16" name="Text 14"/>
          <p:cNvSpPr/>
          <p:nvPr/>
        </p:nvSpPr>
        <p:spPr>
          <a:xfrm>
            <a:off x="886968" y="5513832"/>
            <a:ext cx="3200400" cy="292608"/>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Fatal — 19.3%  (5,266 incidents)</a:t>
            </a:r>
            <a:endParaRPr lang="en-US" sz="1050" dirty="0"/>
          </a:p>
        </p:txBody>
      </p:sp>
      <p:sp>
        <p:nvSpPr>
          <p:cNvPr id="17" name="Shape 15"/>
          <p:cNvSpPr/>
          <p:nvPr/>
        </p:nvSpPr>
        <p:spPr>
          <a:xfrm>
            <a:off x="5943600" y="841248"/>
            <a:ext cx="5897880" cy="131673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8" name="Shape 16"/>
          <p:cNvSpPr/>
          <p:nvPr/>
        </p:nvSpPr>
        <p:spPr>
          <a:xfrm>
            <a:off x="5943600" y="841248"/>
            <a:ext cx="64008" cy="1316736"/>
          </a:xfrm>
          <a:prstGeom prst="rect">
            <a:avLst/>
          </a:prstGeom>
          <a:solidFill>
            <a:srgbClr val="DD6B20"/>
          </a:solidFill>
          <a:ln/>
        </p:spPr>
      </p:sp>
      <p:sp>
        <p:nvSpPr>
          <p:cNvPr id="19" name="Text 17"/>
          <p:cNvSpPr/>
          <p:nvPr/>
        </p:nvSpPr>
        <p:spPr>
          <a:xfrm>
            <a:off x="6108192" y="932688"/>
            <a:ext cx="5577840" cy="329184"/>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Class Imbalance Problem</a:t>
            </a:r>
            <a:endParaRPr lang="en-US" sz="1200" dirty="0"/>
          </a:p>
        </p:txBody>
      </p:sp>
      <p:sp>
        <p:nvSpPr>
          <p:cNvPr id="20" name="Text 18"/>
          <p:cNvSpPr/>
          <p:nvPr/>
        </p:nvSpPr>
        <p:spPr>
          <a:xfrm>
            <a:off x="6108192" y="1280160"/>
            <a:ext cx="5623560" cy="804672"/>
          </a:xfrm>
          <a:prstGeom prst="rect">
            <a:avLst/>
          </a:prstGeom>
          <a:noFill/>
          <a:ln/>
        </p:spPr>
        <p:txBody>
          <a:bodyPr wrap="square" rtlCol="0" anchor="ctr"/>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A naive model predicting 'Non-Fatal' for every case would achieve 80.7% accuracy — yet miss EVERY fatal incident. This is unacceptable for law enforcement.</a:t>
            </a:r>
            <a:endParaRPr lang="en-US" sz="1050" dirty="0"/>
          </a:p>
        </p:txBody>
      </p:sp>
      <p:sp>
        <p:nvSpPr>
          <p:cNvPr id="21" name="Shape 19"/>
          <p:cNvSpPr/>
          <p:nvPr/>
        </p:nvSpPr>
        <p:spPr>
          <a:xfrm>
            <a:off x="5943600" y="2249424"/>
            <a:ext cx="5897880" cy="131673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2" name="Shape 20"/>
          <p:cNvSpPr/>
          <p:nvPr/>
        </p:nvSpPr>
        <p:spPr>
          <a:xfrm>
            <a:off x="5943600" y="2249424"/>
            <a:ext cx="64008" cy="1316736"/>
          </a:xfrm>
          <a:prstGeom prst="rect">
            <a:avLst/>
          </a:prstGeom>
          <a:solidFill>
            <a:srgbClr val="457B9D"/>
          </a:solidFill>
          <a:ln/>
        </p:spPr>
      </p:sp>
      <p:sp>
        <p:nvSpPr>
          <p:cNvPr id="23" name="Text 21"/>
          <p:cNvSpPr/>
          <p:nvPr/>
        </p:nvSpPr>
        <p:spPr>
          <a:xfrm>
            <a:off x="6108192" y="2340864"/>
            <a:ext cx="5577840" cy="329184"/>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Solution: SMOTE Oversampling</a:t>
            </a:r>
            <a:endParaRPr lang="en-US" sz="1200" dirty="0"/>
          </a:p>
        </p:txBody>
      </p:sp>
      <p:sp>
        <p:nvSpPr>
          <p:cNvPr id="24" name="Text 22"/>
          <p:cNvSpPr/>
          <p:nvPr/>
        </p:nvSpPr>
        <p:spPr>
          <a:xfrm>
            <a:off x="6108192" y="2688336"/>
            <a:ext cx="5623560" cy="804672"/>
          </a:xfrm>
          <a:prstGeom prst="rect">
            <a:avLst/>
          </a:prstGeom>
          <a:noFill/>
          <a:ln/>
        </p:spPr>
        <p:txBody>
          <a:bodyPr wrap="square" rtlCol="0" anchor="ctr"/>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Synthetic Minority Oversampling Technique generates artificial fatal incident samples by interpolating between existing fatal examples — creating a balanced 50/50 training set.</a:t>
            </a:r>
            <a:endParaRPr lang="en-US" sz="1050" dirty="0"/>
          </a:p>
        </p:txBody>
      </p:sp>
      <p:sp>
        <p:nvSpPr>
          <p:cNvPr id="25" name="Shape 23"/>
          <p:cNvSpPr/>
          <p:nvPr/>
        </p:nvSpPr>
        <p:spPr>
          <a:xfrm>
            <a:off x="5943600" y="3657600"/>
            <a:ext cx="5897880" cy="131673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6" name="Shape 24"/>
          <p:cNvSpPr/>
          <p:nvPr/>
        </p:nvSpPr>
        <p:spPr>
          <a:xfrm>
            <a:off x="5943600" y="3657600"/>
            <a:ext cx="64008" cy="1316736"/>
          </a:xfrm>
          <a:prstGeom prst="rect">
            <a:avLst/>
          </a:prstGeom>
          <a:solidFill>
            <a:srgbClr val="38A169"/>
          </a:solidFill>
          <a:ln/>
        </p:spPr>
      </p:sp>
      <p:sp>
        <p:nvSpPr>
          <p:cNvPr id="27" name="Text 25"/>
          <p:cNvSpPr/>
          <p:nvPr/>
        </p:nvSpPr>
        <p:spPr>
          <a:xfrm>
            <a:off x="6108192" y="3749040"/>
            <a:ext cx="5577840" cy="329184"/>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After SMOTE: 35,270 Training Samples</a:t>
            </a:r>
            <a:endParaRPr lang="en-US" sz="1200" dirty="0"/>
          </a:p>
        </p:txBody>
      </p:sp>
      <p:sp>
        <p:nvSpPr>
          <p:cNvPr id="28" name="Text 26"/>
          <p:cNvSpPr/>
          <p:nvPr/>
        </p:nvSpPr>
        <p:spPr>
          <a:xfrm>
            <a:off x="6108192" y="4096512"/>
            <a:ext cx="5623560" cy="804672"/>
          </a:xfrm>
          <a:prstGeom prst="rect">
            <a:avLst/>
          </a:prstGeom>
          <a:noFill/>
          <a:ln/>
        </p:spPr>
        <p:txBody>
          <a:bodyPr wrap="square" rtlCol="0" anchor="ctr"/>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17,635 Non-Fatal  |  17,635 Fatal</a:t>
            </a:r>
            <a:endParaRPr lang="en-US" sz="1050" dirty="0"/>
          </a:p>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Applied ONLY to training data — test set kept as real-world distribution to ensure honest evaluation.</a:t>
            </a:r>
            <a:endParaRPr lang="en-US" sz="1050" dirty="0"/>
          </a:p>
        </p:txBody>
      </p:sp>
      <p:sp>
        <p:nvSpPr>
          <p:cNvPr id="29" name="Shape 27"/>
          <p:cNvSpPr/>
          <p:nvPr/>
        </p:nvSpPr>
        <p:spPr>
          <a:xfrm>
            <a:off x="5943600" y="5065776"/>
            <a:ext cx="5897880" cy="131673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0" name="Shape 28"/>
          <p:cNvSpPr/>
          <p:nvPr/>
        </p:nvSpPr>
        <p:spPr>
          <a:xfrm>
            <a:off x="5943600" y="5065776"/>
            <a:ext cx="64008" cy="1316736"/>
          </a:xfrm>
          <a:prstGeom prst="rect">
            <a:avLst/>
          </a:prstGeom>
          <a:solidFill>
            <a:srgbClr val="E63946"/>
          </a:solidFill>
          <a:ln/>
        </p:spPr>
      </p:sp>
      <p:sp>
        <p:nvSpPr>
          <p:cNvPr id="31" name="Text 29"/>
          <p:cNvSpPr/>
          <p:nvPr/>
        </p:nvSpPr>
        <p:spPr>
          <a:xfrm>
            <a:off x="6108192" y="5157216"/>
            <a:ext cx="5577840" cy="329184"/>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  Priority Metric: Recall over Precision</a:t>
            </a:r>
            <a:endParaRPr lang="en-US" sz="1200" dirty="0"/>
          </a:p>
        </p:txBody>
      </p:sp>
      <p:sp>
        <p:nvSpPr>
          <p:cNvPr id="32" name="Text 30"/>
          <p:cNvSpPr/>
          <p:nvPr/>
        </p:nvSpPr>
        <p:spPr>
          <a:xfrm>
            <a:off x="6108192" y="5504688"/>
            <a:ext cx="5623560" cy="804672"/>
          </a:xfrm>
          <a:prstGeom prst="rect">
            <a:avLst/>
          </a:prstGeom>
          <a:noFill/>
          <a:ln/>
        </p:spPr>
        <p:txBody>
          <a:bodyPr wrap="square" rtlCol="0" anchor="ctr"/>
          <a:lstStyle/>
          <a:p>
            <a:pPr indent="0" marL="0">
              <a:lnSpc>
                <a:spcPct val="135000"/>
              </a:lnSpc>
              <a:buNone/>
            </a:pPr>
            <a:r>
              <a:rPr lang="en-US" sz="1050" dirty="0">
                <a:solidFill>
                  <a:srgbClr val="334155"/>
                </a:solidFill>
                <a:latin typeface="Calibri" pitchFamily="34" charset="0"/>
                <a:ea typeface="Calibri" pitchFamily="34" charset="-122"/>
                <a:cs typeface="Calibri" pitchFamily="34" charset="-120"/>
              </a:rPr>
              <a:t>For law enforcement, a missed fatal (False Negative) is far more dangerous than a false alarm. Maximize Recall to catch every potential fatality.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EDA — Borough Analysis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06</a:t>
            </a:r>
            <a:endParaRPr lang="en-US" sz="1200" dirty="0"/>
          </a:p>
        </p:txBody>
      </p:sp>
      <p:sp>
        <p:nvSpPr>
          <p:cNvPr id="6" name="Shape 4"/>
          <p:cNvSpPr/>
          <p:nvPr/>
        </p:nvSpPr>
        <p:spPr>
          <a:xfrm>
            <a:off x="320040" y="822960"/>
            <a:ext cx="6949440" cy="44348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Text 5"/>
          <p:cNvSpPr/>
          <p:nvPr/>
        </p:nvSpPr>
        <p:spPr>
          <a:xfrm>
            <a:off x="457200" y="896112"/>
            <a:ext cx="658368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Incidents by Borough (Fatal vs Non-Fatal)</a:t>
            </a:r>
            <a:endParaRPr lang="en-US" sz="1300" dirty="0"/>
          </a:p>
        </p:txBody>
      </p:sp>
      <p:sp>
        <p:nvSpPr>
          <p:cNvPr id="8" name="Text 6"/>
          <p:cNvSpPr/>
          <p:nvPr/>
        </p:nvSpPr>
        <p:spPr>
          <a:xfrm>
            <a:off x="320040" y="1417320"/>
            <a:ext cx="777240" cy="402336"/>
          </a:xfrm>
          <a:prstGeom prst="rect">
            <a:avLst/>
          </a:prstGeom>
          <a:noFill/>
          <a:ln/>
        </p:spPr>
        <p:txBody>
          <a:bodyPr wrap="square" rtlCol="0" anchor="ctr"/>
          <a:lstStyle/>
          <a:p>
            <a:pPr algn="r" indent="0" marL="0">
              <a:buNone/>
            </a:pPr>
            <a:r>
              <a:rPr lang="en-US" sz="900" dirty="0">
                <a:solidFill>
                  <a:srgbClr val="334155"/>
                </a:solidFill>
                <a:latin typeface="Calibri" pitchFamily="34" charset="0"/>
                <a:ea typeface="Calibri" pitchFamily="34" charset="-122"/>
                <a:cs typeface="Calibri" pitchFamily="34" charset="-120"/>
              </a:rPr>
              <a:t>Brooklyn</a:t>
            </a:r>
            <a:endParaRPr lang="en-US" sz="900" dirty="0"/>
          </a:p>
        </p:txBody>
      </p:sp>
      <p:sp>
        <p:nvSpPr>
          <p:cNvPr id="9" name="Shape 7"/>
          <p:cNvSpPr/>
          <p:nvPr/>
        </p:nvSpPr>
        <p:spPr>
          <a:xfrm>
            <a:off x="1097280" y="1472184"/>
            <a:ext cx="4126768" cy="292608"/>
          </a:xfrm>
          <a:prstGeom prst="rect">
            <a:avLst/>
          </a:prstGeom>
          <a:solidFill>
            <a:srgbClr val="457B9D"/>
          </a:solidFill>
          <a:ln/>
        </p:spPr>
      </p:sp>
      <p:sp>
        <p:nvSpPr>
          <p:cNvPr id="10" name="Shape 8"/>
          <p:cNvSpPr/>
          <p:nvPr/>
        </p:nvSpPr>
        <p:spPr>
          <a:xfrm>
            <a:off x="5224048" y="1472184"/>
            <a:ext cx="993872" cy="292608"/>
          </a:xfrm>
          <a:prstGeom prst="rect">
            <a:avLst/>
          </a:prstGeom>
          <a:solidFill>
            <a:srgbClr val="E63946"/>
          </a:solidFill>
          <a:ln/>
        </p:spPr>
      </p:sp>
      <p:sp>
        <p:nvSpPr>
          <p:cNvPr id="11" name="Text 9"/>
          <p:cNvSpPr/>
          <p:nvPr/>
        </p:nvSpPr>
        <p:spPr>
          <a:xfrm>
            <a:off x="6309360" y="1472184"/>
            <a:ext cx="914400" cy="29260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10,933</a:t>
            </a:r>
            <a:endParaRPr lang="en-US" sz="900" dirty="0"/>
          </a:p>
        </p:txBody>
      </p:sp>
      <p:sp>
        <p:nvSpPr>
          <p:cNvPr id="12" name="Text 10"/>
          <p:cNvSpPr/>
          <p:nvPr/>
        </p:nvSpPr>
        <p:spPr>
          <a:xfrm>
            <a:off x="320040" y="2075688"/>
            <a:ext cx="777240" cy="402336"/>
          </a:xfrm>
          <a:prstGeom prst="rect">
            <a:avLst/>
          </a:prstGeom>
          <a:noFill/>
          <a:ln/>
        </p:spPr>
        <p:txBody>
          <a:bodyPr wrap="square" rtlCol="0" anchor="ctr"/>
          <a:lstStyle/>
          <a:p>
            <a:pPr algn="r" indent="0" marL="0">
              <a:buNone/>
            </a:pPr>
            <a:r>
              <a:rPr lang="en-US" sz="900" dirty="0">
                <a:solidFill>
                  <a:srgbClr val="334155"/>
                </a:solidFill>
                <a:latin typeface="Calibri" pitchFamily="34" charset="0"/>
                <a:ea typeface="Calibri" pitchFamily="34" charset="-122"/>
                <a:cs typeface="Calibri" pitchFamily="34" charset="-120"/>
              </a:rPr>
              <a:t>Bronx</a:t>
            </a:r>
            <a:endParaRPr lang="en-US" sz="900" dirty="0"/>
          </a:p>
        </p:txBody>
      </p:sp>
      <p:sp>
        <p:nvSpPr>
          <p:cNvPr id="13" name="Shape 11"/>
          <p:cNvSpPr/>
          <p:nvPr/>
        </p:nvSpPr>
        <p:spPr>
          <a:xfrm>
            <a:off x="1097280" y="2130552"/>
            <a:ext cx="2995197" cy="292608"/>
          </a:xfrm>
          <a:prstGeom prst="rect">
            <a:avLst/>
          </a:prstGeom>
          <a:solidFill>
            <a:srgbClr val="457B9D"/>
          </a:solidFill>
          <a:ln/>
        </p:spPr>
      </p:sp>
      <p:sp>
        <p:nvSpPr>
          <p:cNvPr id="14" name="Shape 12"/>
          <p:cNvSpPr/>
          <p:nvPr/>
        </p:nvSpPr>
        <p:spPr>
          <a:xfrm>
            <a:off x="4092477" y="2130552"/>
            <a:ext cx="722220" cy="292608"/>
          </a:xfrm>
          <a:prstGeom prst="rect">
            <a:avLst/>
          </a:prstGeom>
          <a:solidFill>
            <a:srgbClr val="E63946"/>
          </a:solidFill>
          <a:ln/>
        </p:spPr>
      </p:sp>
      <p:sp>
        <p:nvSpPr>
          <p:cNvPr id="15" name="Text 13"/>
          <p:cNvSpPr/>
          <p:nvPr/>
        </p:nvSpPr>
        <p:spPr>
          <a:xfrm>
            <a:off x="4906137" y="2130552"/>
            <a:ext cx="914400" cy="29260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7,937</a:t>
            </a:r>
            <a:endParaRPr lang="en-US" sz="900" dirty="0"/>
          </a:p>
        </p:txBody>
      </p:sp>
      <p:sp>
        <p:nvSpPr>
          <p:cNvPr id="16" name="Text 14"/>
          <p:cNvSpPr/>
          <p:nvPr/>
        </p:nvSpPr>
        <p:spPr>
          <a:xfrm>
            <a:off x="320040" y="2734056"/>
            <a:ext cx="777240" cy="402336"/>
          </a:xfrm>
          <a:prstGeom prst="rect">
            <a:avLst/>
          </a:prstGeom>
          <a:noFill/>
          <a:ln/>
        </p:spPr>
        <p:txBody>
          <a:bodyPr wrap="square" rtlCol="0" anchor="ctr"/>
          <a:lstStyle/>
          <a:p>
            <a:pPr algn="r" indent="0" marL="0">
              <a:buNone/>
            </a:pPr>
            <a:r>
              <a:rPr lang="en-US" sz="900" dirty="0">
                <a:solidFill>
                  <a:srgbClr val="334155"/>
                </a:solidFill>
                <a:latin typeface="Calibri" pitchFamily="34" charset="0"/>
                <a:ea typeface="Calibri" pitchFamily="34" charset="-122"/>
                <a:cs typeface="Calibri" pitchFamily="34" charset="-120"/>
              </a:rPr>
              <a:t>Queens</a:t>
            </a:r>
            <a:endParaRPr lang="en-US" sz="900" dirty="0"/>
          </a:p>
        </p:txBody>
      </p:sp>
      <p:sp>
        <p:nvSpPr>
          <p:cNvPr id="17" name="Shape 15"/>
          <p:cNvSpPr/>
          <p:nvPr/>
        </p:nvSpPr>
        <p:spPr>
          <a:xfrm>
            <a:off x="1097280" y="2788920"/>
            <a:ext cx="1538112" cy="292608"/>
          </a:xfrm>
          <a:prstGeom prst="rect">
            <a:avLst/>
          </a:prstGeom>
          <a:solidFill>
            <a:srgbClr val="457B9D"/>
          </a:solidFill>
          <a:ln/>
        </p:spPr>
      </p:sp>
      <p:sp>
        <p:nvSpPr>
          <p:cNvPr id="18" name="Shape 16"/>
          <p:cNvSpPr/>
          <p:nvPr/>
        </p:nvSpPr>
        <p:spPr>
          <a:xfrm>
            <a:off x="2635392" y="2788920"/>
            <a:ext cx="379376" cy="292608"/>
          </a:xfrm>
          <a:prstGeom prst="rect">
            <a:avLst/>
          </a:prstGeom>
          <a:solidFill>
            <a:srgbClr val="E63946"/>
          </a:solidFill>
          <a:ln/>
        </p:spPr>
      </p:sp>
      <p:sp>
        <p:nvSpPr>
          <p:cNvPr id="19" name="Text 17"/>
          <p:cNvSpPr/>
          <p:nvPr/>
        </p:nvSpPr>
        <p:spPr>
          <a:xfrm>
            <a:off x="3106208" y="2788920"/>
            <a:ext cx="914400" cy="29260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4,094</a:t>
            </a:r>
            <a:endParaRPr lang="en-US" sz="900" dirty="0"/>
          </a:p>
        </p:txBody>
      </p:sp>
      <p:sp>
        <p:nvSpPr>
          <p:cNvPr id="20" name="Text 18"/>
          <p:cNvSpPr/>
          <p:nvPr/>
        </p:nvSpPr>
        <p:spPr>
          <a:xfrm>
            <a:off x="320040" y="3392424"/>
            <a:ext cx="777240" cy="402336"/>
          </a:xfrm>
          <a:prstGeom prst="rect">
            <a:avLst/>
          </a:prstGeom>
          <a:noFill/>
          <a:ln/>
        </p:spPr>
        <p:txBody>
          <a:bodyPr wrap="square" rtlCol="0" anchor="ctr"/>
          <a:lstStyle/>
          <a:p>
            <a:pPr algn="r" indent="0" marL="0">
              <a:buNone/>
            </a:pPr>
            <a:r>
              <a:rPr lang="en-US" sz="900" dirty="0">
                <a:solidFill>
                  <a:srgbClr val="334155"/>
                </a:solidFill>
                <a:latin typeface="Calibri" pitchFamily="34" charset="0"/>
                <a:ea typeface="Calibri" pitchFamily="34" charset="-122"/>
                <a:cs typeface="Calibri" pitchFamily="34" charset="-120"/>
              </a:rPr>
              <a:t>Manhattan</a:t>
            </a:r>
            <a:endParaRPr lang="en-US" sz="900" dirty="0"/>
          </a:p>
        </p:txBody>
      </p:sp>
      <p:sp>
        <p:nvSpPr>
          <p:cNvPr id="21" name="Shape 19"/>
          <p:cNvSpPr/>
          <p:nvPr/>
        </p:nvSpPr>
        <p:spPr>
          <a:xfrm>
            <a:off x="1097280" y="3447288"/>
            <a:ext cx="1377931" cy="292608"/>
          </a:xfrm>
          <a:prstGeom prst="rect">
            <a:avLst/>
          </a:prstGeom>
          <a:solidFill>
            <a:srgbClr val="457B9D"/>
          </a:solidFill>
          <a:ln/>
        </p:spPr>
      </p:sp>
      <p:sp>
        <p:nvSpPr>
          <p:cNvPr id="22" name="Shape 20"/>
          <p:cNvSpPr/>
          <p:nvPr/>
        </p:nvSpPr>
        <p:spPr>
          <a:xfrm>
            <a:off x="2475211" y="3447288"/>
            <a:ext cx="295070" cy="292608"/>
          </a:xfrm>
          <a:prstGeom prst="rect">
            <a:avLst/>
          </a:prstGeom>
          <a:solidFill>
            <a:srgbClr val="E63946"/>
          </a:solidFill>
          <a:ln/>
        </p:spPr>
      </p:sp>
      <p:sp>
        <p:nvSpPr>
          <p:cNvPr id="23" name="Text 21"/>
          <p:cNvSpPr/>
          <p:nvPr/>
        </p:nvSpPr>
        <p:spPr>
          <a:xfrm>
            <a:off x="2861722" y="3447288"/>
            <a:ext cx="914400" cy="29260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3,572</a:t>
            </a:r>
            <a:endParaRPr lang="en-US" sz="900" dirty="0"/>
          </a:p>
        </p:txBody>
      </p:sp>
      <p:sp>
        <p:nvSpPr>
          <p:cNvPr id="24" name="Text 22"/>
          <p:cNvSpPr/>
          <p:nvPr/>
        </p:nvSpPr>
        <p:spPr>
          <a:xfrm>
            <a:off x="320040" y="4050792"/>
            <a:ext cx="777240" cy="402336"/>
          </a:xfrm>
          <a:prstGeom prst="rect">
            <a:avLst/>
          </a:prstGeom>
          <a:noFill/>
          <a:ln/>
        </p:spPr>
        <p:txBody>
          <a:bodyPr wrap="square" rtlCol="0" anchor="ctr"/>
          <a:lstStyle/>
          <a:p>
            <a:pPr algn="r" indent="0" marL="0">
              <a:buNone/>
            </a:pPr>
            <a:r>
              <a:rPr lang="en-US" sz="900" dirty="0">
                <a:solidFill>
                  <a:srgbClr val="334155"/>
                </a:solidFill>
                <a:latin typeface="Calibri" pitchFamily="34" charset="0"/>
                <a:ea typeface="Calibri" pitchFamily="34" charset="-122"/>
                <a:cs typeface="Calibri" pitchFamily="34" charset="-120"/>
              </a:rPr>
              <a:t>Staten Island</a:t>
            </a:r>
            <a:endParaRPr lang="en-US" sz="900" dirty="0"/>
          </a:p>
        </p:txBody>
      </p:sp>
      <p:sp>
        <p:nvSpPr>
          <p:cNvPr id="25" name="Shape 23"/>
          <p:cNvSpPr/>
          <p:nvPr/>
        </p:nvSpPr>
        <p:spPr>
          <a:xfrm>
            <a:off x="1097280" y="4105656"/>
            <a:ext cx="287576" cy="292608"/>
          </a:xfrm>
          <a:prstGeom prst="rect">
            <a:avLst/>
          </a:prstGeom>
          <a:solidFill>
            <a:srgbClr val="457B9D"/>
          </a:solidFill>
          <a:ln/>
        </p:spPr>
      </p:sp>
      <p:sp>
        <p:nvSpPr>
          <p:cNvPr id="26" name="Shape 24"/>
          <p:cNvSpPr/>
          <p:nvPr/>
        </p:nvSpPr>
        <p:spPr>
          <a:xfrm>
            <a:off x="1384856" y="4105656"/>
            <a:ext cx="75875" cy="292608"/>
          </a:xfrm>
          <a:prstGeom prst="rect">
            <a:avLst/>
          </a:prstGeom>
          <a:solidFill>
            <a:srgbClr val="E63946"/>
          </a:solidFill>
          <a:ln/>
        </p:spPr>
      </p:sp>
      <p:sp>
        <p:nvSpPr>
          <p:cNvPr id="27" name="Text 25"/>
          <p:cNvSpPr/>
          <p:nvPr/>
        </p:nvSpPr>
        <p:spPr>
          <a:xfrm>
            <a:off x="1552172" y="4105656"/>
            <a:ext cx="914400" cy="292608"/>
          </a:xfrm>
          <a:prstGeom prst="rect">
            <a:avLst/>
          </a:prstGeom>
          <a:noFill/>
          <a:ln/>
        </p:spPr>
        <p:txBody>
          <a:bodyPr wrap="square" rtlCol="0" anchor="ctr"/>
          <a:lstStyle/>
          <a:p>
            <a:pPr indent="0" marL="0">
              <a:buNone/>
            </a:pPr>
            <a:r>
              <a:rPr lang="en-US" sz="900" dirty="0">
                <a:solidFill>
                  <a:srgbClr val="334155"/>
                </a:solidFill>
                <a:latin typeface="Calibri" pitchFamily="34" charset="0"/>
                <a:ea typeface="Calibri" pitchFamily="34" charset="-122"/>
                <a:cs typeface="Calibri" pitchFamily="34" charset="-120"/>
              </a:rPr>
              <a:t>776</a:t>
            </a:r>
            <a:endParaRPr lang="en-US" sz="900" dirty="0"/>
          </a:p>
        </p:txBody>
      </p:sp>
      <p:sp>
        <p:nvSpPr>
          <p:cNvPr id="28" name="Shape 26"/>
          <p:cNvSpPr/>
          <p:nvPr/>
        </p:nvSpPr>
        <p:spPr>
          <a:xfrm>
            <a:off x="1097280" y="4773168"/>
            <a:ext cx="201168" cy="146304"/>
          </a:xfrm>
          <a:prstGeom prst="rect">
            <a:avLst/>
          </a:prstGeom>
          <a:solidFill>
            <a:srgbClr val="457B9D"/>
          </a:solidFill>
          <a:ln/>
        </p:spPr>
      </p:sp>
      <p:sp>
        <p:nvSpPr>
          <p:cNvPr id="29" name="Text 27"/>
          <p:cNvSpPr/>
          <p:nvPr/>
        </p:nvSpPr>
        <p:spPr>
          <a:xfrm>
            <a:off x="1344168" y="4745736"/>
            <a:ext cx="109728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Non-Fatal</a:t>
            </a:r>
            <a:endParaRPr lang="en-US" sz="850" dirty="0"/>
          </a:p>
        </p:txBody>
      </p:sp>
      <p:sp>
        <p:nvSpPr>
          <p:cNvPr id="30" name="Shape 28"/>
          <p:cNvSpPr/>
          <p:nvPr/>
        </p:nvSpPr>
        <p:spPr>
          <a:xfrm>
            <a:off x="2514600" y="4773168"/>
            <a:ext cx="201168" cy="146304"/>
          </a:xfrm>
          <a:prstGeom prst="rect">
            <a:avLst/>
          </a:prstGeom>
          <a:solidFill>
            <a:srgbClr val="E63946"/>
          </a:solidFill>
          <a:ln/>
        </p:spPr>
      </p:sp>
      <p:sp>
        <p:nvSpPr>
          <p:cNvPr id="31" name="Text 29"/>
          <p:cNvSpPr/>
          <p:nvPr/>
        </p:nvSpPr>
        <p:spPr>
          <a:xfrm>
            <a:off x="2761488" y="4745736"/>
            <a:ext cx="91440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Fatal</a:t>
            </a:r>
            <a:endParaRPr lang="en-US" sz="850" dirty="0"/>
          </a:p>
        </p:txBody>
      </p:sp>
      <p:sp>
        <p:nvSpPr>
          <p:cNvPr id="32" name="Shape 30"/>
          <p:cNvSpPr/>
          <p:nvPr/>
        </p:nvSpPr>
        <p:spPr>
          <a:xfrm>
            <a:off x="7406640" y="822960"/>
            <a:ext cx="4434840" cy="29260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3" name="Text 31"/>
          <p:cNvSpPr/>
          <p:nvPr/>
        </p:nvSpPr>
        <p:spPr>
          <a:xfrm>
            <a:off x="7498080" y="896112"/>
            <a:ext cx="4206240" cy="347472"/>
          </a:xfrm>
          <a:prstGeom prst="rect">
            <a:avLst/>
          </a:prstGeom>
          <a:noFill/>
          <a:ln/>
        </p:spPr>
        <p:txBody>
          <a:bodyPr wrap="square" rtlCol="0" anchor="ctr"/>
          <a:lstStyle/>
          <a:p>
            <a:pPr indent="0" marL="0">
              <a:buNone/>
            </a:pPr>
            <a:r>
              <a:rPr lang="en-US" sz="1200" b="1" dirty="0">
                <a:solidFill>
                  <a:srgbClr val="0D1B2A"/>
                </a:solidFill>
                <a:latin typeface="Georgia" pitchFamily="34" charset="0"/>
                <a:ea typeface="Georgia" pitchFamily="34" charset="-122"/>
                <a:cs typeface="Georgia" pitchFamily="34" charset="-120"/>
              </a:rPr>
              <a:t>Fatality Rate by Borough (%)</a:t>
            </a:r>
            <a:endParaRPr lang="en-US" sz="1200" dirty="0"/>
          </a:p>
        </p:txBody>
      </p:sp>
      <p:sp>
        <p:nvSpPr>
          <p:cNvPr id="34" name="Text 32"/>
          <p:cNvSpPr/>
          <p:nvPr/>
        </p:nvSpPr>
        <p:spPr>
          <a:xfrm>
            <a:off x="7498080" y="1261872"/>
            <a:ext cx="4206240" cy="228600"/>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NYC Avg: 19.4%</a:t>
            </a:r>
            <a:endParaRPr lang="en-US" sz="900" dirty="0"/>
          </a:p>
        </p:txBody>
      </p:sp>
      <p:sp>
        <p:nvSpPr>
          <p:cNvPr id="35" name="Shape 33"/>
          <p:cNvSpPr/>
          <p:nvPr/>
        </p:nvSpPr>
        <p:spPr>
          <a:xfrm>
            <a:off x="7498080" y="1673352"/>
            <a:ext cx="237744" cy="237744"/>
          </a:xfrm>
          <a:prstGeom prst="ellipse">
            <a:avLst/>
          </a:prstGeom>
          <a:solidFill>
            <a:srgbClr val="E63946"/>
          </a:solidFill>
          <a:ln/>
        </p:spPr>
      </p:sp>
      <p:sp>
        <p:nvSpPr>
          <p:cNvPr id="36" name="Text 34"/>
          <p:cNvSpPr/>
          <p:nvPr/>
        </p:nvSpPr>
        <p:spPr>
          <a:xfrm>
            <a:off x="7790688" y="1627632"/>
            <a:ext cx="2286000" cy="32918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Staten Island</a:t>
            </a:r>
            <a:endParaRPr lang="en-US" sz="1050" dirty="0"/>
          </a:p>
        </p:txBody>
      </p:sp>
      <p:sp>
        <p:nvSpPr>
          <p:cNvPr id="37" name="Text 35"/>
          <p:cNvSpPr/>
          <p:nvPr/>
        </p:nvSpPr>
        <p:spPr>
          <a:xfrm>
            <a:off x="10469880" y="1627632"/>
            <a:ext cx="1188720" cy="329184"/>
          </a:xfrm>
          <a:prstGeom prst="rect">
            <a:avLst/>
          </a:prstGeom>
          <a:noFill/>
          <a:ln/>
        </p:spPr>
        <p:txBody>
          <a:bodyPr wrap="square" rtlCol="0" anchor="ctr"/>
          <a:lstStyle/>
          <a:p>
            <a:pPr algn="r" indent="0" marL="0">
              <a:buNone/>
            </a:pPr>
            <a:r>
              <a:rPr lang="en-US" sz="1200" b="1" dirty="0">
                <a:solidFill>
                  <a:srgbClr val="E63946"/>
                </a:solidFill>
                <a:latin typeface="Georgia" pitchFamily="34" charset="0"/>
                <a:ea typeface="Georgia" pitchFamily="34" charset="-122"/>
                <a:cs typeface="Georgia" pitchFamily="34" charset="-120"/>
              </a:rPr>
              <a:t>20.9%</a:t>
            </a:r>
            <a:endParaRPr lang="en-US" sz="1200" dirty="0"/>
          </a:p>
        </p:txBody>
      </p:sp>
      <p:sp>
        <p:nvSpPr>
          <p:cNvPr id="38" name="Shape 36"/>
          <p:cNvSpPr/>
          <p:nvPr/>
        </p:nvSpPr>
        <p:spPr>
          <a:xfrm>
            <a:off x="7498080" y="2057400"/>
            <a:ext cx="237744" cy="237744"/>
          </a:xfrm>
          <a:prstGeom prst="ellipse">
            <a:avLst/>
          </a:prstGeom>
          <a:solidFill>
            <a:srgbClr val="457B9D"/>
          </a:solidFill>
          <a:ln/>
        </p:spPr>
      </p:sp>
      <p:sp>
        <p:nvSpPr>
          <p:cNvPr id="39" name="Text 37"/>
          <p:cNvSpPr/>
          <p:nvPr/>
        </p:nvSpPr>
        <p:spPr>
          <a:xfrm>
            <a:off x="7790688" y="2011680"/>
            <a:ext cx="2286000" cy="32918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Queens</a:t>
            </a:r>
            <a:endParaRPr lang="en-US" sz="1050" dirty="0"/>
          </a:p>
        </p:txBody>
      </p:sp>
      <p:sp>
        <p:nvSpPr>
          <p:cNvPr id="40" name="Text 38"/>
          <p:cNvSpPr/>
          <p:nvPr/>
        </p:nvSpPr>
        <p:spPr>
          <a:xfrm>
            <a:off x="10469880" y="2011680"/>
            <a:ext cx="1188720" cy="329184"/>
          </a:xfrm>
          <a:prstGeom prst="rect">
            <a:avLst/>
          </a:prstGeom>
          <a:noFill/>
          <a:ln/>
        </p:spPr>
        <p:txBody>
          <a:bodyPr wrap="square" rtlCol="0" anchor="ctr"/>
          <a:lstStyle/>
          <a:p>
            <a:pPr algn="r" indent="0" marL="0">
              <a:buNone/>
            </a:pPr>
            <a:r>
              <a:rPr lang="en-US" sz="1200" b="1" dirty="0">
                <a:solidFill>
                  <a:srgbClr val="457B9D"/>
                </a:solidFill>
                <a:latin typeface="Georgia" pitchFamily="34" charset="0"/>
                <a:ea typeface="Georgia" pitchFamily="34" charset="-122"/>
                <a:cs typeface="Georgia" pitchFamily="34" charset="-120"/>
              </a:rPr>
              <a:t>19.8%</a:t>
            </a:r>
            <a:endParaRPr lang="en-US" sz="1200" dirty="0"/>
          </a:p>
        </p:txBody>
      </p:sp>
      <p:sp>
        <p:nvSpPr>
          <p:cNvPr id="41" name="Shape 39"/>
          <p:cNvSpPr/>
          <p:nvPr/>
        </p:nvSpPr>
        <p:spPr>
          <a:xfrm>
            <a:off x="7498080" y="2441448"/>
            <a:ext cx="237744" cy="237744"/>
          </a:xfrm>
          <a:prstGeom prst="ellipse">
            <a:avLst/>
          </a:prstGeom>
          <a:solidFill>
            <a:srgbClr val="457B9D"/>
          </a:solidFill>
          <a:ln/>
        </p:spPr>
      </p:sp>
      <p:sp>
        <p:nvSpPr>
          <p:cNvPr id="42" name="Text 40"/>
          <p:cNvSpPr/>
          <p:nvPr/>
        </p:nvSpPr>
        <p:spPr>
          <a:xfrm>
            <a:off x="7790688" y="2395728"/>
            <a:ext cx="2286000" cy="32918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Brooklyn</a:t>
            </a:r>
            <a:endParaRPr lang="en-US" sz="1050" dirty="0"/>
          </a:p>
        </p:txBody>
      </p:sp>
      <p:sp>
        <p:nvSpPr>
          <p:cNvPr id="43" name="Text 41"/>
          <p:cNvSpPr/>
          <p:nvPr/>
        </p:nvSpPr>
        <p:spPr>
          <a:xfrm>
            <a:off x="10469880" y="2395728"/>
            <a:ext cx="1188720" cy="329184"/>
          </a:xfrm>
          <a:prstGeom prst="rect">
            <a:avLst/>
          </a:prstGeom>
          <a:noFill/>
          <a:ln/>
        </p:spPr>
        <p:txBody>
          <a:bodyPr wrap="square" rtlCol="0" anchor="ctr"/>
          <a:lstStyle/>
          <a:p>
            <a:pPr algn="r" indent="0" marL="0">
              <a:buNone/>
            </a:pPr>
            <a:r>
              <a:rPr lang="en-US" sz="1200" b="1" dirty="0">
                <a:solidFill>
                  <a:srgbClr val="457B9D"/>
                </a:solidFill>
                <a:latin typeface="Georgia" pitchFamily="34" charset="0"/>
                <a:ea typeface="Georgia" pitchFamily="34" charset="-122"/>
                <a:cs typeface="Georgia" pitchFamily="34" charset="-120"/>
              </a:rPr>
              <a:t>19.4%</a:t>
            </a:r>
            <a:endParaRPr lang="en-US" sz="1200" dirty="0"/>
          </a:p>
        </p:txBody>
      </p:sp>
      <p:sp>
        <p:nvSpPr>
          <p:cNvPr id="44" name="Shape 42"/>
          <p:cNvSpPr/>
          <p:nvPr/>
        </p:nvSpPr>
        <p:spPr>
          <a:xfrm>
            <a:off x="7498080" y="2825496"/>
            <a:ext cx="237744" cy="237744"/>
          </a:xfrm>
          <a:prstGeom prst="ellipse">
            <a:avLst/>
          </a:prstGeom>
          <a:solidFill>
            <a:srgbClr val="457B9D"/>
          </a:solidFill>
          <a:ln/>
        </p:spPr>
      </p:sp>
      <p:sp>
        <p:nvSpPr>
          <p:cNvPr id="45" name="Text 43"/>
          <p:cNvSpPr/>
          <p:nvPr/>
        </p:nvSpPr>
        <p:spPr>
          <a:xfrm>
            <a:off x="7790688" y="2779776"/>
            <a:ext cx="2286000" cy="32918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Bronx</a:t>
            </a:r>
            <a:endParaRPr lang="en-US" sz="1050" dirty="0"/>
          </a:p>
        </p:txBody>
      </p:sp>
      <p:sp>
        <p:nvSpPr>
          <p:cNvPr id="46" name="Text 44"/>
          <p:cNvSpPr/>
          <p:nvPr/>
        </p:nvSpPr>
        <p:spPr>
          <a:xfrm>
            <a:off x="10469880" y="2779776"/>
            <a:ext cx="1188720" cy="329184"/>
          </a:xfrm>
          <a:prstGeom prst="rect">
            <a:avLst/>
          </a:prstGeom>
          <a:noFill/>
          <a:ln/>
        </p:spPr>
        <p:txBody>
          <a:bodyPr wrap="square" rtlCol="0" anchor="ctr"/>
          <a:lstStyle/>
          <a:p>
            <a:pPr algn="r" indent="0" marL="0">
              <a:buNone/>
            </a:pPr>
            <a:r>
              <a:rPr lang="en-US" sz="1200" b="1" dirty="0">
                <a:solidFill>
                  <a:srgbClr val="457B9D"/>
                </a:solidFill>
                <a:latin typeface="Georgia" pitchFamily="34" charset="0"/>
                <a:ea typeface="Georgia" pitchFamily="34" charset="-122"/>
                <a:cs typeface="Georgia" pitchFamily="34" charset="-120"/>
              </a:rPr>
              <a:t>19.4%</a:t>
            </a:r>
            <a:endParaRPr lang="en-US" sz="1200" dirty="0"/>
          </a:p>
        </p:txBody>
      </p:sp>
      <p:sp>
        <p:nvSpPr>
          <p:cNvPr id="47" name="Shape 45"/>
          <p:cNvSpPr/>
          <p:nvPr/>
        </p:nvSpPr>
        <p:spPr>
          <a:xfrm>
            <a:off x="7498080" y="3209544"/>
            <a:ext cx="237744" cy="237744"/>
          </a:xfrm>
          <a:prstGeom prst="ellipse">
            <a:avLst/>
          </a:prstGeom>
          <a:solidFill>
            <a:srgbClr val="457B9D"/>
          </a:solidFill>
          <a:ln/>
        </p:spPr>
      </p:sp>
      <p:sp>
        <p:nvSpPr>
          <p:cNvPr id="48" name="Text 46"/>
          <p:cNvSpPr/>
          <p:nvPr/>
        </p:nvSpPr>
        <p:spPr>
          <a:xfrm>
            <a:off x="7790688" y="3163824"/>
            <a:ext cx="2286000" cy="329184"/>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Manhattan</a:t>
            </a:r>
            <a:endParaRPr lang="en-US" sz="1050" dirty="0"/>
          </a:p>
        </p:txBody>
      </p:sp>
      <p:sp>
        <p:nvSpPr>
          <p:cNvPr id="49" name="Text 47"/>
          <p:cNvSpPr/>
          <p:nvPr/>
        </p:nvSpPr>
        <p:spPr>
          <a:xfrm>
            <a:off x="10469880" y="3163824"/>
            <a:ext cx="1188720" cy="329184"/>
          </a:xfrm>
          <a:prstGeom prst="rect">
            <a:avLst/>
          </a:prstGeom>
          <a:noFill/>
          <a:ln/>
        </p:spPr>
        <p:txBody>
          <a:bodyPr wrap="square" rtlCol="0" anchor="ctr"/>
          <a:lstStyle/>
          <a:p>
            <a:pPr algn="r" indent="0" marL="0">
              <a:buNone/>
            </a:pPr>
            <a:r>
              <a:rPr lang="en-US" sz="1200" b="1" dirty="0">
                <a:solidFill>
                  <a:srgbClr val="457B9D"/>
                </a:solidFill>
                <a:latin typeface="Georgia" pitchFamily="34" charset="0"/>
                <a:ea typeface="Georgia" pitchFamily="34" charset="-122"/>
                <a:cs typeface="Georgia" pitchFamily="34" charset="-120"/>
              </a:rPr>
              <a:t>17.6%</a:t>
            </a:r>
            <a:endParaRPr lang="en-US" sz="1200" dirty="0"/>
          </a:p>
        </p:txBody>
      </p:sp>
      <p:sp>
        <p:nvSpPr>
          <p:cNvPr id="50" name="Shape 48"/>
          <p:cNvSpPr/>
          <p:nvPr/>
        </p:nvSpPr>
        <p:spPr>
          <a:xfrm>
            <a:off x="7406640" y="3913632"/>
            <a:ext cx="4434840" cy="685800"/>
          </a:xfrm>
          <a:prstGeom prst="rect">
            <a:avLst/>
          </a:prstGeom>
          <a:solidFill>
            <a:srgbClr val="E63946">
              <a:alpha val="8000"/>
            </a:srgbClr>
          </a:solidFill>
          <a:ln w="15240">
            <a:solidFill>
              <a:srgbClr val="E63946"/>
            </a:solidFill>
            <a:prstDash val="solid"/>
          </a:ln>
        </p:spPr>
      </p:sp>
      <p:sp>
        <p:nvSpPr>
          <p:cNvPr id="51" name="Text 49"/>
          <p:cNvSpPr/>
          <p:nvPr/>
        </p:nvSpPr>
        <p:spPr>
          <a:xfrm>
            <a:off x="7498080" y="3950208"/>
            <a:ext cx="4251960" cy="603504"/>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  Staten Island: Lowest volume but HIGHEST fatality rate (20.9%). Fewer nearby trauma centers.</a:t>
            </a:r>
            <a:endParaRPr lang="en-US" sz="1000" dirty="0"/>
          </a:p>
        </p:txBody>
      </p:sp>
      <p:sp>
        <p:nvSpPr>
          <p:cNvPr id="52" name="Shape 50"/>
          <p:cNvSpPr/>
          <p:nvPr/>
        </p:nvSpPr>
        <p:spPr>
          <a:xfrm>
            <a:off x="7406640" y="4672584"/>
            <a:ext cx="4434840" cy="685800"/>
          </a:xfrm>
          <a:prstGeom prst="rect">
            <a:avLst/>
          </a:prstGeom>
          <a:solidFill>
            <a:srgbClr val="457B9D">
              <a:alpha val="8000"/>
            </a:srgbClr>
          </a:solidFill>
          <a:ln w="15240">
            <a:solidFill>
              <a:srgbClr val="457B9D"/>
            </a:solidFill>
            <a:prstDash val="solid"/>
          </a:ln>
        </p:spPr>
      </p:sp>
      <p:sp>
        <p:nvSpPr>
          <p:cNvPr id="53" name="Text 51"/>
          <p:cNvSpPr/>
          <p:nvPr/>
        </p:nvSpPr>
        <p:spPr>
          <a:xfrm>
            <a:off x="7498080" y="4709160"/>
            <a:ext cx="4251960" cy="603504"/>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  Manhattan: Dense &amp; well-served by hospitals → LOWEST fatality rate despite high population.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EDA — Temporal Patterns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07</a:t>
            </a:r>
            <a:endParaRPr lang="en-US" sz="1200" dirty="0"/>
          </a:p>
        </p:txBody>
      </p:sp>
      <p:sp>
        <p:nvSpPr>
          <p:cNvPr id="6" name="Shape 4"/>
          <p:cNvSpPr/>
          <p:nvPr/>
        </p:nvSpPr>
        <p:spPr>
          <a:xfrm>
            <a:off x="320040" y="841248"/>
            <a:ext cx="758952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Text 5"/>
          <p:cNvSpPr/>
          <p:nvPr/>
        </p:nvSpPr>
        <p:spPr>
          <a:xfrm>
            <a:off x="457200" y="914400"/>
            <a:ext cx="7315200" cy="329184"/>
          </a:xfrm>
          <a:prstGeom prst="rect">
            <a:avLst/>
          </a:prstGeom>
          <a:noFill/>
          <a:ln/>
        </p:spPr>
        <p:txBody>
          <a:bodyPr wrap="square" rtlCol="0" anchor="ctr"/>
          <a:lstStyle/>
          <a:p>
            <a:pPr indent="0" marL="0">
              <a:buNone/>
            </a:pPr>
            <a:r>
              <a:rPr lang="en-US" sz="1250" b="1" dirty="0">
                <a:solidFill>
                  <a:srgbClr val="0D1B2A"/>
                </a:solidFill>
                <a:latin typeface="Georgia" pitchFamily="34" charset="0"/>
                <a:ea typeface="Georgia" pitchFamily="34" charset="-122"/>
                <a:cs typeface="Georgia" pitchFamily="34" charset="-120"/>
              </a:rPr>
              <a:t>Hourly Shooting Incident Distribution (24-Hour Clock)</a:t>
            </a:r>
            <a:endParaRPr lang="en-US" sz="1250" dirty="0"/>
          </a:p>
        </p:txBody>
      </p:sp>
      <p:sp>
        <p:nvSpPr>
          <p:cNvPr id="8" name="Shape 6"/>
          <p:cNvSpPr/>
          <p:nvPr/>
        </p:nvSpPr>
        <p:spPr>
          <a:xfrm>
            <a:off x="411480" y="1371600"/>
            <a:ext cx="457200" cy="502920"/>
          </a:xfrm>
          <a:prstGeom prst="rect">
            <a:avLst/>
          </a:prstGeom>
          <a:solidFill>
            <a:srgbClr val="E63946">
              <a:alpha val="70000"/>
            </a:srgbClr>
          </a:solidFill>
          <a:ln/>
        </p:spPr>
      </p:sp>
      <p:sp>
        <p:nvSpPr>
          <p:cNvPr id="9" name="Text 7"/>
          <p:cNvSpPr/>
          <p:nvPr/>
        </p:nvSpPr>
        <p:spPr>
          <a:xfrm>
            <a:off x="411480"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0</a:t>
            </a:r>
            <a:endParaRPr lang="en-US" sz="750" dirty="0"/>
          </a:p>
        </p:txBody>
      </p:sp>
      <p:sp>
        <p:nvSpPr>
          <p:cNvPr id="10" name="Shape 8"/>
          <p:cNvSpPr/>
          <p:nvPr/>
        </p:nvSpPr>
        <p:spPr>
          <a:xfrm>
            <a:off x="877824" y="1371600"/>
            <a:ext cx="457200" cy="502920"/>
          </a:xfrm>
          <a:prstGeom prst="rect">
            <a:avLst/>
          </a:prstGeom>
          <a:solidFill>
            <a:srgbClr val="E63946">
              <a:alpha val="80000"/>
            </a:srgbClr>
          </a:solidFill>
          <a:ln/>
        </p:spPr>
      </p:sp>
      <p:sp>
        <p:nvSpPr>
          <p:cNvPr id="11" name="Text 9"/>
          <p:cNvSpPr/>
          <p:nvPr/>
        </p:nvSpPr>
        <p:spPr>
          <a:xfrm>
            <a:off x="877824"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a:t>
            </a:r>
            <a:endParaRPr lang="en-US" sz="750" dirty="0"/>
          </a:p>
        </p:txBody>
      </p:sp>
      <p:sp>
        <p:nvSpPr>
          <p:cNvPr id="12" name="Shape 10"/>
          <p:cNvSpPr/>
          <p:nvPr/>
        </p:nvSpPr>
        <p:spPr>
          <a:xfrm>
            <a:off x="1344168" y="1371600"/>
            <a:ext cx="457200" cy="502920"/>
          </a:xfrm>
          <a:prstGeom prst="rect">
            <a:avLst/>
          </a:prstGeom>
          <a:solidFill>
            <a:srgbClr val="E63946">
              <a:alpha val="80000"/>
            </a:srgbClr>
          </a:solidFill>
          <a:ln/>
        </p:spPr>
      </p:sp>
      <p:sp>
        <p:nvSpPr>
          <p:cNvPr id="13" name="Text 11"/>
          <p:cNvSpPr/>
          <p:nvPr/>
        </p:nvSpPr>
        <p:spPr>
          <a:xfrm>
            <a:off x="1344168"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a:t>
            </a:r>
            <a:endParaRPr lang="en-US" sz="750" dirty="0"/>
          </a:p>
        </p:txBody>
      </p:sp>
      <p:sp>
        <p:nvSpPr>
          <p:cNvPr id="14" name="Shape 12"/>
          <p:cNvSpPr/>
          <p:nvPr/>
        </p:nvSpPr>
        <p:spPr>
          <a:xfrm>
            <a:off x="1810512" y="1371600"/>
            <a:ext cx="457200" cy="502920"/>
          </a:xfrm>
          <a:prstGeom prst="rect">
            <a:avLst/>
          </a:prstGeom>
          <a:solidFill>
            <a:srgbClr val="E63946">
              <a:alpha val="70000"/>
            </a:srgbClr>
          </a:solidFill>
          <a:ln/>
        </p:spPr>
      </p:sp>
      <p:sp>
        <p:nvSpPr>
          <p:cNvPr id="15" name="Text 13"/>
          <p:cNvSpPr/>
          <p:nvPr/>
        </p:nvSpPr>
        <p:spPr>
          <a:xfrm>
            <a:off x="1810512"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3</a:t>
            </a:r>
            <a:endParaRPr lang="en-US" sz="750" dirty="0"/>
          </a:p>
        </p:txBody>
      </p:sp>
      <p:sp>
        <p:nvSpPr>
          <p:cNvPr id="16" name="Shape 14"/>
          <p:cNvSpPr/>
          <p:nvPr/>
        </p:nvSpPr>
        <p:spPr>
          <a:xfrm>
            <a:off x="2276856" y="1371600"/>
            <a:ext cx="457200" cy="502920"/>
          </a:xfrm>
          <a:prstGeom prst="rect">
            <a:avLst/>
          </a:prstGeom>
          <a:solidFill>
            <a:srgbClr val="E63946">
              <a:alpha val="50000"/>
            </a:srgbClr>
          </a:solidFill>
          <a:ln/>
        </p:spPr>
      </p:sp>
      <p:sp>
        <p:nvSpPr>
          <p:cNvPr id="17" name="Text 15"/>
          <p:cNvSpPr/>
          <p:nvPr/>
        </p:nvSpPr>
        <p:spPr>
          <a:xfrm>
            <a:off x="2276856"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4</a:t>
            </a:r>
            <a:endParaRPr lang="en-US" sz="750" dirty="0"/>
          </a:p>
        </p:txBody>
      </p:sp>
      <p:sp>
        <p:nvSpPr>
          <p:cNvPr id="18" name="Shape 16"/>
          <p:cNvSpPr/>
          <p:nvPr/>
        </p:nvSpPr>
        <p:spPr>
          <a:xfrm>
            <a:off x="2743200" y="1371600"/>
            <a:ext cx="457200" cy="502920"/>
          </a:xfrm>
          <a:prstGeom prst="rect">
            <a:avLst/>
          </a:prstGeom>
          <a:solidFill>
            <a:srgbClr val="457B9D">
              <a:alpha val="20000"/>
            </a:srgbClr>
          </a:solidFill>
          <a:ln/>
        </p:spPr>
      </p:sp>
      <p:sp>
        <p:nvSpPr>
          <p:cNvPr id="19" name="Text 17"/>
          <p:cNvSpPr/>
          <p:nvPr/>
        </p:nvSpPr>
        <p:spPr>
          <a:xfrm>
            <a:off x="2743200"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5</a:t>
            </a:r>
            <a:endParaRPr lang="en-US" sz="750" dirty="0"/>
          </a:p>
        </p:txBody>
      </p:sp>
      <p:sp>
        <p:nvSpPr>
          <p:cNvPr id="20" name="Shape 18"/>
          <p:cNvSpPr/>
          <p:nvPr/>
        </p:nvSpPr>
        <p:spPr>
          <a:xfrm>
            <a:off x="3209544" y="1371600"/>
            <a:ext cx="457200" cy="502920"/>
          </a:xfrm>
          <a:prstGeom prst="rect">
            <a:avLst/>
          </a:prstGeom>
          <a:solidFill>
            <a:srgbClr val="457B9D">
              <a:alpha val="15000"/>
            </a:srgbClr>
          </a:solidFill>
          <a:ln/>
        </p:spPr>
      </p:sp>
      <p:sp>
        <p:nvSpPr>
          <p:cNvPr id="21" name="Text 19"/>
          <p:cNvSpPr/>
          <p:nvPr/>
        </p:nvSpPr>
        <p:spPr>
          <a:xfrm>
            <a:off x="3209544"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6</a:t>
            </a:r>
            <a:endParaRPr lang="en-US" sz="750" dirty="0"/>
          </a:p>
        </p:txBody>
      </p:sp>
      <p:sp>
        <p:nvSpPr>
          <p:cNvPr id="22" name="Shape 20"/>
          <p:cNvSpPr/>
          <p:nvPr/>
        </p:nvSpPr>
        <p:spPr>
          <a:xfrm>
            <a:off x="3675888" y="1371600"/>
            <a:ext cx="457200" cy="502920"/>
          </a:xfrm>
          <a:prstGeom prst="rect">
            <a:avLst/>
          </a:prstGeom>
          <a:solidFill>
            <a:srgbClr val="457B9D">
              <a:alpha val="10000"/>
            </a:srgbClr>
          </a:solidFill>
          <a:ln/>
        </p:spPr>
      </p:sp>
      <p:sp>
        <p:nvSpPr>
          <p:cNvPr id="23" name="Text 21"/>
          <p:cNvSpPr/>
          <p:nvPr/>
        </p:nvSpPr>
        <p:spPr>
          <a:xfrm>
            <a:off x="3675888"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7</a:t>
            </a:r>
            <a:endParaRPr lang="en-US" sz="750" dirty="0"/>
          </a:p>
        </p:txBody>
      </p:sp>
      <p:sp>
        <p:nvSpPr>
          <p:cNvPr id="24" name="Shape 22"/>
          <p:cNvSpPr/>
          <p:nvPr/>
        </p:nvSpPr>
        <p:spPr>
          <a:xfrm>
            <a:off x="4142232" y="1371600"/>
            <a:ext cx="457200" cy="502920"/>
          </a:xfrm>
          <a:prstGeom prst="rect">
            <a:avLst/>
          </a:prstGeom>
          <a:solidFill>
            <a:srgbClr val="457B9D">
              <a:alpha val="12000"/>
            </a:srgbClr>
          </a:solidFill>
          <a:ln/>
        </p:spPr>
      </p:sp>
      <p:sp>
        <p:nvSpPr>
          <p:cNvPr id="25" name="Text 23"/>
          <p:cNvSpPr/>
          <p:nvPr/>
        </p:nvSpPr>
        <p:spPr>
          <a:xfrm>
            <a:off x="4142232"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8</a:t>
            </a:r>
            <a:endParaRPr lang="en-US" sz="750" dirty="0"/>
          </a:p>
        </p:txBody>
      </p:sp>
      <p:sp>
        <p:nvSpPr>
          <p:cNvPr id="26" name="Shape 24"/>
          <p:cNvSpPr/>
          <p:nvPr/>
        </p:nvSpPr>
        <p:spPr>
          <a:xfrm>
            <a:off x="4608576" y="1371600"/>
            <a:ext cx="457200" cy="502920"/>
          </a:xfrm>
          <a:prstGeom prst="rect">
            <a:avLst/>
          </a:prstGeom>
          <a:solidFill>
            <a:srgbClr val="457B9D">
              <a:alpha val="15000"/>
            </a:srgbClr>
          </a:solidFill>
          <a:ln/>
        </p:spPr>
      </p:sp>
      <p:sp>
        <p:nvSpPr>
          <p:cNvPr id="27" name="Text 25"/>
          <p:cNvSpPr/>
          <p:nvPr/>
        </p:nvSpPr>
        <p:spPr>
          <a:xfrm>
            <a:off x="4608576"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9</a:t>
            </a:r>
            <a:endParaRPr lang="en-US" sz="750" dirty="0"/>
          </a:p>
        </p:txBody>
      </p:sp>
      <p:sp>
        <p:nvSpPr>
          <p:cNvPr id="28" name="Shape 26"/>
          <p:cNvSpPr/>
          <p:nvPr/>
        </p:nvSpPr>
        <p:spPr>
          <a:xfrm>
            <a:off x="5074920" y="1371600"/>
            <a:ext cx="457200" cy="502920"/>
          </a:xfrm>
          <a:prstGeom prst="rect">
            <a:avLst/>
          </a:prstGeom>
          <a:solidFill>
            <a:srgbClr val="457B9D">
              <a:alpha val="20000"/>
            </a:srgbClr>
          </a:solidFill>
          <a:ln/>
        </p:spPr>
      </p:sp>
      <p:sp>
        <p:nvSpPr>
          <p:cNvPr id="29" name="Text 27"/>
          <p:cNvSpPr/>
          <p:nvPr/>
        </p:nvSpPr>
        <p:spPr>
          <a:xfrm>
            <a:off x="5074920"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10</a:t>
            </a:r>
            <a:endParaRPr lang="en-US" sz="750" dirty="0"/>
          </a:p>
        </p:txBody>
      </p:sp>
      <p:sp>
        <p:nvSpPr>
          <p:cNvPr id="30" name="Shape 28"/>
          <p:cNvSpPr/>
          <p:nvPr/>
        </p:nvSpPr>
        <p:spPr>
          <a:xfrm>
            <a:off x="5541264" y="1371600"/>
            <a:ext cx="457200" cy="502920"/>
          </a:xfrm>
          <a:prstGeom prst="rect">
            <a:avLst/>
          </a:prstGeom>
          <a:solidFill>
            <a:srgbClr val="457B9D">
              <a:alpha val="25000"/>
            </a:srgbClr>
          </a:solidFill>
          <a:ln/>
        </p:spPr>
      </p:sp>
      <p:sp>
        <p:nvSpPr>
          <p:cNvPr id="31" name="Text 29"/>
          <p:cNvSpPr/>
          <p:nvPr/>
        </p:nvSpPr>
        <p:spPr>
          <a:xfrm>
            <a:off x="5541264"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11</a:t>
            </a:r>
            <a:endParaRPr lang="en-US" sz="750" dirty="0"/>
          </a:p>
        </p:txBody>
      </p:sp>
      <p:sp>
        <p:nvSpPr>
          <p:cNvPr id="32" name="Shape 30"/>
          <p:cNvSpPr/>
          <p:nvPr/>
        </p:nvSpPr>
        <p:spPr>
          <a:xfrm>
            <a:off x="6007608" y="1371600"/>
            <a:ext cx="457200" cy="502920"/>
          </a:xfrm>
          <a:prstGeom prst="rect">
            <a:avLst/>
          </a:prstGeom>
          <a:solidFill>
            <a:srgbClr val="457B9D">
              <a:alpha val="30000"/>
            </a:srgbClr>
          </a:solidFill>
          <a:ln/>
        </p:spPr>
      </p:sp>
      <p:sp>
        <p:nvSpPr>
          <p:cNvPr id="33" name="Text 31"/>
          <p:cNvSpPr/>
          <p:nvPr/>
        </p:nvSpPr>
        <p:spPr>
          <a:xfrm>
            <a:off x="6007608"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12</a:t>
            </a:r>
            <a:endParaRPr lang="en-US" sz="750" dirty="0"/>
          </a:p>
        </p:txBody>
      </p:sp>
      <p:sp>
        <p:nvSpPr>
          <p:cNvPr id="34" name="Shape 32"/>
          <p:cNvSpPr/>
          <p:nvPr/>
        </p:nvSpPr>
        <p:spPr>
          <a:xfrm>
            <a:off x="6473952" y="1371600"/>
            <a:ext cx="457200" cy="502920"/>
          </a:xfrm>
          <a:prstGeom prst="rect">
            <a:avLst/>
          </a:prstGeom>
          <a:solidFill>
            <a:srgbClr val="457B9D">
              <a:alpha val="35000"/>
            </a:srgbClr>
          </a:solidFill>
          <a:ln/>
        </p:spPr>
      </p:sp>
      <p:sp>
        <p:nvSpPr>
          <p:cNvPr id="35" name="Text 33"/>
          <p:cNvSpPr/>
          <p:nvPr/>
        </p:nvSpPr>
        <p:spPr>
          <a:xfrm>
            <a:off x="6473952"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13</a:t>
            </a:r>
            <a:endParaRPr lang="en-US" sz="750" dirty="0"/>
          </a:p>
        </p:txBody>
      </p:sp>
      <p:sp>
        <p:nvSpPr>
          <p:cNvPr id="36" name="Shape 34"/>
          <p:cNvSpPr/>
          <p:nvPr/>
        </p:nvSpPr>
        <p:spPr>
          <a:xfrm>
            <a:off x="6940296" y="1371600"/>
            <a:ext cx="457200" cy="502920"/>
          </a:xfrm>
          <a:prstGeom prst="rect">
            <a:avLst/>
          </a:prstGeom>
          <a:solidFill>
            <a:srgbClr val="457B9D">
              <a:alpha val="40000"/>
            </a:srgbClr>
          </a:solidFill>
          <a:ln/>
        </p:spPr>
      </p:sp>
      <p:sp>
        <p:nvSpPr>
          <p:cNvPr id="37" name="Text 35"/>
          <p:cNvSpPr/>
          <p:nvPr/>
        </p:nvSpPr>
        <p:spPr>
          <a:xfrm>
            <a:off x="6940296"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14</a:t>
            </a:r>
            <a:endParaRPr lang="en-US" sz="750" dirty="0"/>
          </a:p>
        </p:txBody>
      </p:sp>
      <p:sp>
        <p:nvSpPr>
          <p:cNvPr id="38" name="Shape 36"/>
          <p:cNvSpPr/>
          <p:nvPr/>
        </p:nvSpPr>
        <p:spPr>
          <a:xfrm>
            <a:off x="7406640" y="1371600"/>
            <a:ext cx="457200" cy="502920"/>
          </a:xfrm>
          <a:prstGeom prst="rect">
            <a:avLst/>
          </a:prstGeom>
          <a:solidFill>
            <a:srgbClr val="457B9D">
              <a:alpha val="45000"/>
            </a:srgbClr>
          </a:solidFill>
          <a:ln/>
        </p:spPr>
      </p:sp>
      <p:sp>
        <p:nvSpPr>
          <p:cNvPr id="39" name="Text 37"/>
          <p:cNvSpPr/>
          <p:nvPr/>
        </p:nvSpPr>
        <p:spPr>
          <a:xfrm>
            <a:off x="7406640"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15</a:t>
            </a:r>
            <a:endParaRPr lang="en-US" sz="750" dirty="0"/>
          </a:p>
        </p:txBody>
      </p:sp>
      <p:sp>
        <p:nvSpPr>
          <p:cNvPr id="40" name="Shape 38"/>
          <p:cNvSpPr/>
          <p:nvPr/>
        </p:nvSpPr>
        <p:spPr>
          <a:xfrm>
            <a:off x="7872984" y="1371600"/>
            <a:ext cx="457200" cy="502920"/>
          </a:xfrm>
          <a:prstGeom prst="rect">
            <a:avLst/>
          </a:prstGeom>
          <a:solidFill>
            <a:srgbClr val="457B9D">
              <a:alpha val="50000"/>
            </a:srgbClr>
          </a:solidFill>
          <a:ln/>
        </p:spPr>
      </p:sp>
      <p:sp>
        <p:nvSpPr>
          <p:cNvPr id="41" name="Text 39"/>
          <p:cNvSpPr/>
          <p:nvPr/>
        </p:nvSpPr>
        <p:spPr>
          <a:xfrm>
            <a:off x="7872984"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16</a:t>
            </a:r>
            <a:endParaRPr lang="en-US" sz="750" dirty="0"/>
          </a:p>
        </p:txBody>
      </p:sp>
      <p:sp>
        <p:nvSpPr>
          <p:cNvPr id="42" name="Shape 40"/>
          <p:cNvSpPr/>
          <p:nvPr/>
        </p:nvSpPr>
        <p:spPr>
          <a:xfrm>
            <a:off x="8339328" y="1371600"/>
            <a:ext cx="457200" cy="502920"/>
          </a:xfrm>
          <a:prstGeom prst="rect">
            <a:avLst/>
          </a:prstGeom>
          <a:solidFill>
            <a:srgbClr val="457B9D">
              <a:alpha val="55000"/>
            </a:srgbClr>
          </a:solidFill>
          <a:ln/>
        </p:spPr>
      </p:sp>
      <p:sp>
        <p:nvSpPr>
          <p:cNvPr id="43" name="Text 41"/>
          <p:cNvSpPr/>
          <p:nvPr/>
        </p:nvSpPr>
        <p:spPr>
          <a:xfrm>
            <a:off x="8339328"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17</a:t>
            </a:r>
            <a:endParaRPr lang="en-US" sz="750" dirty="0"/>
          </a:p>
        </p:txBody>
      </p:sp>
      <p:sp>
        <p:nvSpPr>
          <p:cNvPr id="44" name="Shape 42"/>
          <p:cNvSpPr/>
          <p:nvPr/>
        </p:nvSpPr>
        <p:spPr>
          <a:xfrm>
            <a:off x="8805672" y="1371600"/>
            <a:ext cx="457200" cy="502920"/>
          </a:xfrm>
          <a:prstGeom prst="rect">
            <a:avLst/>
          </a:prstGeom>
          <a:solidFill>
            <a:srgbClr val="457B9D">
              <a:alpha val="60000"/>
            </a:srgbClr>
          </a:solidFill>
          <a:ln/>
        </p:spPr>
      </p:sp>
      <p:sp>
        <p:nvSpPr>
          <p:cNvPr id="45" name="Text 43"/>
          <p:cNvSpPr/>
          <p:nvPr/>
        </p:nvSpPr>
        <p:spPr>
          <a:xfrm>
            <a:off x="8805672"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18</a:t>
            </a:r>
            <a:endParaRPr lang="en-US" sz="750" dirty="0"/>
          </a:p>
        </p:txBody>
      </p:sp>
      <p:sp>
        <p:nvSpPr>
          <p:cNvPr id="46" name="Shape 44"/>
          <p:cNvSpPr/>
          <p:nvPr/>
        </p:nvSpPr>
        <p:spPr>
          <a:xfrm>
            <a:off x="9272016" y="1371600"/>
            <a:ext cx="457200" cy="502920"/>
          </a:xfrm>
          <a:prstGeom prst="rect">
            <a:avLst/>
          </a:prstGeom>
          <a:solidFill>
            <a:srgbClr val="457B9D">
              <a:alpha val="70000"/>
            </a:srgbClr>
          </a:solidFill>
          <a:ln/>
        </p:spPr>
      </p:sp>
      <p:sp>
        <p:nvSpPr>
          <p:cNvPr id="47" name="Text 45"/>
          <p:cNvSpPr/>
          <p:nvPr/>
        </p:nvSpPr>
        <p:spPr>
          <a:xfrm>
            <a:off x="9272016"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19</a:t>
            </a:r>
            <a:endParaRPr lang="en-US" sz="750" dirty="0"/>
          </a:p>
        </p:txBody>
      </p:sp>
      <p:sp>
        <p:nvSpPr>
          <p:cNvPr id="48" name="Shape 46"/>
          <p:cNvSpPr/>
          <p:nvPr/>
        </p:nvSpPr>
        <p:spPr>
          <a:xfrm>
            <a:off x="9738360" y="1371600"/>
            <a:ext cx="457200" cy="502920"/>
          </a:xfrm>
          <a:prstGeom prst="rect">
            <a:avLst/>
          </a:prstGeom>
          <a:solidFill>
            <a:srgbClr val="457B9D">
              <a:alpha val="80000"/>
            </a:srgbClr>
          </a:solidFill>
          <a:ln/>
        </p:spPr>
      </p:sp>
      <p:sp>
        <p:nvSpPr>
          <p:cNvPr id="49" name="Text 47"/>
          <p:cNvSpPr/>
          <p:nvPr/>
        </p:nvSpPr>
        <p:spPr>
          <a:xfrm>
            <a:off x="9738360"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20</a:t>
            </a:r>
            <a:endParaRPr lang="en-US" sz="750" dirty="0"/>
          </a:p>
        </p:txBody>
      </p:sp>
      <p:sp>
        <p:nvSpPr>
          <p:cNvPr id="50" name="Shape 48"/>
          <p:cNvSpPr/>
          <p:nvPr/>
        </p:nvSpPr>
        <p:spPr>
          <a:xfrm>
            <a:off x="10204704" y="1371600"/>
            <a:ext cx="457200" cy="502920"/>
          </a:xfrm>
          <a:prstGeom prst="rect">
            <a:avLst/>
          </a:prstGeom>
          <a:solidFill>
            <a:srgbClr val="457B9D">
              <a:alpha val="90000"/>
            </a:srgbClr>
          </a:solidFill>
          <a:ln/>
        </p:spPr>
      </p:sp>
      <p:sp>
        <p:nvSpPr>
          <p:cNvPr id="51" name="Text 49"/>
          <p:cNvSpPr/>
          <p:nvPr/>
        </p:nvSpPr>
        <p:spPr>
          <a:xfrm>
            <a:off x="10204704"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21</a:t>
            </a:r>
            <a:endParaRPr lang="en-US" sz="750" dirty="0"/>
          </a:p>
        </p:txBody>
      </p:sp>
      <p:sp>
        <p:nvSpPr>
          <p:cNvPr id="52" name="Shape 50"/>
          <p:cNvSpPr/>
          <p:nvPr/>
        </p:nvSpPr>
        <p:spPr>
          <a:xfrm>
            <a:off x="10671048" y="1371600"/>
            <a:ext cx="457200" cy="502920"/>
          </a:xfrm>
          <a:prstGeom prst="rect">
            <a:avLst/>
          </a:prstGeom>
          <a:solidFill>
            <a:srgbClr val="E63946"/>
          </a:solidFill>
          <a:ln/>
        </p:spPr>
      </p:sp>
      <p:sp>
        <p:nvSpPr>
          <p:cNvPr id="53" name="Text 51"/>
          <p:cNvSpPr/>
          <p:nvPr/>
        </p:nvSpPr>
        <p:spPr>
          <a:xfrm>
            <a:off x="10671048"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22</a:t>
            </a:r>
            <a:endParaRPr lang="en-US" sz="750" dirty="0"/>
          </a:p>
        </p:txBody>
      </p:sp>
      <p:sp>
        <p:nvSpPr>
          <p:cNvPr id="54" name="Shape 52"/>
          <p:cNvSpPr/>
          <p:nvPr/>
        </p:nvSpPr>
        <p:spPr>
          <a:xfrm>
            <a:off x="11137392" y="1371600"/>
            <a:ext cx="457200" cy="502920"/>
          </a:xfrm>
          <a:prstGeom prst="rect">
            <a:avLst/>
          </a:prstGeom>
          <a:solidFill>
            <a:srgbClr val="E63946">
              <a:alpha val="90000"/>
            </a:srgbClr>
          </a:solidFill>
          <a:ln/>
        </p:spPr>
      </p:sp>
      <p:sp>
        <p:nvSpPr>
          <p:cNvPr id="55" name="Text 53"/>
          <p:cNvSpPr/>
          <p:nvPr/>
        </p:nvSpPr>
        <p:spPr>
          <a:xfrm>
            <a:off x="11137392" y="1938528"/>
            <a:ext cx="457200" cy="237744"/>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23</a:t>
            </a:r>
            <a:endParaRPr lang="en-US" sz="750" dirty="0"/>
          </a:p>
        </p:txBody>
      </p:sp>
      <p:sp>
        <p:nvSpPr>
          <p:cNvPr id="56" name="Text 54"/>
          <p:cNvSpPr/>
          <p:nvPr/>
        </p:nvSpPr>
        <p:spPr>
          <a:xfrm>
            <a:off x="457200" y="2212848"/>
            <a:ext cx="7315200" cy="256032"/>
          </a:xfrm>
          <a:prstGeom prst="rect">
            <a:avLst/>
          </a:prstGeom>
          <a:noFill/>
          <a:ln/>
        </p:spPr>
        <p:txBody>
          <a:bodyPr wrap="square" rtlCol="0" anchor="ctr"/>
          <a:lstStyle/>
          <a:p>
            <a:pPr indent="0" marL="0">
              <a:buNone/>
            </a:pPr>
            <a:r>
              <a:rPr lang="en-US" sz="950" b="1" dirty="0">
                <a:solidFill>
                  <a:srgbClr val="E63946"/>
                </a:solidFill>
                <a:latin typeface="Calibri" pitchFamily="34" charset="0"/>
                <a:ea typeface="Calibri" pitchFamily="34" charset="-122"/>
                <a:cs typeface="Calibri" pitchFamily="34" charset="-120"/>
              </a:rPr>
              <a:t>🌙 Night (10PM–5AM) = Peak shooting hours with highest fatality risk</a:t>
            </a:r>
            <a:endParaRPr lang="en-US" sz="950" dirty="0"/>
          </a:p>
        </p:txBody>
      </p:sp>
      <p:sp>
        <p:nvSpPr>
          <p:cNvPr id="57" name="Text 55"/>
          <p:cNvSpPr/>
          <p:nvPr/>
        </p:nvSpPr>
        <p:spPr>
          <a:xfrm>
            <a:off x="457200" y="2487168"/>
            <a:ext cx="7315200" cy="228600"/>
          </a:xfrm>
          <a:prstGeom prst="rect">
            <a:avLst/>
          </a:prstGeom>
          <a:noFill/>
          <a:ln/>
        </p:spPr>
        <p:txBody>
          <a:bodyPr wrap="square" rtlCol="0" anchor="ctr"/>
          <a:lstStyle/>
          <a:p>
            <a:pPr indent="0" marL="0">
              <a:buNone/>
            </a:pPr>
            <a:r>
              <a:rPr lang="en-US" sz="950" dirty="0">
                <a:solidFill>
                  <a:srgbClr val="457B9D"/>
                </a:solidFill>
                <a:latin typeface="Calibri" pitchFamily="34" charset="0"/>
                <a:ea typeface="Calibri" pitchFamily="34" charset="-122"/>
                <a:cs typeface="Calibri" pitchFamily="34" charset="-120"/>
              </a:rPr>
              <a:t>☀️  Day (6AM–10AM) = Fewest incidents — peak police visibility</a:t>
            </a:r>
            <a:endParaRPr lang="en-US" sz="950" dirty="0"/>
          </a:p>
        </p:txBody>
      </p:sp>
      <p:sp>
        <p:nvSpPr>
          <p:cNvPr id="58" name="Shape 56"/>
          <p:cNvSpPr/>
          <p:nvPr/>
        </p:nvSpPr>
        <p:spPr>
          <a:xfrm>
            <a:off x="320040" y="3310128"/>
            <a:ext cx="7589520" cy="27889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59" name="Text 57"/>
          <p:cNvSpPr/>
          <p:nvPr/>
        </p:nvSpPr>
        <p:spPr>
          <a:xfrm>
            <a:off x="457200" y="3383280"/>
            <a:ext cx="7315200" cy="329184"/>
          </a:xfrm>
          <a:prstGeom prst="rect">
            <a:avLst/>
          </a:prstGeom>
          <a:noFill/>
          <a:ln/>
        </p:spPr>
        <p:txBody>
          <a:bodyPr wrap="square" rtlCol="0" anchor="ctr"/>
          <a:lstStyle/>
          <a:p>
            <a:pPr indent="0" marL="0">
              <a:buNone/>
            </a:pPr>
            <a:r>
              <a:rPr lang="en-US" sz="1250" b="1" dirty="0">
                <a:solidFill>
                  <a:srgbClr val="0D1B2A"/>
                </a:solidFill>
                <a:latin typeface="Georgia" pitchFamily="34" charset="0"/>
                <a:ea typeface="Georgia" pitchFamily="34" charset="-122"/>
                <a:cs typeface="Georgia" pitchFamily="34" charset="-120"/>
              </a:rPr>
              <a:t>Yearly Trend (2006–2022) — Total Shooting Incidents</a:t>
            </a:r>
            <a:endParaRPr lang="en-US" sz="1250" dirty="0"/>
          </a:p>
        </p:txBody>
      </p:sp>
      <p:sp>
        <p:nvSpPr>
          <p:cNvPr id="60" name="Shape 58"/>
          <p:cNvSpPr/>
          <p:nvPr/>
        </p:nvSpPr>
        <p:spPr>
          <a:xfrm>
            <a:off x="822960" y="3840480"/>
            <a:ext cx="0" cy="1920240"/>
          </a:xfrm>
          <a:prstGeom prst="line">
            <a:avLst/>
          </a:prstGeom>
          <a:noFill/>
          <a:ln w="12700">
            <a:solidFill>
              <a:srgbClr val="CCCCCC"/>
            </a:solidFill>
            <a:prstDash val="solid"/>
          </a:ln>
        </p:spPr>
      </p:sp>
      <p:sp>
        <p:nvSpPr>
          <p:cNvPr id="61" name="Shape 59"/>
          <p:cNvSpPr/>
          <p:nvPr/>
        </p:nvSpPr>
        <p:spPr>
          <a:xfrm>
            <a:off x="822960" y="5760720"/>
            <a:ext cx="6766560" cy="0"/>
          </a:xfrm>
          <a:prstGeom prst="line">
            <a:avLst/>
          </a:prstGeom>
          <a:noFill/>
          <a:ln w="12700">
            <a:solidFill>
              <a:srgbClr val="CCCCCC"/>
            </a:solidFill>
            <a:prstDash val="solid"/>
          </a:ln>
        </p:spPr>
      </p:sp>
      <p:sp>
        <p:nvSpPr>
          <p:cNvPr id="62" name="Shape 60"/>
          <p:cNvSpPr/>
          <p:nvPr/>
        </p:nvSpPr>
        <p:spPr>
          <a:xfrm rot="1840962">
            <a:off x="822960" y="3840480"/>
            <a:ext cx="491752" cy="36576"/>
          </a:xfrm>
          <a:prstGeom prst="rect">
            <a:avLst/>
          </a:prstGeom>
          <a:solidFill>
            <a:srgbClr val="457B9D"/>
          </a:solidFill>
          <a:ln/>
        </p:spPr>
      </p:sp>
      <p:sp>
        <p:nvSpPr>
          <p:cNvPr id="63" name="Shape 61"/>
          <p:cNvSpPr/>
          <p:nvPr/>
        </p:nvSpPr>
        <p:spPr>
          <a:xfrm rot="-895449">
            <a:off x="1245870" y="3978694"/>
            <a:ext cx="437674" cy="36576"/>
          </a:xfrm>
          <a:prstGeom prst="rect">
            <a:avLst/>
          </a:prstGeom>
          <a:solidFill>
            <a:srgbClr val="457B9D"/>
          </a:solidFill>
          <a:ln/>
        </p:spPr>
      </p:sp>
      <p:sp>
        <p:nvSpPr>
          <p:cNvPr id="64" name="Shape 62"/>
          <p:cNvSpPr/>
          <p:nvPr/>
        </p:nvSpPr>
        <p:spPr>
          <a:xfrm rot="996466">
            <a:off x="1668780" y="3978694"/>
            <a:ext cx="441320" cy="36576"/>
          </a:xfrm>
          <a:prstGeom prst="rect">
            <a:avLst/>
          </a:prstGeom>
          <a:solidFill>
            <a:srgbClr val="457B9D"/>
          </a:solidFill>
          <a:ln/>
        </p:spPr>
      </p:sp>
      <p:sp>
        <p:nvSpPr>
          <p:cNvPr id="65" name="Shape 63"/>
          <p:cNvSpPr/>
          <p:nvPr/>
        </p:nvSpPr>
        <p:spPr>
          <a:xfrm rot="-109043">
            <a:off x="2091690" y="4091413"/>
            <a:ext cx="423123" cy="36576"/>
          </a:xfrm>
          <a:prstGeom prst="rect">
            <a:avLst/>
          </a:prstGeom>
          <a:solidFill>
            <a:srgbClr val="457B9D"/>
          </a:solidFill>
          <a:ln/>
        </p:spPr>
      </p:sp>
      <p:sp>
        <p:nvSpPr>
          <p:cNvPr id="66" name="Shape 64"/>
          <p:cNvSpPr/>
          <p:nvPr/>
        </p:nvSpPr>
        <p:spPr>
          <a:xfrm rot="508921">
            <a:off x="2514600" y="4091413"/>
            <a:ext cx="427587" cy="36576"/>
          </a:xfrm>
          <a:prstGeom prst="rect">
            <a:avLst/>
          </a:prstGeom>
          <a:solidFill>
            <a:srgbClr val="457B9D"/>
          </a:solidFill>
          <a:ln/>
        </p:spPr>
      </p:sp>
      <p:sp>
        <p:nvSpPr>
          <p:cNvPr id="67" name="Shape 65"/>
          <p:cNvSpPr/>
          <p:nvPr/>
        </p:nvSpPr>
        <p:spPr>
          <a:xfrm rot="1095744">
            <a:off x="2937510" y="4154482"/>
            <a:ext cx="445341" cy="36576"/>
          </a:xfrm>
          <a:prstGeom prst="rect">
            <a:avLst/>
          </a:prstGeom>
          <a:solidFill>
            <a:srgbClr val="457B9D"/>
          </a:solidFill>
          <a:ln/>
        </p:spPr>
      </p:sp>
      <p:sp>
        <p:nvSpPr>
          <p:cNvPr id="68" name="Shape 66"/>
          <p:cNvSpPr/>
          <p:nvPr/>
        </p:nvSpPr>
        <p:spPr>
          <a:xfrm rot="2850311">
            <a:off x="3360420" y="4294038"/>
            <a:ext cx="626048" cy="36576"/>
          </a:xfrm>
          <a:prstGeom prst="rect">
            <a:avLst/>
          </a:prstGeom>
          <a:solidFill>
            <a:srgbClr val="457B9D"/>
          </a:solidFill>
          <a:ln/>
        </p:spPr>
      </p:sp>
      <p:sp>
        <p:nvSpPr>
          <p:cNvPr id="69" name="Shape 67"/>
          <p:cNvSpPr/>
          <p:nvPr/>
        </p:nvSpPr>
        <p:spPr>
          <a:xfrm rot="925929">
            <a:off x="3783330" y="4755647"/>
            <a:ext cx="438728" cy="36576"/>
          </a:xfrm>
          <a:prstGeom prst="rect">
            <a:avLst/>
          </a:prstGeom>
          <a:solidFill>
            <a:srgbClr val="457B9D"/>
          </a:solidFill>
          <a:ln/>
        </p:spPr>
      </p:sp>
      <p:sp>
        <p:nvSpPr>
          <p:cNvPr id="70" name="Shape 68"/>
          <p:cNvSpPr/>
          <p:nvPr/>
        </p:nvSpPr>
        <p:spPr>
          <a:xfrm rot="2020595">
            <a:off x="4206240" y="4872391"/>
            <a:ext cx="508195" cy="36576"/>
          </a:xfrm>
          <a:prstGeom prst="rect">
            <a:avLst/>
          </a:prstGeom>
          <a:solidFill>
            <a:srgbClr val="457B9D"/>
          </a:solidFill>
          <a:ln/>
        </p:spPr>
      </p:sp>
      <p:sp>
        <p:nvSpPr>
          <p:cNvPr id="71" name="Shape 69"/>
          <p:cNvSpPr/>
          <p:nvPr/>
        </p:nvSpPr>
        <p:spPr>
          <a:xfrm rot="834058">
            <a:off x="4629150" y="5154187"/>
            <a:ext cx="435670" cy="36576"/>
          </a:xfrm>
          <a:prstGeom prst="rect">
            <a:avLst/>
          </a:prstGeom>
          <a:solidFill>
            <a:srgbClr val="457B9D"/>
          </a:solidFill>
          <a:ln/>
        </p:spPr>
      </p:sp>
      <p:sp>
        <p:nvSpPr>
          <p:cNvPr id="72" name="Shape 70"/>
          <p:cNvSpPr/>
          <p:nvPr/>
        </p:nvSpPr>
        <p:spPr>
          <a:xfrm rot="1849018">
            <a:off x="5052060" y="5258854"/>
            <a:ext cx="492438" cy="36576"/>
          </a:xfrm>
          <a:prstGeom prst="rect">
            <a:avLst/>
          </a:prstGeom>
          <a:solidFill>
            <a:srgbClr val="457B9D"/>
          </a:solidFill>
          <a:ln/>
        </p:spPr>
      </p:sp>
      <p:sp>
        <p:nvSpPr>
          <p:cNvPr id="73" name="Shape 71"/>
          <p:cNvSpPr/>
          <p:nvPr/>
        </p:nvSpPr>
        <p:spPr>
          <a:xfrm rot="885256">
            <a:off x="5474970" y="5511129"/>
            <a:ext cx="437330" cy="36576"/>
          </a:xfrm>
          <a:prstGeom prst="rect">
            <a:avLst/>
          </a:prstGeom>
          <a:solidFill>
            <a:srgbClr val="457B9D"/>
          </a:solidFill>
          <a:ln/>
        </p:spPr>
      </p:sp>
      <p:sp>
        <p:nvSpPr>
          <p:cNvPr id="74" name="Shape 72"/>
          <p:cNvSpPr/>
          <p:nvPr/>
        </p:nvSpPr>
        <p:spPr>
          <a:xfrm rot="1085898">
            <a:off x="5897880" y="5622506"/>
            <a:ext cx="444923" cy="36576"/>
          </a:xfrm>
          <a:prstGeom prst="rect">
            <a:avLst/>
          </a:prstGeom>
          <a:solidFill>
            <a:srgbClr val="457B9D"/>
          </a:solidFill>
          <a:ln/>
        </p:spPr>
      </p:sp>
      <p:sp>
        <p:nvSpPr>
          <p:cNvPr id="75" name="Shape 73"/>
          <p:cNvSpPr/>
          <p:nvPr/>
        </p:nvSpPr>
        <p:spPr>
          <a:xfrm rot="-4250333">
            <a:off x="6320790" y="4543629"/>
            <a:ext cx="1288474" cy="36576"/>
          </a:xfrm>
          <a:prstGeom prst="rect">
            <a:avLst/>
          </a:prstGeom>
          <a:solidFill>
            <a:srgbClr val="457B9D"/>
          </a:solidFill>
          <a:ln/>
        </p:spPr>
      </p:sp>
      <p:sp>
        <p:nvSpPr>
          <p:cNvPr id="76" name="Shape 74"/>
          <p:cNvSpPr/>
          <p:nvPr/>
        </p:nvSpPr>
        <p:spPr>
          <a:xfrm rot="-337061">
            <a:off x="6743700" y="4502030"/>
            <a:ext cx="424951" cy="36576"/>
          </a:xfrm>
          <a:prstGeom prst="rect">
            <a:avLst/>
          </a:prstGeom>
          <a:solidFill>
            <a:srgbClr val="457B9D"/>
          </a:solidFill>
          <a:ln/>
        </p:spPr>
      </p:sp>
      <p:sp>
        <p:nvSpPr>
          <p:cNvPr id="77" name="Shape 75"/>
          <p:cNvSpPr/>
          <p:nvPr/>
        </p:nvSpPr>
        <p:spPr>
          <a:xfrm rot="3526851">
            <a:off x="7166610" y="4502030"/>
            <a:ext cx="815936" cy="36576"/>
          </a:xfrm>
          <a:prstGeom prst="rect">
            <a:avLst/>
          </a:prstGeom>
          <a:solidFill>
            <a:srgbClr val="457B9D"/>
          </a:solidFill>
          <a:ln/>
        </p:spPr>
      </p:sp>
      <p:sp>
        <p:nvSpPr>
          <p:cNvPr id="78" name="Shape 76"/>
          <p:cNvSpPr/>
          <p:nvPr/>
        </p:nvSpPr>
        <p:spPr>
          <a:xfrm>
            <a:off x="6652260" y="4452189"/>
            <a:ext cx="182880" cy="182880"/>
          </a:xfrm>
          <a:prstGeom prst="ellipse">
            <a:avLst/>
          </a:prstGeom>
          <a:solidFill>
            <a:srgbClr val="E63946"/>
          </a:solidFill>
          <a:ln/>
        </p:spPr>
      </p:sp>
      <p:sp>
        <p:nvSpPr>
          <p:cNvPr id="79" name="Text 77"/>
          <p:cNvSpPr/>
          <p:nvPr/>
        </p:nvSpPr>
        <p:spPr>
          <a:xfrm>
            <a:off x="6286500" y="3949269"/>
            <a:ext cx="1097280" cy="438912"/>
          </a:xfrm>
          <a:prstGeom prst="rect">
            <a:avLst/>
          </a:prstGeom>
          <a:noFill/>
          <a:ln/>
        </p:spPr>
        <p:txBody>
          <a:bodyPr wrap="square" rtlCol="0" anchor="ctr"/>
          <a:lstStyle/>
          <a:p>
            <a:pPr algn="ctr" indent="0" marL="0">
              <a:buNone/>
            </a:pPr>
            <a:r>
              <a:rPr lang="en-US" sz="800" b="1" dirty="0">
                <a:solidFill>
                  <a:srgbClr val="E63946"/>
                </a:solidFill>
                <a:latin typeface="Calibri" pitchFamily="34" charset="0"/>
                <a:ea typeface="Calibri" pitchFamily="34" charset="-122"/>
                <a:cs typeface="Calibri" pitchFamily="34" charset="-120"/>
              </a:rPr>
              <a:t>COVID-19</a:t>
            </a:r>
            <a:endParaRPr lang="en-US" sz="800" dirty="0"/>
          </a:p>
          <a:p>
            <a:pPr algn="ctr" indent="0" marL="0">
              <a:buNone/>
            </a:pPr>
            <a:r>
              <a:rPr lang="en-US" sz="800" b="1" dirty="0">
                <a:solidFill>
                  <a:srgbClr val="E63946"/>
                </a:solidFill>
                <a:latin typeface="Calibri" pitchFamily="34" charset="0"/>
                <a:ea typeface="Calibri" pitchFamily="34" charset="-122"/>
                <a:cs typeface="Calibri" pitchFamily="34" charset="-120"/>
              </a:rPr>
              <a:t>Spike 2020</a:t>
            </a:r>
            <a:endParaRPr lang="en-US" sz="800" dirty="0"/>
          </a:p>
        </p:txBody>
      </p:sp>
      <p:sp>
        <p:nvSpPr>
          <p:cNvPr id="80" name="Text 78"/>
          <p:cNvSpPr/>
          <p:nvPr/>
        </p:nvSpPr>
        <p:spPr>
          <a:xfrm>
            <a:off x="594360" y="5806440"/>
            <a:ext cx="457200" cy="182880"/>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2006</a:t>
            </a:r>
            <a:endParaRPr lang="en-US" sz="750" dirty="0"/>
          </a:p>
        </p:txBody>
      </p:sp>
      <p:sp>
        <p:nvSpPr>
          <p:cNvPr id="81" name="Text 79"/>
          <p:cNvSpPr/>
          <p:nvPr/>
        </p:nvSpPr>
        <p:spPr>
          <a:xfrm>
            <a:off x="2286000" y="5806440"/>
            <a:ext cx="457200" cy="182880"/>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2010</a:t>
            </a:r>
            <a:endParaRPr lang="en-US" sz="750" dirty="0"/>
          </a:p>
        </p:txBody>
      </p:sp>
      <p:sp>
        <p:nvSpPr>
          <p:cNvPr id="82" name="Text 80"/>
          <p:cNvSpPr/>
          <p:nvPr/>
        </p:nvSpPr>
        <p:spPr>
          <a:xfrm>
            <a:off x="3977640" y="5806440"/>
            <a:ext cx="457200" cy="182880"/>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2014</a:t>
            </a:r>
            <a:endParaRPr lang="en-US" sz="750" dirty="0"/>
          </a:p>
        </p:txBody>
      </p:sp>
      <p:sp>
        <p:nvSpPr>
          <p:cNvPr id="83" name="Text 81"/>
          <p:cNvSpPr/>
          <p:nvPr/>
        </p:nvSpPr>
        <p:spPr>
          <a:xfrm>
            <a:off x="5669280" y="5806440"/>
            <a:ext cx="457200" cy="182880"/>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2018</a:t>
            </a:r>
            <a:endParaRPr lang="en-US" sz="750" dirty="0"/>
          </a:p>
        </p:txBody>
      </p:sp>
      <p:sp>
        <p:nvSpPr>
          <p:cNvPr id="84" name="Text 82"/>
          <p:cNvSpPr/>
          <p:nvPr/>
        </p:nvSpPr>
        <p:spPr>
          <a:xfrm>
            <a:off x="7360920" y="5806440"/>
            <a:ext cx="457200" cy="182880"/>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2022</a:t>
            </a:r>
            <a:endParaRPr lang="en-US" sz="750" dirty="0"/>
          </a:p>
        </p:txBody>
      </p:sp>
      <p:sp>
        <p:nvSpPr>
          <p:cNvPr id="85" name="Shape 83"/>
          <p:cNvSpPr/>
          <p:nvPr/>
        </p:nvSpPr>
        <p:spPr>
          <a:xfrm>
            <a:off x="8138160" y="841248"/>
            <a:ext cx="3703320" cy="19202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86" name="Shape 84"/>
          <p:cNvSpPr/>
          <p:nvPr/>
        </p:nvSpPr>
        <p:spPr>
          <a:xfrm>
            <a:off x="8138160" y="841248"/>
            <a:ext cx="3703320" cy="64008"/>
          </a:xfrm>
          <a:prstGeom prst="rect">
            <a:avLst/>
          </a:prstGeom>
          <a:solidFill>
            <a:srgbClr val="38A169"/>
          </a:solidFill>
          <a:ln/>
        </p:spPr>
      </p:sp>
      <p:sp>
        <p:nvSpPr>
          <p:cNvPr id="87" name="Text 85"/>
          <p:cNvSpPr/>
          <p:nvPr/>
        </p:nvSpPr>
        <p:spPr>
          <a:xfrm>
            <a:off x="8183880" y="987552"/>
            <a:ext cx="5486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88" name="Text 86"/>
          <p:cNvSpPr/>
          <p:nvPr/>
        </p:nvSpPr>
        <p:spPr>
          <a:xfrm>
            <a:off x="8796528" y="960120"/>
            <a:ext cx="2926080" cy="34747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2013–2019 Decline</a:t>
            </a:r>
            <a:endParaRPr lang="en-US" sz="1200" dirty="0"/>
          </a:p>
        </p:txBody>
      </p:sp>
      <p:sp>
        <p:nvSpPr>
          <p:cNvPr id="89" name="Text 87"/>
          <p:cNvSpPr/>
          <p:nvPr/>
        </p:nvSpPr>
        <p:spPr>
          <a:xfrm>
            <a:off x="8796528" y="1335024"/>
            <a:ext cx="2926080" cy="45720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Consistent drop from 1,373 → 624 incidents/yr. NYPD strategies proved effective.</a:t>
            </a:r>
            <a:endParaRPr lang="en-US" sz="1000" dirty="0"/>
          </a:p>
        </p:txBody>
      </p:sp>
      <p:sp>
        <p:nvSpPr>
          <p:cNvPr id="90" name="Shape 88"/>
          <p:cNvSpPr/>
          <p:nvPr/>
        </p:nvSpPr>
        <p:spPr>
          <a:xfrm>
            <a:off x="8138160" y="2898648"/>
            <a:ext cx="3703320" cy="19202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91" name="Shape 89"/>
          <p:cNvSpPr/>
          <p:nvPr/>
        </p:nvSpPr>
        <p:spPr>
          <a:xfrm>
            <a:off x="8138160" y="2898648"/>
            <a:ext cx="3703320" cy="64008"/>
          </a:xfrm>
          <a:prstGeom prst="rect">
            <a:avLst/>
          </a:prstGeom>
          <a:solidFill>
            <a:srgbClr val="E63946"/>
          </a:solidFill>
          <a:ln/>
        </p:spPr>
      </p:sp>
      <p:sp>
        <p:nvSpPr>
          <p:cNvPr id="92" name="Text 90"/>
          <p:cNvSpPr/>
          <p:nvPr/>
        </p:nvSpPr>
        <p:spPr>
          <a:xfrm>
            <a:off x="8183880" y="3044952"/>
            <a:ext cx="5486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3" name="Text 91"/>
          <p:cNvSpPr/>
          <p:nvPr/>
        </p:nvSpPr>
        <p:spPr>
          <a:xfrm>
            <a:off x="8796528" y="3017520"/>
            <a:ext cx="2926080" cy="34747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2020 COVID Spike</a:t>
            </a:r>
            <a:endParaRPr lang="en-US" sz="1200" dirty="0"/>
          </a:p>
        </p:txBody>
      </p:sp>
      <p:sp>
        <p:nvSpPr>
          <p:cNvPr id="94" name="Text 92"/>
          <p:cNvSpPr/>
          <p:nvPr/>
        </p:nvSpPr>
        <p:spPr>
          <a:xfrm>
            <a:off x="8796528" y="3392424"/>
            <a:ext cx="2926080" cy="45720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Jumped from 624 → 1,531. Reduced police presence + social tensions drove the surge.</a:t>
            </a:r>
            <a:endParaRPr lang="en-US" sz="1000" dirty="0"/>
          </a:p>
        </p:txBody>
      </p:sp>
      <p:sp>
        <p:nvSpPr>
          <p:cNvPr id="95" name="Shape 93"/>
          <p:cNvSpPr/>
          <p:nvPr/>
        </p:nvSpPr>
        <p:spPr>
          <a:xfrm>
            <a:off x="8138160" y="4956048"/>
            <a:ext cx="3703320" cy="19202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96" name="Shape 94"/>
          <p:cNvSpPr/>
          <p:nvPr/>
        </p:nvSpPr>
        <p:spPr>
          <a:xfrm>
            <a:off x="8138160" y="4956048"/>
            <a:ext cx="3703320" cy="64008"/>
          </a:xfrm>
          <a:prstGeom prst="rect">
            <a:avLst/>
          </a:prstGeom>
          <a:solidFill>
            <a:srgbClr val="0D1B2A"/>
          </a:solidFill>
          <a:ln/>
        </p:spPr>
      </p:sp>
      <p:sp>
        <p:nvSpPr>
          <p:cNvPr id="97" name="Text 95"/>
          <p:cNvSpPr/>
          <p:nvPr/>
        </p:nvSpPr>
        <p:spPr>
          <a:xfrm>
            <a:off x="8183880" y="5102352"/>
            <a:ext cx="54864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8" name="Text 96"/>
          <p:cNvSpPr/>
          <p:nvPr/>
        </p:nvSpPr>
        <p:spPr>
          <a:xfrm>
            <a:off x="8796528" y="5074920"/>
            <a:ext cx="2926080" cy="347472"/>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Peak Hour: 11 PM</a:t>
            </a:r>
            <a:endParaRPr lang="en-US" sz="1200" dirty="0"/>
          </a:p>
        </p:txBody>
      </p:sp>
      <p:sp>
        <p:nvSpPr>
          <p:cNvPr id="99" name="Text 97"/>
          <p:cNvSpPr/>
          <p:nvPr/>
        </p:nvSpPr>
        <p:spPr>
          <a:xfrm>
            <a:off x="8796528" y="5449824"/>
            <a:ext cx="2926080" cy="45720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Late-night (10PM–5AM) shows highest fatality risk due to slower EMS response times.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EDA — Victim Demographic Analysis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08</a:t>
            </a:r>
            <a:endParaRPr lang="en-US" sz="1200" dirty="0"/>
          </a:p>
        </p:txBody>
      </p:sp>
      <p:sp>
        <p:nvSpPr>
          <p:cNvPr id="6" name="Shape 4"/>
          <p:cNvSpPr/>
          <p:nvPr/>
        </p:nvSpPr>
        <p:spPr>
          <a:xfrm>
            <a:off x="320040" y="841248"/>
            <a:ext cx="6949440" cy="32918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Text 5"/>
          <p:cNvSpPr/>
          <p:nvPr/>
        </p:nvSpPr>
        <p:spPr>
          <a:xfrm>
            <a:off x="457200" y="914400"/>
            <a:ext cx="6675120" cy="329184"/>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Fatality Rate by Victim Age Group</a:t>
            </a:r>
            <a:endParaRPr lang="en-US" sz="1300" dirty="0"/>
          </a:p>
        </p:txBody>
      </p:sp>
      <p:sp>
        <p:nvSpPr>
          <p:cNvPr id="8" name="Shape 6"/>
          <p:cNvSpPr/>
          <p:nvPr/>
        </p:nvSpPr>
        <p:spPr>
          <a:xfrm>
            <a:off x="548640" y="3008376"/>
            <a:ext cx="1060704" cy="832104"/>
          </a:xfrm>
          <a:prstGeom prst="rect">
            <a:avLst/>
          </a:prstGeom>
          <a:solidFill>
            <a:srgbClr val="457B9D"/>
          </a:solidFill>
          <a:ln/>
        </p:spPr>
      </p:sp>
      <p:sp>
        <p:nvSpPr>
          <p:cNvPr id="9" name="Text 7"/>
          <p:cNvSpPr/>
          <p:nvPr/>
        </p:nvSpPr>
        <p:spPr>
          <a:xfrm>
            <a:off x="548640" y="2734056"/>
            <a:ext cx="1060704" cy="256032"/>
          </a:xfrm>
          <a:prstGeom prst="rect">
            <a:avLst/>
          </a:prstGeom>
          <a:noFill/>
          <a:ln/>
        </p:spPr>
        <p:txBody>
          <a:bodyPr wrap="square" rtlCol="0" anchor="ctr"/>
          <a:lstStyle/>
          <a:p>
            <a:pPr algn="ctr" indent="0" marL="0">
              <a:buNone/>
            </a:pPr>
            <a:r>
              <a:rPr lang="en-US" sz="1100" b="1" dirty="0">
                <a:solidFill>
                  <a:srgbClr val="457B9D"/>
                </a:solidFill>
                <a:latin typeface="Georgia" pitchFamily="34" charset="0"/>
                <a:ea typeface="Georgia" pitchFamily="34" charset="-122"/>
                <a:cs typeface="Georgia" pitchFamily="34" charset="-120"/>
              </a:rPr>
              <a:t>13%</a:t>
            </a:r>
            <a:endParaRPr lang="en-US" sz="1100" dirty="0"/>
          </a:p>
        </p:txBody>
      </p:sp>
      <p:sp>
        <p:nvSpPr>
          <p:cNvPr id="10" name="Text 8"/>
          <p:cNvSpPr/>
          <p:nvPr/>
        </p:nvSpPr>
        <p:spPr>
          <a:xfrm>
            <a:off x="548640" y="3886200"/>
            <a:ext cx="1060704" cy="256032"/>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&lt;18</a:t>
            </a:r>
            <a:endParaRPr lang="en-US" sz="1000" dirty="0"/>
          </a:p>
        </p:txBody>
      </p:sp>
      <p:sp>
        <p:nvSpPr>
          <p:cNvPr id="11" name="Text 9"/>
          <p:cNvSpPr/>
          <p:nvPr/>
        </p:nvSpPr>
        <p:spPr>
          <a:xfrm>
            <a:off x="548640" y="4114800"/>
            <a:ext cx="1060704" cy="201168"/>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n=2,839</a:t>
            </a:r>
            <a:endParaRPr lang="en-US" sz="750" dirty="0"/>
          </a:p>
        </p:txBody>
      </p:sp>
      <p:sp>
        <p:nvSpPr>
          <p:cNvPr id="12" name="Shape 10"/>
          <p:cNvSpPr/>
          <p:nvPr/>
        </p:nvSpPr>
        <p:spPr>
          <a:xfrm>
            <a:off x="1792224" y="2771546"/>
            <a:ext cx="1060704" cy="1068934"/>
          </a:xfrm>
          <a:prstGeom prst="rect">
            <a:avLst/>
          </a:prstGeom>
          <a:solidFill>
            <a:srgbClr val="457B9D"/>
          </a:solidFill>
          <a:ln/>
        </p:spPr>
      </p:sp>
      <p:sp>
        <p:nvSpPr>
          <p:cNvPr id="13" name="Text 11"/>
          <p:cNvSpPr/>
          <p:nvPr/>
        </p:nvSpPr>
        <p:spPr>
          <a:xfrm>
            <a:off x="1792224" y="2497226"/>
            <a:ext cx="1060704" cy="256032"/>
          </a:xfrm>
          <a:prstGeom prst="rect">
            <a:avLst/>
          </a:prstGeom>
          <a:noFill/>
          <a:ln/>
        </p:spPr>
        <p:txBody>
          <a:bodyPr wrap="square" rtlCol="0" anchor="ctr"/>
          <a:lstStyle/>
          <a:p>
            <a:pPr algn="ctr" indent="0" marL="0">
              <a:buNone/>
            </a:pPr>
            <a:r>
              <a:rPr lang="en-US" sz="1100" b="1" dirty="0">
                <a:solidFill>
                  <a:srgbClr val="457B9D"/>
                </a:solidFill>
                <a:latin typeface="Georgia" pitchFamily="34" charset="0"/>
                <a:ea typeface="Georgia" pitchFamily="34" charset="-122"/>
                <a:cs typeface="Georgia" pitchFamily="34" charset="-120"/>
              </a:rPr>
              <a:t>16.7%</a:t>
            </a:r>
            <a:endParaRPr lang="en-US" sz="1100" dirty="0"/>
          </a:p>
        </p:txBody>
      </p:sp>
      <p:sp>
        <p:nvSpPr>
          <p:cNvPr id="14" name="Text 12"/>
          <p:cNvSpPr/>
          <p:nvPr/>
        </p:nvSpPr>
        <p:spPr>
          <a:xfrm>
            <a:off x="1792224" y="3886200"/>
            <a:ext cx="1060704" cy="256032"/>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18–24</a:t>
            </a:r>
            <a:endParaRPr lang="en-US" sz="1000" dirty="0"/>
          </a:p>
        </p:txBody>
      </p:sp>
      <p:sp>
        <p:nvSpPr>
          <p:cNvPr id="15" name="Text 13"/>
          <p:cNvSpPr/>
          <p:nvPr/>
        </p:nvSpPr>
        <p:spPr>
          <a:xfrm>
            <a:off x="1792224" y="4114800"/>
            <a:ext cx="1060704" cy="201168"/>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n=10,086</a:t>
            </a:r>
            <a:endParaRPr lang="en-US" sz="750" dirty="0"/>
          </a:p>
        </p:txBody>
      </p:sp>
      <p:sp>
        <p:nvSpPr>
          <p:cNvPr id="16" name="Shape 14"/>
          <p:cNvSpPr/>
          <p:nvPr/>
        </p:nvSpPr>
        <p:spPr>
          <a:xfrm>
            <a:off x="3035808" y="2445106"/>
            <a:ext cx="1060704" cy="1395374"/>
          </a:xfrm>
          <a:prstGeom prst="rect">
            <a:avLst/>
          </a:prstGeom>
          <a:solidFill>
            <a:srgbClr val="DD6B20"/>
          </a:solidFill>
          <a:ln/>
        </p:spPr>
      </p:sp>
      <p:sp>
        <p:nvSpPr>
          <p:cNvPr id="17" name="Text 15"/>
          <p:cNvSpPr/>
          <p:nvPr/>
        </p:nvSpPr>
        <p:spPr>
          <a:xfrm>
            <a:off x="3035808" y="2170786"/>
            <a:ext cx="1060704" cy="256032"/>
          </a:xfrm>
          <a:prstGeom prst="rect">
            <a:avLst/>
          </a:prstGeom>
          <a:noFill/>
          <a:ln/>
        </p:spPr>
        <p:txBody>
          <a:bodyPr wrap="square" rtlCol="0" anchor="ctr"/>
          <a:lstStyle/>
          <a:p>
            <a:pPr algn="ctr" indent="0" marL="0">
              <a:buNone/>
            </a:pPr>
            <a:r>
              <a:rPr lang="en-US" sz="1100" b="1" dirty="0">
                <a:solidFill>
                  <a:srgbClr val="DD6B20"/>
                </a:solidFill>
                <a:latin typeface="Georgia" pitchFamily="34" charset="0"/>
                <a:ea typeface="Georgia" pitchFamily="34" charset="-122"/>
                <a:cs typeface="Georgia" pitchFamily="34" charset="-120"/>
              </a:rPr>
              <a:t>21.8%</a:t>
            </a:r>
            <a:endParaRPr lang="en-US" sz="1100" dirty="0"/>
          </a:p>
        </p:txBody>
      </p:sp>
      <p:sp>
        <p:nvSpPr>
          <p:cNvPr id="18" name="Text 16"/>
          <p:cNvSpPr/>
          <p:nvPr/>
        </p:nvSpPr>
        <p:spPr>
          <a:xfrm>
            <a:off x="3035808" y="3886200"/>
            <a:ext cx="1060704" cy="256032"/>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25–44</a:t>
            </a:r>
            <a:endParaRPr lang="en-US" sz="1000" dirty="0"/>
          </a:p>
        </p:txBody>
      </p:sp>
      <p:sp>
        <p:nvSpPr>
          <p:cNvPr id="19" name="Text 17"/>
          <p:cNvSpPr/>
          <p:nvPr/>
        </p:nvSpPr>
        <p:spPr>
          <a:xfrm>
            <a:off x="3035808" y="4114800"/>
            <a:ext cx="1060704" cy="201168"/>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n=12,281</a:t>
            </a:r>
            <a:endParaRPr lang="en-US" sz="750" dirty="0"/>
          </a:p>
        </p:txBody>
      </p:sp>
      <p:sp>
        <p:nvSpPr>
          <p:cNvPr id="20" name="Shape 18"/>
          <p:cNvSpPr/>
          <p:nvPr/>
        </p:nvSpPr>
        <p:spPr>
          <a:xfrm>
            <a:off x="4279392" y="2240280"/>
            <a:ext cx="1060704" cy="1600200"/>
          </a:xfrm>
          <a:prstGeom prst="rect">
            <a:avLst/>
          </a:prstGeom>
          <a:solidFill>
            <a:srgbClr val="DD6B20"/>
          </a:solidFill>
          <a:ln/>
        </p:spPr>
      </p:sp>
      <p:sp>
        <p:nvSpPr>
          <p:cNvPr id="21" name="Text 19"/>
          <p:cNvSpPr/>
          <p:nvPr/>
        </p:nvSpPr>
        <p:spPr>
          <a:xfrm>
            <a:off x="4279392" y="1965960"/>
            <a:ext cx="1060704" cy="256032"/>
          </a:xfrm>
          <a:prstGeom prst="rect">
            <a:avLst/>
          </a:prstGeom>
          <a:noFill/>
          <a:ln/>
        </p:spPr>
        <p:txBody>
          <a:bodyPr wrap="square" rtlCol="0" anchor="ctr"/>
          <a:lstStyle/>
          <a:p>
            <a:pPr algn="ctr" indent="0" marL="0">
              <a:buNone/>
            </a:pPr>
            <a:r>
              <a:rPr lang="en-US" sz="1100" b="1" dirty="0">
                <a:solidFill>
                  <a:srgbClr val="DD6B20"/>
                </a:solidFill>
                <a:latin typeface="Georgia" pitchFamily="34" charset="0"/>
                <a:ea typeface="Georgia" pitchFamily="34" charset="-122"/>
                <a:cs typeface="Georgia" pitchFamily="34" charset="-120"/>
              </a:rPr>
              <a:t>25%</a:t>
            </a:r>
            <a:endParaRPr lang="en-US" sz="1100" dirty="0"/>
          </a:p>
        </p:txBody>
      </p:sp>
      <p:sp>
        <p:nvSpPr>
          <p:cNvPr id="22" name="Text 20"/>
          <p:cNvSpPr/>
          <p:nvPr/>
        </p:nvSpPr>
        <p:spPr>
          <a:xfrm>
            <a:off x="4279392" y="3886200"/>
            <a:ext cx="1060704" cy="256032"/>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45–64</a:t>
            </a:r>
            <a:endParaRPr lang="en-US" sz="1000" dirty="0"/>
          </a:p>
        </p:txBody>
      </p:sp>
      <p:sp>
        <p:nvSpPr>
          <p:cNvPr id="23" name="Text 21"/>
          <p:cNvSpPr/>
          <p:nvPr/>
        </p:nvSpPr>
        <p:spPr>
          <a:xfrm>
            <a:off x="4279392" y="4114800"/>
            <a:ext cx="1060704" cy="201168"/>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n=1,863</a:t>
            </a:r>
            <a:endParaRPr lang="en-US" sz="750" dirty="0"/>
          </a:p>
        </p:txBody>
      </p:sp>
      <p:sp>
        <p:nvSpPr>
          <p:cNvPr id="24" name="Shape 22"/>
          <p:cNvSpPr/>
          <p:nvPr/>
        </p:nvSpPr>
        <p:spPr>
          <a:xfrm>
            <a:off x="5522976" y="1862633"/>
            <a:ext cx="1060704" cy="1977847"/>
          </a:xfrm>
          <a:prstGeom prst="rect">
            <a:avLst/>
          </a:prstGeom>
          <a:solidFill>
            <a:srgbClr val="E63946"/>
          </a:solidFill>
          <a:ln/>
        </p:spPr>
      </p:sp>
      <p:sp>
        <p:nvSpPr>
          <p:cNvPr id="25" name="Text 23"/>
          <p:cNvSpPr/>
          <p:nvPr/>
        </p:nvSpPr>
        <p:spPr>
          <a:xfrm>
            <a:off x="5522976" y="1588313"/>
            <a:ext cx="1060704" cy="256032"/>
          </a:xfrm>
          <a:prstGeom prst="rect">
            <a:avLst/>
          </a:prstGeom>
          <a:noFill/>
          <a:ln/>
        </p:spPr>
        <p:txBody>
          <a:bodyPr wrap="square" rtlCol="0" anchor="ctr"/>
          <a:lstStyle/>
          <a:p>
            <a:pPr algn="ctr" indent="0" marL="0">
              <a:buNone/>
            </a:pPr>
            <a:r>
              <a:rPr lang="en-US" sz="1100" b="1" dirty="0">
                <a:solidFill>
                  <a:srgbClr val="E63946"/>
                </a:solidFill>
                <a:latin typeface="Georgia" pitchFamily="34" charset="0"/>
                <a:ea typeface="Georgia" pitchFamily="34" charset="-122"/>
                <a:cs typeface="Georgia" pitchFamily="34" charset="-120"/>
              </a:rPr>
              <a:t>30.9%</a:t>
            </a:r>
            <a:endParaRPr lang="en-US" sz="1100" dirty="0"/>
          </a:p>
        </p:txBody>
      </p:sp>
      <p:sp>
        <p:nvSpPr>
          <p:cNvPr id="26" name="Text 24"/>
          <p:cNvSpPr/>
          <p:nvPr/>
        </p:nvSpPr>
        <p:spPr>
          <a:xfrm>
            <a:off x="5522976" y="3886200"/>
            <a:ext cx="1060704" cy="256032"/>
          </a:xfrm>
          <a:prstGeom prst="rect">
            <a:avLst/>
          </a:prstGeom>
          <a:noFill/>
          <a:ln/>
        </p:spPr>
        <p:txBody>
          <a:bodyPr wrap="square"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65+</a:t>
            </a:r>
            <a:endParaRPr lang="en-US" sz="1000" dirty="0"/>
          </a:p>
        </p:txBody>
      </p:sp>
      <p:sp>
        <p:nvSpPr>
          <p:cNvPr id="27" name="Text 25"/>
          <p:cNvSpPr/>
          <p:nvPr/>
        </p:nvSpPr>
        <p:spPr>
          <a:xfrm>
            <a:off x="5522976" y="4114800"/>
            <a:ext cx="1060704" cy="201168"/>
          </a:xfrm>
          <a:prstGeom prst="rect">
            <a:avLst/>
          </a:prstGeom>
          <a:noFill/>
          <a:ln/>
        </p:spPr>
        <p:txBody>
          <a:bodyPr wrap="square" rtlCol="0" anchor="ctr"/>
          <a:lstStyle/>
          <a:p>
            <a:pPr algn="ctr" indent="0" marL="0">
              <a:buNone/>
            </a:pPr>
            <a:r>
              <a:rPr lang="en-US" sz="750" dirty="0">
                <a:solidFill>
                  <a:srgbClr val="8B949E"/>
                </a:solidFill>
                <a:latin typeface="Calibri" pitchFamily="34" charset="0"/>
                <a:ea typeface="Calibri" pitchFamily="34" charset="-122"/>
                <a:cs typeface="Calibri" pitchFamily="34" charset="-120"/>
              </a:rPr>
              <a:t>n=181</a:t>
            </a:r>
            <a:endParaRPr lang="en-US" sz="750" dirty="0"/>
          </a:p>
        </p:txBody>
      </p:sp>
      <p:sp>
        <p:nvSpPr>
          <p:cNvPr id="28" name="Shape 26"/>
          <p:cNvSpPr/>
          <p:nvPr/>
        </p:nvSpPr>
        <p:spPr>
          <a:xfrm>
            <a:off x="320040" y="4224528"/>
            <a:ext cx="6949440" cy="502920"/>
          </a:xfrm>
          <a:prstGeom prst="rect">
            <a:avLst/>
          </a:prstGeom>
          <a:solidFill>
            <a:srgbClr val="0D1B2A"/>
          </a:solidFill>
          <a:ln/>
        </p:spPr>
      </p:sp>
      <p:sp>
        <p:nvSpPr>
          <p:cNvPr id="29" name="Text 27"/>
          <p:cNvSpPr/>
          <p:nvPr/>
        </p:nvSpPr>
        <p:spPr>
          <a:xfrm>
            <a:off x="457200" y="4261104"/>
            <a:ext cx="6675120" cy="402336"/>
          </a:xfrm>
          <a:prstGeom prst="rect">
            <a:avLst/>
          </a:prstGeom>
          <a:noFill/>
          <a:ln/>
        </p:spPr>
        <p:txBody>
          <a:bodyPr wrap="square" rtlCol="0" anchor="ctr"/>
          <a:lstStyle/>
          <a:p>
            <a:pPr indent="0" marL="0">
              <a:buNone/>
            </a:pPr>
            <a:r>
              <a:rPr lang="en-US" sz="1100" dirty="0">
                <a:solidFill>
                  <a:srgbClr val="A8DADC"/>
                </a:solidFill>
                <a:latin typeface="Calibri" pitchFamily="34" charset="0"/>
                <a:ea typeface="Calibri" pitchFamily="34" charset="-122"/>
                <a:cs typeface="Calibri" pitchFamily="34" charset="-120"/>
              </a:rPr>
              <a:t>💡  Fatality risk increases with age — victims 45+ face 1.5×–2× higher risk than those under 25</a:t>
            </a:r>
            <a:endParaRPr lang="en-US" sz="1100" dirty="0"/>
          </a:p>
        </p:txBody>
      </p:sp>
      <p:sp>
        <p:nvSpPr>
          <p:cNvPr id="30" name="Shape 28"/>
          <p:cNvSpPr/>
          <p:nvPr/>
        </p:nvSpPr>
        <p:spPr>
          <a:xfrm>
            <a:off x="7406640" y="841248"/>
            <a:ext cx="4434840" cy="20116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1" name="Text 29"/>
          <p:cNvSpPr/>
          <p:nvPr/>
        </p:nvSpPr>
        <p:spPr>
          <a:xfrm>
            <a:off x="7498080" y="914400"/>
            <a:ext cx="4206240" cy="329184"/>
          </a:xfrm>
          <a:prstGeom prst="rect">
            <a:avLst/>
          </a:prstGeom>
          <a:noFill/>
          <a:ln/>
        </p:spPr>
        <p:txBody>
          <a:bodyPr wrap="square" rtlCol="0" anchor="ctr"/>
          <a:lstStyle/>
          <a:p>
            <a:pPr indent="0" marL="0">
              <a:buNone/>
            </a:pPr>
            <a:r>
              <a:rPr lang="en-US" sz="1200" b="1" dirty="0">
                <a:solidFill>
                  <a:srgbClr val="0D1B2A"/>
                </a:solidFill>
                <a:latin typeface="Georgia" pitchFamily="34" charset="0"/>
                <a:ea typeface="Georgia" pitchFamily="34" charset="-122"/>
                <a:cs typeface="Georgia" pitchFamily="34" charset="-120"/>
              </a:rPr>
              <a:t>Fatality Rate by Victim Sex</a:t>
            </a:r>
            <a:endParaRPr lang="en-US" sz="1200" dirty="0"/>
          </a:p>
        </p:txBody>
      </p:sp>
      <p:sp>
        <p:nvSpPr>
          <p:cNvPr id="32" name="Shape 30"/>
          <p:cNvSpPr/>
          <p:nvPr/>
        </p:nvSpPr>
        <p:spPr>
          <a:xfrm>
            <a:off x="7498080" y="1353312"/>
            <a:ext cx="2189074" cy="320040"/>
          </a:xfrm>
          <a:prstGeom prst="rect">
            <a:avLst/>
          </a:prstGeom>
          <a:solidFill>
            <a:srgbClr val="457B9D"/>
          </a:solidFill>
          <a:ln/>
        </p:spPr>
      </p:sp>
      <p:sp>
        <p:nvSpPr>
          <p:cNvPr id="33" name="Text 31"/>
          <p:cNvSpPr/>
          <p:nvPr/>
        </p:nvSpPr>
        <p:spPr>
          <a:xfrm>
            <a:off x="7498080" y="1371600"/>
            <a:ext cx="228600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Male (M)</a:t>
            </a:r>
            <a:endParaRPr lang="en-US" sz="1000" dirty="0"/>
          </a:p>
        </p:txBody>
      </p:sp>
      <p:sp>
        <p:nvSpPr>
          <p:cNvPr id="34" name="Text 32"/>
          <p:cNvSpPr/>
          <p:nvPr/>
        </p:nvSpPr>
        <p:spPr>
          <a:xfrm>
            <a:off x="9778594" y="1371600"/>
            <a:ext cx="640080" cy="274320"/>
          </a:xfrm>
          <a:prstGeom prst="rect">
            <a:avLst/>
          </a:prstGeom>
          <a:noFill/>
          <a:ln/>
        </p:spPr>
        <p:txBody>
          <a:bodyPr wrap="square" rtlCol="0" anchor="ctr"/>
          <a:lstStyle/>
          <a:p>
            <a:pPr indent="0" marL="0">
              <a:buNone/>
            </a:pPr>
            <a:r>
              <a:rPr lang="en-US" sz="1100" b="1" dirty="0">
                <a:solidFill>
                  <a:srgbClr val="457B9D"/>
                </a:solidFill>
                <a:latin typeface="Georgia" pitchFamily="34" charset="0"/>
                <a:ea typeface="Georgia" pitchFamily="34" charset="-122"/>
                <a:cs typeface="Georgia" pitchFamily="34" charset="-120"/>
              </a:rPr>
              <a:t>18.9%</a:t>
            </a:r>
            <a:endParaRPr lang="en-US" sz="1100" dirty="0"/>
          </a:p>
        </p:txBody>
      </p:sp>
      <p:sp>
        <p:nvSpPr>
          <p:cNvPr id="35" name="Shape 33"/>
          <p:cNvSpPr/>
          <p:nvPr/>
        </p:nvSpPr>
        <p:spPr>
          <a:xfrm>
            <a:off x="7498080" y="1856232"/>
            <a:ext cx="2640787" cy="320040"/>
          </a:xfrm>
          <a:prstGeom prst="rect">
            <a:avLst/>
          </a:prstGeom>
          <a:solidFill>
            <a:srgbClr val="E63946"/>
          </a:solidFill>
          <a:ln/>
        </p:spPr>
      </p:sp>
      <p:sp>
        <p:nvSpPr>
          <p:cNvPr id="36" name="Text 34"/>
          <p:cNvSpPr/>
          <p:nvPr/>
        </p:nvSpPr>
        <p:spPr>
          <a:xfrm>
            <a:off x="7498080" y="1874520"/>
            <a:ext cx="228600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Female (F)</a:t>
            </a:r>
            <a:endParaRPr lang="en-US" sz="1000" dirty="0"/>
          </a:p>
        </p:txBody>
      </p:sp>
      <p:sp>
        <p:nvSpPr>
          <p:cNvPr id="37" name="Text 35"/>
          <p:cNvSpPr/>
          <p:nvPr/>
        </p:nvSpPr>
        <p:spPr>
          <a:xfrm>
            <a:off x="10230307" y="1874520"/>
            <a:ext cx="640080" cy="274320"/>
          </a:xfrm>
          <a:prstGeom prst="rect">
            <a:avLst/>
          </a:prstGeom>
          <a:noFill/>
          <a:ln/>
        </p:spPr>
        <p:txBody>
          <a:bodyPr wrap="square" rtlCol="0" anchor="ctr"/>
          <a:lstStyle/>
          <a:p>
            <a:pPr indent="0" marL="0">
              <a:buNone/>
            </a:pPr>
            <a:r>
              <a:rPr lang="en-US" sz="1100" b="1" dirty="0">
                <a:solidFill>
                  <a:srgbClr val="E63946"/>
                </a:solidFill>
                <a:latin typeface="Georgia" pitchFamily="34" charset="0"/>
                <a:ea typeface="Georgia" pitchFamily="34" charset="-122"/>
                <a:cs typeface="Georgia" pitchFamily="34" charset="-120"/>
              </a:rPr>
              <a:t>22.8%</a:t>
            </a:r>
            <a:endParaRPr lang="en-US" sz="1100" dirty="0"/>
          </a:p>
        </p:txBody>
      </p:sp>
      <p:sp>
        <p:nvSpPr>
          <p:cNvPr id="38" name="Text 36"/>
          <p:cNvSpPr/>
          <p:nvPr/>
        </p:nvSpPr>
        <p:spPr>
          <a:xfrm>
            <a:off x="7498080" y="2395728"/>
            <a:ext cx="4206240" cy="411480"/>
          </a:xfrm>
          <a:prstGeom prst="rect">
            <a:avLst/>
          </a:prstGeom>
          <a:noFill/>
          <a:ln/>
        </p:spPr>
        <p:txBody>
          <a:bodyPr wrap="square" rtlCol="0" anchor="ctr"/>
          <a:lstStyle/>
          <a:p>
            <a:pPr indent="0" marL="0">
              <a:lnSpc>
                <a:spcPct val="130000"/>
              </a:lnSpc>
              <a:buNone/>
            </a:pPr>
            <a:r>
              <a:rPr lang="en-US" sz="950" dirty="0">
                <a:solidFill>
                  <a:srgbClr val="DD6B20"/>
                </a:solidFill>
                <a:latin typeface="Calibri" pitchFamily="34" charset="0"/>
                <a:ea typeface="Calibri" pitchFamily="34" charset="-122"/>
                <a:cs typeface="Calibri" pitchFamily="34" charset="-120"/>
              </a:rPr>
              <a:t>⚠️ Female victims show higher fatality — likely due to more premeditated (domestic) attacks</a:t>
            </a:r>
            <a:endParaRPr lang="en-US" sz="950" dirty="0"/>
          </a:p>
        </p:txBody>
      </p:sp>
      <p:sp>
        <p:nvSpPr>
          <p:cNvPr id="39" name="Shape 37"/>
          <p:cNvSpPr/>
          <p:nvPr/>
        </p:nvSpPr>
        <p:spPr>
          <a:xfrm>
            <a:off x="7406640" y="2944368"/>
            <a:ext cx="44348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40" name="Text 38"/>
          <p:cNvSpPr/>
          <p:nvPr/>
        </p:nvSpPr>
        <p:spPr>
          <a:xfrm>
            <a:off x="7498080" y="3017520"/>
            <a:ext cx="4206240" cy="329184"/>
          </a:xfrm>
          <a:prstGeom prst="rect">
            <a:avLst/>
          </a:prstGeom>
          <a:noFill/>
          <a:ln/>
        </p:spPr>
        <p:txBody>
          <a:bodyPr wrap="square" rtlCol="0" anchor="ctr"/>
          <a:lstStyle/>
          <a:p>
            <a:pPr indent="0" marL="0">
              <a:buNone/>
            </a:pPr>
            <a:r>
              <a:rPr lang="en-US" sz="1200" b="1" dirty="0">
                <a:solidFill>
                  <a:srgbClr val="0D1B2A"/>
                </a:solidFill>
                <a:latin typeface="Georgia" pitchFamily="34" charset="0"/>
                <a:ea typeface="Georgia" pitchFamily="34" charset="-122"/>
                <a:cs typeface="Georgia" pitchFamily="34" charset="-120"/>
              </a:rPr>
              <a:t>Fatality Rate by Victim Race</a:t>
            </a:r>
            <a:endParaRPr lang="en-US" sz="1200" dirty="0"/>
          </a:p>
        </p:txBody>
      </p:sp>
      <p:sp>
        <p:nvSpPr>
          <p:cNvPr id="41" name="Shape 39"/>
          <p:cNvSpPr/>
          <p:nvPr/>
        </p:nvSpPr>
        <p:spPr>
          <a:xfrm>
            <a:off x="7498080" y="3456432"/>
            <a:ext cx="2743200" cy="228600"/>
          </a:xfrm>
          <a:prstGeom prst="rect">
            <a:avLst/>
          </a:prstGeom>
          <a:solidFill>
            <a:srgbClr val="457B9D"/>
          </a:solidFill>
          <a:ln/>
        </p:spPr>
      </p:sp>
      <p:sp>
        <p:nvSpPr>
          <p:cNvPr id="42" name="Text 40"/>
          <p:cNvSpPr/>
          <p:nvPr/>
        </p:nvSpPr>
        <p:spPr>
          <a:xfrm>
            <a:off x="7498080" y="3474720"/>
            <a:ext cx="237744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Am. Indian/Alaskan</a:t>
            </a:r>
            <a:endParaRPr lang="en-US" sz="850" dirty="0"/>
          </a:p>
        </p:txBody>
      </p:sp>
      <p:sp>
        <p:nvSpPr>
          <p:cNvPr id="43" name="Text 41"/>
          <p:cNvSpPr/>
          <p:nvPr/>
        </p:nvSpPr>
        <p:spPr>
          <a:xfrm>
            <a:off x="10314432" y="3474720"/>
            <a:ext cx="548640" cy="20116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30%</a:t>
            </a:r>
            <a:endParaRPr lang="en-US" sz="900" dirty="0"/>
          </a:p>
        </p:txBody>
      </p:sp>
      <p:sp>
        <p:nvSpPr>
          <p:cNvPr id="44" name="Shape 42"/>
          <p:cNvSpPr/>
          <p:nvPr/>
        </p:nvSpPr>
        <p:spPr>
          <a:xfrm>
            <a:off x="7498080" y="3758184"/>
            <a:ext cx="2240280" cy="228600"/>
          </a:xfrm>
          <a:prstGeom prst="rect">
            <a:avLst/>
          </a:prstGeom>
          <a:solidFill>
            <a:srgbClr val="457B9D">
              <a:alpha val="92000"/>
            </a:srgbClr>
          </a:solidFill>
          <a:ln/>
        </p:spPr>
      </p:sp>
      <p:sp>
        <p:nvSpPr>
          <p:cNvPr id="45" name="Text 43"/>
          <p:cNvSpPr/>
          <p:nvPr/>
        </p:nvSpPr>
        <p:spPr>
          <a:xfrm>
            <a:off x="7498080" y="3776472"/>
            <a:ext cx="237744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Asian/Pac. Islander</a:t>
            </a:r>
            <a:endParaRPr lang="en-US" sz="850" dirty="0"/>
          </a:p>
        </p:txBody>
      </p:sp>
      <p:sp>
        <p:nvSpPr>
          <p:cNvPr id="46" name="Text 44"/>
          <p:cNvSpPr/>
          <p:nvPr/>
        </p:nvSpPr>
        <p:spPr>
          <a:xfrm>
            <a:off x="9811512" y="3776472"/>
            <a:ext cx="548640" cy="20116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24.5%</a:t>
            </a:r>
            <a:endParaRPr lang="en-US" sz="900" dirty="0"/>
          </a:p>
        </p:txBody>
      </p:sp>
      <p:sp>
        <p:nvSpPr>
          <p:cNvPr id="47" name="Shape 45"/>
          <p:cNvSpPr/>
          <p:nvPr/>
        </p:nvSpPr>
        <p:spPr>
          <a:xfrm>
            <a:off x="7498080" y="4059936"/>
            <a:ext cx="2121408" cy="228600"/>
          </a:xfrm>
          <a:prstGeom prst="rect">
            <a:avLst/>
          </a:prstGeom>
          <a:solidFill>
            <a:srgbClr val="457B9D">
              <a:alpha val="84000"/>
            </a:srgbClr>
          </a:solidFill>
          <a:ln/>
        </p:spPr>
      </p:sp>
      <p:sp>
        <p:nvSpPr>
          <p:cNvPr id="48" name="Text 46"/>
          <p:cNvSpPr/>
          <p:nvPr/>
        </p:nvSpPr>
        <p:spPr>
          <a:xfrm>
            <a:off x="7498080" y="4078224"/>
            <a:ext cx="237744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White</a:t>
            </a:r>
            <a:endParaRPr lang="en-US" sz="850" dirty="0"/>
          </a:p>
        </p:txBody>
      </p:sp>
      <p:sp>
        <p:nvSpPr>
          <p:cNvPr id="49" name="Text 47"/>
          <p:cNvSpPr/>
          <p:nvPr/>
        </p:nvSpPr>
        <p:spPr>
          <a:xfrm>
            <a:off x="9692640" y="4078224"/>
            <a:ext cx="548640" cy="20116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23.2%</a:t>
            </a:r>
            <a:endParaRPr lang="en-US" sz="900" dirty="0"/>
          </a:p>
        </p:txBody>
      </p:sp>
      <p:sp>
        <p:nvSpPr>
          <p:cNvPr id="50" name="Shape 48"/>
          <p:cNvSpPr/>
          <p:nvPr/>
        </p:nvSpPr>
        <p:spPr>
          <a:xfrm>
            <a:off x="7498080" y="4361688"/>
            <a:ext cx="1965960" cy="228600"/>
          </a:xfrm>
          <a:prstGeom prst="rect">
            <a:avLst/>
          </a:prstGeom>
          <a:solidFill>
            <a:srgbClr val="457B9D">
              <a:alpha val="76000"/>
            </a:srgbClr>
          </a:solidFill>
          <a:ln/>
        </p:spPr>
      </p:sp>
      <p:sp>
        <p:nvSpPr>
          <p:cNvPr id="51" name="Text 49"/>
          <p:cNvSpPr/>
          <p:nvPr/>
        </p:nvSpPr>
        <p:spPr>
          <a:xfrm>
            <a:off x="7498080" y="4379976"/>
            <a:ext cx="237744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White Hispanic</a:t>
            </a:r>
            <a:endParaRPr lang="en-US" sz="850" dirty="0"/>
          </a:p>
        </p:txBody>
      </p:sp>
      <p:sp>
        <p:nvSpPr>
          <p:cNvPr id="52" name="Text 50"/>
          <p:cNvSpPr/>
          <p:nvPr/>
        </p:nvSpPr>
        <p:spPr>
          <a:xfrm>
            <a:off x="9537192" y="4379976"/>
            <a:ext cx="548640" cy="20116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21.5%</a:t>
            </a:r>
            <a:endParaRPr lang="en-US" sz="900" dirty="0"/>
          </a:p>
        </p:txBody>
      </p:sp>
      <p:sp>
        <p:nvSpPr>
          <p:cNvPr id="53" name="Shape 51"/>
          <p:cNvSpPr/>
          <p:nvPr/>
        </p:nvSpPr>
        <p:spPr>
          <a:xfrm>
            <a:off x="7498080" y="4663440"/>
            <a:ext cx="1719072" cy="228600"/>
          </a:xfrm>
          <a:prstGeom prst="rect">
            <a:avLst/>
          </a:prstGeom>
          <a:solidFill>
            <a:srgbClr val="457B9D">
              <a:alpha val="68000"/>
            </a:srgbClr>
          </a:solidFill>
          <a:ln/>
        </p:spPr>
      </p:sp>
      <p:sp>
        <p:nvSpPr>
          <p:cNvPr id="54" name="Text 52"/>
          <p:cNvSpPr/>
          <p:nvPr/>
        </p:nvSpPr>
        <p:spPr>
          <a:xfrm>
            <a:off x="7498080" y="4681728"/>
            <a:ext cx="237744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Black</a:t>
            </a:r>
            <a:endParaRPr lang="en-US" sz="850" dirty="0"/>
          </a:p>
        </p:txBody>
      </p:sp>
      <p:sp>
        <p:nvSpPr>
          <p:cNvPr id="55" name="Text 53"/>
          <p:cNvSpPr/>
          <p:nvPr/>
        </p:nvSpPr>
        <p:spPr>
          <a:xfrm>
            <a:off x="9290304" y="4681728"/>
            <a:ext cx="548640" cy="20116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18.8%</a:t>
            </a:r>
            <a:endParaRPr lang="en-US" sz="900" dirty="0"/>
          </a:p>
        </p:txBody>
      </p:sp>
      <p:sp>
        <p:nvSpPr>
          <p:cNvPr id="56" name="Shape 54"/>
          <p:cNvSpPr/>
          <p:nvPr/>
        </p:nvSpPr>
        <p:spPr>
          <a:xfrm>
            <a:off x="7498080" y="4965192"/>
            <a:ext cx="1664208" cy="228600"/>
          </a:xfrm>
          <a:prstGeom prst="rect">
            <a:avLst/>
          </a:prstGeom>
          <a:solidFill>
            <a:srgbClr val="457B9D">
              <a:alpha val="60000"/>
            </a:srgbClr>
          </a:solidFill>
          <a:ln/>
        </p:spPr>
      </p:sp>
      <p:sp>
        <p:nvSpPr>
          <p:cNvPr id="57" name="Text 55"/>
          <p:cNvSpPr/>
          <p:nvPr/>
        </p:nvSpPr>
        <p:spPr>
          <a:xfrm>
            <a:off x="7498080" y="4983480"/>
            <a:ext cx="2377440" cy="20116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Black Hispanic</a:t>
            </a:r>
            <a:endParaRPr lang="en-US" sz="850" dirty="0"/>
          </a:p>
        </p:txBody>
      </p:sp>
      <p:sp>
        <p:nvSpPr>
          <p:cNvPr id="58" name="Text 56"/>
          <p:cNvSpPr/>
          <p:nvPr/>
        </p:nvSpPr>
        <p:spPr>
          <a:xfrm>
            <a:off x="9235440" y="4983480"/>
            <a:ext cx="548640" cy="201168"/>
          </a:xfrm>
          <a:prstGeom prst="rect">
            <a:avLst/>
          </a:prstGeom>
          <a:noFill/>
          <a:ln/>
        </p:spPr>
        <p:txBody>
          <a:bodyPr wrap="square" rtlCol="0" anchor="ctr"/>
          <a:lstStyle/>
          <a:p>
            <a:pPr indent="0" marL="0">
              <a:buNone/>
            </a:pPr>
            <a:r>
              <a:rPr lang="en-US" sz="900" b="1" dirty="0">
                <a:solidFill>
                  <a:srgbClr val="0D1B2A"/>
                </a:solidFill>
                <a:latin typeface="Calibri" pitchFamily="34" charset="0"/>
                <a:ea typeface="Calibri" pitchFamily="34" charset="-122"/>
                <a:cs typeface="Calibri" pitchFamily="34" charset="-120"/>
              </a:rPr>
              <a:t>18.2%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Feature Engineering &amp; Preprocessing Pipeline</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09</a:t>
            </a:r>
            <a:endParaRPr lang="en-US" sz="1200" dirty="0"/>
          </a:p>
        </p:txBody>
      </p:sp>
      <p:sp>
        <p:nvSpPr>
          <p:cNvPr id="6" name="Shape 4"/>
          <p:cNvSpPr/>
          <p:nvPr/>
        </p:nvSpPr>
        <p:spPr>
          <a:xfrm>
            <a:off x="320040" y="822960"/>
            <a:ext cx="37490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22960"/>
            <a:ext cx="3749040" cy="502920"/>
          </a:xfrm>
          <a:prstGeom prst="rect">
            <a:avLst/>
          </a:prstGeom>
          <a:solidFill>
            <a:srgbClr val="E63946"/>
          </a:solidFill>
          <a:ln/>
        </p:spPr>
      </p:sp>
      <p:sp>
        <p:nvSpPr>
          <p:cNvPr id="8" name="Text 6"/>
          <p:cNvSpPr/>
          <p:nvPr/>
        </p:nvSpPr>
        <p:spPr>
          <a:xfrm>
            <a:off x="411480" y="859536"/>
            <a:ext cx="164592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STEP 01</a:t>
            </a:r>
            <a:endParaRPr lang="en-US" sz="850" dirty="0"/>
          </a:p>
        </p:txBody>
      </p:sp>
      <p:sp>
        <p:nvSpPr>
          <p:cNvPr id="9" name="Text 7"/>
          <p:cNvSpPr/>
          <p:nvPr/>
        </p:nvSpPr>
        <p:spPr>
          <a:xfrm>
            <a:off x="411480" y="1069848"/>
            <a:ext cx="356616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Drop High-Missing Columns</a:t>
            </a:r>
            <a:endParaRPr lang="en-US" sz="1100" dirty="0"/>
          </a:p>
        </p:txBody>
      </p:sp>
      <p:sp>
        <p:nvSpPr>
          <p:cNvPr id="10" name="Text 8"/>
          <p:cNvSpPr/>
          <p:nvPr/>
        </p:nvSpPr>
        <p:spPr>
          <a:xfrm>
            <a:off x="429768" y="1417320"/>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LOC_OF_OCCUR_DESC (93.7% missing)</a:t>
            </a:r>
            <a:endParaRPr lang="en-US" sz="1000" dirty="0"/>
          </a:p>
        </p:txBody>
      </p:sp>
      <p:sp>
        <p:nvSpPr>
          <p:cNvPr id="11" name="Text 9"/>
          <p:cNvSpPr/>
          <p:nvPr/>
        </p:nvSpPr>
        <p:spPr>
          <a:xfrm>
            <a:off x="429768" y="1819656"/>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LOC_CLASSFCTN_DESC (93.7%)</a:t>
            </a:r>
            <a:endParaRPr lang="en-US" sz="1000" dirty="0"/>
          </a:p>
        </p:txBody>
      </p:sp>
      <p:sp>
        <p:nvSpPr>
          <p:cNvPr id="12" name="Text 10"/>
          <p:cNvSpPr/>
          <p:nvPr/>
        </p:nvSpPr>
        <p:spPr>
          <a:xfrm>
            <a:off x="429768" y="2221992"/>
            <a:ext cx="3520440" cy="347472"/>
          </a:xfrm>
          <a:prstGeom prst="rect">
            <a:avLst/>
          </a:prstGeom>
          <a:noFill/>
          <a:ln/>
        </p:spPr>
        <p:txBody>
          <a:bodyPr wrap="square" rtlCol="0" anchor="ctr"/>
          <a:lstStyle/>
          <a:p>
            <a:pPr indent="0" marL="0">
              <a:lnSpc>
                <a:spcPct val="120000"/>
              </a:lnSpc>
              <a:buNone/>
            </a:pPr>
            <a:r>
              <a:rPr lang="en-US" sz="1000" b="1" dirty="0">
                <a:solidFill>
                  <a:srgbClr val="E63946"/>
                </a:solidFill>
                <a:latin typeface="Calibri" pitchFamily="34" charset="0"/>
                <a:ea typeface="Calibri" pitchFamily="34" charset="-122"/>
                <a:cs typeface="Calibri" pitchFamily="34" charset="-120"/>
              </a:rPr>
              <a:t>• LOCATION_DESC (54.8%)</a:t>
            </a:r>
            <a:endParaRPr lang="en-US" sz="1000" dirty="0"/>
          </a:p>
        </p:txBody>
      </p:sp>
      <p:sp>
        <p:nvSpPr>
          <p:cNvPr id="13" name="Text 11"/>
          <p:cNvSpPr/>
          <p:nvPr/>
        </p:nvSpPr>
        <p:spPr>
          <a:xfrm>
            <a:off x="429768" y="2624328"/>
            <a:ext cx="3520440" cy="347472"/>
          </a:xfrm>
          <a:prstGeom prst="rect">
            <a:avLst/>
          </a:prstGeom>
          <a:noFill/>
          <a:ln/>
        </p:spPr>
        <p:txBody>
          <a:bodyPr wrap="square" rtlCol="0" anchor="ctr"/>
          <a:lstStyle/>
          <a:p>
            <a:pPr indent="0" marL="0">
              <a:lnSpc>
                <a:spcPct val="120000"/>
              </a:lnSpc>
              <a:buNone/>
            </a:pPr>
            <a:r>
              <a:rPr lang="en-US" sz="1000" b="1" dirty="0">
                <a:solidFill>
                  <a:srgbClr val="E63946"/>
                </a:solidFill>
                <a:latin typeface="Calibri" pitchFamily="34" charset="0"/>
                <a:ea typeface="Calibri" pitchFamily="34" charset="-122"/>
                <a:cs typeface="Calibri" pitchFamily="34" charset="-120"/>
              </a:rPr>
              <a:t>• INCIDENT_KEY (ID only — no signal)</a:t>
            </a:r>
            <a:endParaRPr lang="en-US" sz="1000" dirty="0"/>
          </a:p>
        </p:txBody>
      </p:sp>
      <p:sp>
        <p:nvSpPr>
          <p:cNvPr id="14" name="Shape 12"/>
          <p:cNvSpPr/>
          <p:nvPr/>
        </p:nvSpPr>
        <p:spPr>
          <a:xfrm>
            <a:off x="4197096" y="822960"/>
            <a:ext cx="37490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5" name="Shape 13"/>
          <p:cNvSpPr/>
          <p:nvPr/>
        </p:nvSpPr>
        <p:spPr>
          <a:xfrm>
            <a:off x="4197096" y="822960"/>
            <a:ext cx="3749040" cy="502920"/>
          </a:xfrm>
          <a:prstGeom prst="rect">
            <a:avLst/>
          </a:prstGeom>
          <a:solidFill>
            <a:srgbClr val="DD6B20"/>
          </a:solidFill>
          <a:ln/>
        </p:spPr>
      </p:sp>
      <p:sp>
        <p:nvSpPr>
          <p:cNvPr id="16" name="Text 14"/>
          <p:cNvSpPr/>
          <p:nvPr/>
        </p:nvSpPr>
        <p:spPr>
          <a:xfrm>
            <a:off x="4288536" y="859536"/>
            <a:ext cx="164592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STEP 02</a:t>
            </a:r>
            <a:endParaRPr lang="en-US" sz="850" dirty="0"/>
          </a:p>
        </p:txBody>
      </p:sp>
      <p:sp>
        <p:nvSpPr>
          <p:cNvPr id="17" name="Text 15"/>
          <p:cNvSpPr/>
          <p:nvPr/>
        </p:nvSpPr>
        <p:spPr>
          <a:xfrm>
            <a:off x="4288536" y="1069848"/>
            <a:ext cx="356616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Impute Perpetrator Unknowns</a:t>
            </a:r>
            <a:endParaRPr lang="en-US" sz="1100" dirty="0"/>
          </a:p>
        </p:txBody>
      </p:sp>
      <p:sp>
        <p:nvSpPr>
          <p:cNvPr id="18" name="Text 16"/>
          <p:cNvSpPr/>
          <p:nvPr/>
        </p:nvSpPr>
        <p:spPr>
          <a:xfrm>
            <a:off x="4306824" y="1417320"/>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PERP_AGE_GROUP → 'UNKNOWN'</a:t>
            </a:r>
            <a:endParaRPr lang="en-US" sz="1000" dirty="0"/>
          </a:p>
        </p:txBody>
      </p:sp>
      <p:sp>
        <p:nvSpPr>
          <p:cNvPr id="19" name="Text 17"/>
          <p:cNvSpPr/>
          <p:nvPr/>
        </p:nvSpPr>
        <p:spPr>
          <a:xfrm>
            <a:off x="4306824" y="1819656"/>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PERP_SEX → 'UNKNOWN'</a:t>
            </a:r>
            <a:endParaRPr lang="en-US" sz="1000" dirty="0"/>
          </a:p>
        </p:txBody>
      </p:sp>
      <p:sp>
        <p:nvSpPr>
          <p:cNvPr id="20" name="Text 18"/>
          <p:cNvSpPr/>
          <p:nvPr/>
        </p:nvSpPr>
        <p:spPr>
          <a:xfrm>
            <a:off x="4306824" y="2221992"/>
            <a:ext cx="3520440" cy="347472"/>
          </a:xfrm>
          <a:prstGeom prst="rect">
            <a:avLst/>
          </a:prstGeom>
          <a:noFill/>
          <a:ln/>
        </p:spPr>
        <p:txBody>
          <a:bodyPr wrap="square" rtlCol="0" anchor="ctr"/>
          <a:lstStyle/>
          <a:p>
            <a:pPr indent="0" marL="0">
              <a:lnSpc>
                <a:spcPct val="120000"/>
              </a:lnSpc>
              <a:buNone/>
            </a:pPr>
            <a:r>
              <a:rPr lang="en-US" sz="1000" b="1" dirty="0">
                <a:solidFill>
                  <a:srgbClr val="DD6B20"/>
                </a:solidFill>
                <a:latin typeface="Calibri" pitchFamily="34" charset="0"/>
                <a:ea typeface="Calibri" pitchFamily="34" charset="-122"/>
                <a:cs typeface="Calibri" pitchFamily="34" charset="-120"/>
              </a:rPr>
              <a:t>• PERP_RACE → 'UNKNOWN'</a:t>
            </a:r>
            <a:endParaRPr lang="en-US" sz="1000" dirty="0"/>
          </a:p>
        </p:txBody>
      </p:sp>
      <p:sp>
        <p:nvSpPr>
          <p:cNvPr id="21" name="Text 19"/>
          <p:cNvSpPr/>
          <p:nvPr/>
        </p:nvSpPr>
        <p:spPr>
          <a:xfrm>
            <a:off x="4306824" y="2624328"/>
            <a:ext cx="3520440" cy="347472"/>
          </a:xfrm>
          <a:prstGeom prst="rect">
            <a:avLst/>
          </a:prstGeom>
          <a:noFill/>
          <a:ln/>
        </p:spPr>
        <p:txBody>
          <a:bodyPr wrap="square" rtlCol="0" anchor="ctr"/>
          <a:lstStyle/>
          <a:p>
            <a:pPr indent="0" marL="0">
              <a:lnSpc>
                <a:spcPct val="120000"/>
              </a:lnSpc>
              <a:buNone/>
            </a:pPr>
            <a:r>
              <a:rPr lang="en-US" sz="1000" b="1" dirty="0">
                <a:solidFill>
                  <a:srgbClr val="DD6B20"/>
                </a:solidFill>
                <a:latin typeface="Calibri" pitchFamily="34" charset="0"/>
                <a:ea typeface="Calibri" pitchFamily="34" charset="-122"/>
                <a:cs typeface="Calibri" pitchFamily="34" charset="-120"/>
              </a:rPr>
              <a:t>• 'UNKNOWN' itself is meaningful!</a:t>
            </a:r>
            <a:endParaRPr lang="en-US" sz="1000" dirty="0"/>
          </a:p>
        </p:txBody>
      </p:sp>
      <p:sp>
        <p:nvSpPr>
          <p:cNvPr id="22" name="Shape 20"/>
          <p:cNvSpPr/>
          <p:nvPr/>
        </p:nvSpPr>
        <p:spPr>
          <a:xfrm>
            <a:off x="8074152" y="822960"/>
            <a:ext cx="37490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3" name="Shape 21"/>
          <p:cNvSpPr/>
          <p:nvPr/>
        </p:nvSpPr>
        <p:spPr>
          <a:xfrm>
            <a:off x="8074152" y="822960"/>
            <a:ext cx="3749040" cy="502920"/>
          </a:xfrm>
          <a:prstGeom prst="rect">
            <a:avLst/>
          </a:prstGeom>
          <a:solidFill>
            <a:srgbClr val="457B9D"/>
          </a:solidFill>
          <a:ln/>
        </p:spPr>
      </p:sp>
      <p:sp>
        <p:nvSpPr>
          <p:cNvPr id="24" name="Text 22"/>
          <p:cNvSpPr/>
          <p:nvPr/>
        </p:nvSpPr>
        <p:spPr>
          <a:xfrm>
            <a:off x="8165592" y="859536"/>
            <a:ext cx="164592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STEP 03</a:t>
            </a:r>
            <a:endParaRPr lang="en-US" sz="850" dirty="0"/>
          </a:p>
        </p:txBody>
      </p:sp>
      <p:sp>
        <p:nvSpPr>
          <p:cNvPr id="25" name="Text 23"/>
          <p:cNvSpPr/>
          <p:nvPr/>
        </p:nvSpPr>
        <p:spPr>
          <a:xfrm>
            <a:off x="8165592" y="1069848"/>
            <a:ext cx="356616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Engineer New Features</a:t>
            </a:r>
            <a:endParaRPr lang="en-US" sz="1100" dirty="0"/>
          </a:p>
        </p:txBody>
      </p:sp>
      <p:sp>
        <p:nvSpPr>
          <p:cNvPr id="26" name="Text 24"/>
          <p:cNvSpPr/>
          <p:nvPr/>
        </p:nvSpPr>
        <p:spPr>
          <a:xfrm>
            <a:off x="8183880" y="1417320"/>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HOUR → from OCCUR_TIME</a:t>
            </a:r>
            <a:endParaRPr lang="en-US" sz="1000" dirty="0"/>
          </a:p>
        </p:txBody>
      </p:sp>
      <p:sp>
        <p:nvSpPr>
          <p:cNvPr id="27" name="Text 25"/>
          <p:cNvSpPr/>
          <p:nvPr/>
        </p:nvSpPr>
        <p:spPr>
          <a:xfrm>
            <a:off x="8183880" y="1819656"/>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IS_NIGHT: 1 if 10PM–5AM else 0</a:t>
            </a:r>
            <a:endParaRPr lang="en-US" sz="1000" dirty="0"/>
          </a:p>
        </p:txBody>
      </p:sp>
      <p:sp>
        <p:nvSpPr>
          <p:cNvPr id="28" name="Text 26"/>
          <p:cNvSpPr/>
          <p:nvPr/>
        </p:nvSpPr>
        <p:spPr>
          <a:xfrm>
            <a:off x="8183880" y="2221992"/>
            <a:ext cx="3520440" cy="347472"/>
          </a:xfrm>
          <a:prstGeom prst="rect">
            <a:avLst/>
          </a:prstGeom>
          <a:noFill/>
          <a:ln/>
        </p:spPr>
        <p:txBody>
          <a:bodyPr wrap="square" rtlCol="0" anchor="ctr"/>
          <a:lstStyle/>
          <a:p>
            <a:pPr indent="0" marL="0">
              <a:lnSpc>
                <a:spcPct val="120000"/>
              </a:lnSpc>
              <a:buNone/>
            </a:pPr>
            <a:r>
              <a:rPr lang="en-US" sz="1000" b="1" dirty="0">
                <a:solidFill>
                  <a:srgbClr val="457B9D"/>
                </a:solidFill>
                <a:latin typeface="Calibri" pitchFamily="34" charset="0"/>
                <a:ea typeface="Calibri" pitchFamily="34" charset="-122"/>
                <a:cs typeface="Calibri" pitchFamily="34" charset="-120"/>
              </a:rPr>
              <a:t>• IS_WEEKEND: Sat/Sun → 1</a:t>
            </a:r>
            <a:endParaRPr lang="en-US" sz="1000" dirty="0"/>
          </a:p>
        </p:txBody>
      </p:sp>
      <p:sp>
        <p:nvSpPr>
          <p:cNvPr id="29" name="Text 27"/>
          <p:cNvSpPr/>
          <p:nvPr/>
        </p:nvSpPr>
        <p:spPr>
          <a:xfrm>
            <a:off x="8183880" y="2624328"/>
            <a:ext cx="3520440" cy="347472"/>
          </a:xfrm>
          <a:prstGeom prst="rect">
            <a:avLst/>
          </a:prstGeom>
          <a:noFill/>
          <a:ln/>
        </p:spPr>
        <p:txBody>
          <a:bodyPr wrap="square" rtlCol="0" anchor="ctr"/>
          <a:lstStyle/>
          <a:p>
            <a:pPr indent="0" marL="0">
              <a:lnSpc>
                <a:spcPct val="120000"/>
              </a:lnSpc>
              <a:buNone/>
            </a:pPr>
            <a:r>
              <a:rPr lang="en-US" sz="1000" b="1" dirty="0">
                <a:solidFill>
                  <a:srgbClr val="457B9D"/>
                </a:solidFill>
                <a:latin typeface="Calibri" pitchFamily="34" charset="0"/>
                <a:ea typeface="Calibri" pitchFamily="34" charset="-122"/>
                <a:cs typeface="Calibri" pitchFamily="34" charset="-120"/>
              </a:rPr>
              <a:t>• IS_NYPD_JURISDICTION: Code ≤ 2</a:t>
            </a:r>
            <a:endParaRPr lang="en-US" sz="1000" dirty="0"/>
          </a:p>
        </p:txBody>
      </p:sp>
      <p:sp>
        <p:nvSpPr>
          <p:cNvPr id="30" name="Shape 28"/>
          <p:cNvSpPr/>
          <p:nvPr/>
        </p:nvSpPr>
        <p:spPr>
          <a:xfrm>
            <a:off x="320040" y="3282696"/>
            <a:ext cx="37490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1" name="Shape 29"/>
          <p:cNvSpPr/>
          <p:nvPr/>
        </p:nvSpPr>
        <p:spPr>
          <a:xfrm>
            <a:off x="320040" y="3282696"/>
            <a:ext cx="3749040" cy="502920"/>
          </a:xfrm>
          <a:prstGeom prst="rect">
            <a:avLst/>
          </a:prstGeom>
          <a:solidFill>
            <a:srgbClr val="0D1B2A"/>
          </a:solidFill>
          <a:ln/>
        </p:spPr>
      </p:sp>
      <p:sp>
        <p:nvSpPr>
          <p:cNvPr id="32" name="Text 30"/>
          <p:cNvSpPr/>
          <p:nvPr/>
        </p:nvSpPr>
        <p:spPr>
          <a:xfrm>
            <a:off x="411480" y="3319272"/>
            <a:ext cx="164592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STEP 04</a:t>
            </a:r>
            <a:endParaRPr lang="en-US" sz="850" dirty="0"/>
          </a:p>
        </p:txBody>
      </p:sp>
      <p:sp>
        <p:nvSpPr>
          <p:cNvPr id="33" name="Text 31"/>
          <p:cNvSpPr/>
          <p:nvPr/>
        </p:nvSpPr>
        <p:spPr>
          <a:xfrm>
            <a:off x="411480" y="3529584"/>
            <a:ext cx="356616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Label Encoding</a:t>
            </a:r>
            <a:endParaRPr lang="en-US" sz="1100" dirty="0"/>
          </a:p>
        </p:txBody>
      </p:sp>
      <p:sp>
        <p:nvSpPr>
          <p:cNvPr id="34" name="Text 32"/>
          <p:cNvSpPr/>
          <p:nvPr/>
        </p:nvSpPr>
        <p:spPr>
          <a:xfrm>
            <a:off x="429768" y="3877056"/>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BORO → 0–4</a:t>
            </a:r>
            <a:endParaRPr lang="en-US" sz="1000" dirty="0"/>
          </a:p>
        </p:txBody>
      </p:sp>
      <p:sp>
        <p:nvSpPr>
          <p:cNvPr id="35" name="Text 33"/>
          <p:cNvSpPr/>
          <p:nvPr/>
        </p:nvSpPr>
        <p:spPr>
          <a:xfrm>
            <a:off x="429768" y="4279392"/>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VIC_RACE → 0–6</a:t>
            </a:r>
            <a:endParaRPr lang="en-US" sz="1000" dirty="0"/>
          </a:p>
        </p:txBody>
      </p:sp>
      <p:sp>
        <p:nvSpPr>
          <p:cNvPr id="36" name="Text 34"/>
          <p:cNvSpPr/>
          <p:nvPr/>
        </p:nvSpPr>
        <p:spPr>
          <a:xfrm>
            <a:off x="429768" y="4681728"/>
            <a:ext cx="3520440" cy="347472"/>
          </a:xfrm>
          <a:prstGeom prst="rect">
            <a:avLst/>
          </a:prstGeom>
          <a:noFill/>
          <a:ln/>
        </p:spPr>
        <p:txBody>
          <a:bodyPr wrap="square" rtlCol="0" anchor="ctr"/>
          <a:lstStyle/>
          <a:p>
            <a:pPr indent="0" marL="0">
              <a:lnSpc>
                <a:spcPct val="120000"/>
              </a:lnSpc>
              <a:buNone/>
            </a:pPr>
            <a:r>
              <a:rPr lang="en-US" sz="1000" b="1" dirty="0">
                <a:solidFill>
                  <a:srgbClr val="0D1B2A"/>
                </a:solidFill>
                <a:latin typeface="Calibri" pitchFamily="34" charset="0"/>
                <a:ea typeface="Calibri" pitchFamily="34" charset="-122"/>
                <a:cs typeface="Calibri" pitchFamily="34" charset="-120"/>
              </a:rPr>
              <a:t>• PERP_AGE_GROUP → 0–5</a:t>
            </a:r>
            <a:endParaRPr lang="en-US" sz="1000" dirty="0"/>
          </a:p>
        </p:txBody>
      </p:sp>
      <p:sp>
        <p:nvSpPr>
          <p:cNvPr id="37" name="Text 35"/>
          <p:cNvSpPr/>
          <p:nvPr/>
        </p:nvSpPr>
        <p:spPr>
          <a:xfrm>
            <a:off x="429768" y="5084064"/>
            <a:ext cx="3520440" cy="347472"/>
          </a:xfrm>
          <a:prstGeom prst="rect">
            <a:avLst/>
          </a:prstGeom>
          <a:noFill/>
          <a:ln/>
        </p:spPr>
        <p:txBody>
          <a:bodyPr wrap="square" rtlCol="0" anchor="ctr"/>
          <a:lstStyle/>
          <a:p>
            <a:pPr indent="0" marL="0">
              <a:lnSpc>
                <a:spcPct val="120000"/>
              </a:lnSpc>
              <a:buNone/>
            </a:pPr>
            <a:r>
              <a:rPr lang="en-US" sz="1000" b="1" dirty="0">
                <a:solidFill>
                  <a:srgbClr val="0D1B2A"/>
                </a:solidFill>
                <a:latin typeface="Calibri" pitchFamily="34" charset="0"/>
                <a:ea typeface="Calibri" pitchFamily="34" charset="-122"/>
                <a:cs typeface="Calibri" pitchFamily="34" charset="-120"/>
              </a:rPr>
              <a:t>• All 7 categorical cols encoded</a:t>
            </a:r>
            <a:endParaRPr lang="en-US" sz="1000" dirty="0"/>
          </a:p>
        </p:txBody>
      </p:sp>
      <p:sp>
        <p:nvSpPr>
          <p:cNvPr id="38" name="Shape 36"/>
          <p:cNvSpPr/>
          <p:nvPr/>
        </p:nvSpPr>
        <p:spPr>
          <a:xfrm>
            <a:off x="4197096" y="3282696"/>
            <a:ext cx="37490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9" name="Shape 37"/>
          <p:cNvSpPr/>
          <p:nvPr/>
        </p:nvSpPr>
        <p:spPr>
          <a:xfrm>
            <a:off x="4197096" y="3282696"/>
            <a:ext cx="3749040" cy="502920"/>
          </a:xfrm>
          <a:prstGeom prst="rect">
            <a:avLst/>
          </a:prstGeom>
          <a:solidFill>
            <a:srgbClr val="457B9D"/>
          </a:solidFill>
          <a:ln/>
        </p:spPr>
      </p:sp>
      <p:sp>
        <p:nvSpPr>
          <p:cNvPr id="40" name="Text 38"/>
          <p:cNvSpPr/>
          <p:nvPr/>
        </p:nvSpPr>
        <p:spPr>
          <a:xfrm>
            <a:off x="4288536" y="3319272"/>
            <a:ext cx="164592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STEP 05</a:t>
            </a:r>
            <a:endParaRPr lang="en-US" sz="850" dirty="0"/>
          </a:p>
        </p:txBody>
      </p:sp>
      <p:sp>
        <p:nvSpPr>
          <p:cNvPr id="41" name="Text 39"/>
          <p:cNvSpPr/>
          <p:nvPr/>
        </p:nvSpPr>
        <p:spPr>
          <a:xfrm>
            <a:off x="4288536" y="3529584"/>
            <a:ext cx="356616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StandardScaler</a:t>
            </a:r>
            <a:endParaRPr lang="en-US" sz="1100" dirty="0"/>
          </a:p>
        </p:txBody>
      </p:sp>
      <p:sp>
        <p:nvSpPr>
          <p:cNvPr id="42" name="Text 40"/>
          <p:cNvSpPr/>
          <p:nvPr/>
        </p:nvSpPr>
        <p:spPr>
          <a:xfrm>
            <a:off x="4306824" y="3877056"/>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Fit on train data ONLY</a:t>
            </a:r>
            <a:endParaRPr lang="en-US" sz="1000" dirty="0"/>
          </a:p>
        </p:txBody>
      </p:sp>
      <p:sp>
        <p:nvSpPr>
          <p:cNvPr id="43" name="Text 41"/>
          <p:cNvSpPr/>
          <p:nvPr/>
        </p:nvSpPr>
        <p:spPr>
          <a:xfrm>
            <a:off x="4306824" y="4279392"/>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Transform both train &amp; test</a:t>
            </a:r>
            <a:endParaRPr lang="en-US" sz="1000" dirty="0"/>
          </a:p>
        </p:txBody>
      </p:sp>
      <p:sp>
        <p:nvSpPr>
          <p:cNvPr id="44" name="Text 42"/>
          <p:cNvSpPr/>
          <p:nvPr/>
        </p:nvSpPr>
        <p:spPr>
          <a:xfrm>
            <a:off x="4306824" y="4681728"/>
            <a:ext cx="3520440" cy="347472"/>
          </a:xfrm>
          <a:prstGeom prst="rect">
            <a:avLst/>
          </a:prstGeom>
          <a:noFill/>
          <a:ln/>
        </p:spPr>
        <p:txBody>
          <a:bodyPr wrap="square" rtlCol="0" anchor="ctr"/>
          <a:lstStyle/>
          <a:p>
            <a:pPr indent="0" marL="0">
              <a:lnSpc>
                <a:spcPct val="120000"/>
              </a:lnSpc>
              <a:buNone/>
            </a:pPr>
            <a:r>
              <a:rPr lang="en-US" sz="1000" b="1" dirty="0">
                <a:solidFill>
                  <a:srgbClr val="457B9D"/>
                </a:solidFill>
                <a:latin typeface="Calibri" pitchFamily="34" charset="0"/>
                <a:ea typeface="Calibri" pitchFamily="34" charset="-122"/>
                <a:cs typeface="Calibri" pitchFamily="34" charset="-120"/>
              </a:rPr>
              <a:t>• Zero mean, unit variance</a:t>
            </a:r>
            <a:endParaRPr lang="en-US" sz="1000" dirty="0"/>
          </a:p>
        </p:txBody>
      </p:sp>
      <p:sp>
        <p:nvSpPr>
          <p:cNvPr id="45" name="Text 43"/>
          <p:cNvSpPr/>
          <p:nvPr/>
        </p:nvSpPr>
        <p:spPr>
          <a:xfrm>
            <a:off x="4306824" y="5084064"/>
            <a:ext cx="3520440" cy="347472"/>
          </a:xfrm>
          <a:prstGeom prst="rect">
            <a:avLst/>
          </a:prstGeom>
          <a:noFill/>
          <a:ln/>
        </p:spPr>
        <p:txBody>
          <a:bodyPr wrap="square" rtlCol="0" anchor="ctr"/>
          <a:lstStyle/>
          <a:p>
            <a:pPr indent="0" marL="0">
              <a:lnSpc>
                <a:spcPct val="120000"/>
              </a:lnSpc>
              <a:buNone/>
            </a:pPr>
            <a:r>
              <a:rPr lang="en-US" sz="1000" b="1" dirty="0">
                <a:solidFill>
                  <a:srgbClr val="457B9D"/>
                </a:solidFill>
                <a:latin typeface="Calibri" pitchFamily="34" charset="0"/>
                <a:ea typeface="Calibri" pitchFamily="34" charset="-122"/>
                <a:cs typeface="Calibri" pitchFamily="34" charset="-120"/>
              </a:rPr>
              <a:t>• Critical for LR &amp; SVM models</a:t>
            </a:r>
            <a:endParaRPr lang="en-US" sz="1000" dirty="0"/>
          </a:p>
        </p:txBody>
      </p:sp>
      <p:sp>
        <p:nvSpPr>
          <p:cNvPr id="46" name="Shape 44"/>
          <p:cNvSpPr/>
          <p:nvPr/>
        </p:nvSpPr>
        <p:spPr>
          <a:xfrm>
            <a:off x="8074152" y="3282696"/>
            <a:ext cx="3749040" cy="23317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47" name="Shape 45"/>
          <p:cNvSpPr/>
          <p:nvPr/>
        </p:nvSpPr>
        <p:spPr>
          <a:xfrm>
            <a:off x="8074152" y="3282696"/>
            <a:ext cx="3749040" cy="502920"/>
          </a:xfrm>
          <a:prstGeom prst="rect">
            <a:avLst/>
          </a:prstGeom>
          <a:solidFill>
            <a:srgbClr val="38A169"/>
          </a:solidFill>
          <a:ln/>
        </p:spPr>
      </p:sp>
      <p:sp>
        <p:nvSpPr>
          <p:cNvPr id="48" name="Text 46"/>
          <p:cNvSpPr/>
          <p:nvPr/>
        </p:nvSpPr>
        <p:spPr>
          <a:xfrm>
            <a:off x="8165592" y="3319272"/>
            <a:ext cx="1645920" cy="21945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STEP 06</a:t>
            </a:r>
            <a:endParaRPr lang="en-US" sz="850" dirty="0"/>
          </a:p>
        </p:txBody>
      </p:sp>
      <p:sp>
        <p:nvSpPr>
          <p:cNvPr id="49" name="Text 47"/>
          <p:cNvSpPr/>
          <p:nvPr/>
        </p:nvSpPr>
        <p:spPr>
          <a:xfrm>
            <a:off x="8165592" y="3529584"/>
            <a:ext cx="356616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SMOTE Balancing</a:t>
            </a:r>
            <a:endParaRPr lang="en-US" sz="1100" dirty="0"/>
          </a:p>
        </p:txBody>
      </p:sp>
      <p:sp>
        <p:nvSpPr>
          <p:cNvPr id="50" name="Text 48"/>
          <p:cNvSpPr/>
          <p:nvPr/>
        </p:nvSpPr>
        <p:spPr>
          <a:xfrm>
            <a:off x="8183880" y="3877056"/>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Before: 21,848 samples (19.3%)</a:t>
            </a:r>
            <a:endParaRPr lang="en-US" sz="1000" dirty="0"/>
          </a:p>
        </p:txBody>
      </p:sp>
      <p:sp>
        <p:nvSpPr>
          <p:cNvPr id="51" name="Text 49"/>
          <p:cNvSpPr/>
          <p:nvPr/>
        </p:nvSpPr>
        <p:spPr>
          <a:xfrm>
            <a:off x="8183880" y="4279392"/>
            <a:ext cx="3520440" cy="347472"/>
          </a:xfrm>
          <a:prstGeom prst="rect">
            <a:avLst/>
          </a:prstGeom>
          <a:noFill/>
          <a:ln/>
        </p:spPr>
        <p:txBody>
          <a:bodyPr wrap="square" rtlCol="0" anchor="ctr"/>
          <a:lstStyle/>
          <a:p>
            <a:pPr indent="0" marL="0">
              <a:lnSpc>
                <a:spcPct val="120000"/>
              </a:lnSpc>
              <a:buNone/>
            </a:pPr>
            <a:r>
              <a:rPr lang="en-US" sz="1000" dirty="0">
                <a:solidFill>
                  <a:srgbClr val="334155"/>
                </a:solidFill>
                <a:latin typeface="Calibri" pitchFamily="34" charset="0"/>
                <a:ea typeface="Calibri" pitchFamily="34" charset="-122"/>
                <a:cs typeface="Calibri" pitchFamily="34" charset="-120"/>
              </a:rPr>
              <a:t>• After: 35,270 samples (50/50)</a:t>
            </a:r>
            <a:endParaRPr lang="en-US" sz="1000" dirty="0"/>
          </a:p>
        </p:txBody>
      </p:sp>
      <p:sp>
        <p:nvSpPr>
          <p:cNvPr id="52" name="Text 50"/>
          <p:cNvSpPr/>
          <p:nvPr/>
        </p:nvSpPr>
        <p:spPr>
          <a:xfrm>
            <a:off x="8183880" y="4681728"/>
            <a:ext cx="3520440" cy="347472"/>
          </a:xfrm>
          <a:prstGeom prst="rect">
            <a:avLst/>
          </a:prstGeom>
          <a:noFill/>
          <a:ln/>
        </p:spPr>
        <p:txBody>
          <a:bodyPr wrap="square" rtlCol="0" anchor="ctr"/>
          <a:lstStyle/>
          <a:p>
            <a:pPr indent="0" marL="0">
              <a:lnSpc>
                <a:spcPct val="120000"/>
              </a:lnSpc>
              <a:buNone/>
            </a:pPr>
            <a:r>
              <a:rPr lang="en-US" sz="1000" b="1" dirty="0">
                <a:solidFill>
                  <a:srgbClr val="38A169"/>
                </a:solidFill>
                <a:latin typeface="Calibri" pitchFamily="34" charset="0"/>
                <a:ea typeface="Calibri" pitchFamily="34" charset="-122"/>
                <a:cs typeface="Calibri" pitchFamily="34" charset="-120"/>
              </a:rPr>
              <a:t>• Applied to TRAIN only!</a:t>
            </a:r>
            <a:endParaRPr lang="en-US" sz="1000" dirty="0"/>
          </a:p>
        </p:txBody>
      </p:sp>
      <p:sp>
        <p:nvSpPr>
          <p:cNvPr id="53" name="Text 51"/>
          <p:cNvSpPr/>
          <p:nvPr/>
        </p:nvSpPr>
        <p:spPr>
          <a:xfrm>
            <a:off x="8183880" y="5084064"/>
            <a:ext cx="3520440" cy="347472"/>
          </a:xfrm>
          <a:prstGeom prst="rect">
            <a:avLst/>
          </a:prstGeom>
          <a:noFill/>
          <a:ln/>
        </p:spPr>
        <p:txBody>
          <a:bodyPr wrap="square" rtlCol="0" anchor="ctr"/>
          <a:lstStyle/>
          <a:p>
            <a:pPr indent="0" marL="0">
              <a:lnSpc>
                <a:spcPct val="120000"/>
              </a:lnSpc>
              <a:buNone/>
            </a:pPr>
            <a:r>
              <a:rPr lang="en-US" sz="1000" b="1" dirty="0">
                <a:solidFill>
                  <a:srgbClr val="38A169"/>
                </a:solidFill>
                <a:latin typeface="Calibri" pitchFamily="34" charset="0"/>
                <a:ea typeface="Calibri" pitchFamily="34" charset="-122"/>
                <a:cs typeface="Calibri" pitchFamily="34" charset="-120"/>
              </a:rPr>
              <a:t>• Test set stays imbalanced</a:t>
            </a:r>
            <a:endParaRPr lang="en-US" sz="1000" dirty="0"/>
          </a:p>
        </p:txBody>
      </p:sp>
      <p:sp>
        <p:nvSpPr>
          <p:cNvPr id="54" name="Shape 52"/>
          <p:cNvSpPr/>
          <p:nvPr/>
        </p:nvSpPr>
        <p:spPr>
          <a:xfrm>
            <a:off x="320040" y="5715000"/>
            <a:ext cx="11521440" cy="841248"/>
          </a:xfrm>
          <a:prstGeom prst="rect">
            <a:avLst/>
          </a:prstGeom>
          <a:solidFill>
            <a:srgbClr val="0D1B2A"/>
          </a:solidFill>
          <a:ln/>
        </p:spPr>
      </p:sp>
      <p:sp>
        <p:nvSpPr>
          <p:cNvPr id="55" name="Text 53"/>
          <p:cNvSpPr/>
          <p:nvPr/>
        </p:nvSpPr>
        <p:spPr>
          <a:xfrm>
            <a:off x="457200" y="5751576"/>
            <a:ext cx="11155680" cy="768096"/>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  FINAL DATASET: 27,311 rows × 17 features — ZERO null values — Ready for model training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Model Selection — 5 Classifiers Compared</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10</a:t>
            </a:r>
            <a:endParaRPr lang="en-US" sz="1200" dirty="0"/>
          </a:p>
        </p:txBody>
      </p:sp>
      <p:sp>
        <p:nvSpPr>
          <p:cNvPr id="6" name="Shape 4"/>
          <p:cNvSpPr/>
          <p:nvPr/>
        </p:nvSpPr>
        <p:spPr>
          <a:xfrm>
            <a:off x="320040" y="822960"/>
            <a:ext cx="2212848" cy="47091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22960"/>
            <a:ext cx="2212848" cy="1005840"/>
          </a:xfrm>
          <a:prstGeom prst="rect">
            <a:avLst/>
          </a:prstGeom>
          <a:solidFill>
            <a:srgbClr val="8B949E"/>
          </a:solidFill>
          <a:ln/>
        </p:spPr>
      </p:sp>
      <p:sp>
        <p:nvSpPr>
          <p:cNvPr id="8" name="Text 6"/>
          <p:cNvSpPr/>
          <p:nvPr/>
        </p:nvSpPr>
        <p:spPr>
          <a:xfrm>
            <a:off x="320040" y="868680"/>
            <a:ext cx="2212848"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365760" y="1371600"/>
            <a:ext cx="212140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Logistic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Regression</a:t>
            </a:r>
            <a:endParaRPr lang="en-US" sz="1100" dirty="0"/>
          </a:p>
        </p:txBody>
      </p:sp>
      <p:sp>
        <p:nvSpPr>
          <p:cNvPr id="10" name="Text 8"/>
          <p:cNvSpPr/>
          <p:nvPr/>
        </p:nvSpPr>
        <p:spPr>
          <a:xfrm>
            <a:off x="411480" y="1920240"/>
            <a:ext cx="2029968" cy="2286000"/>
          </a:xfrm>
          <a:prstGeom prst="rect">
            <a:avLst/>
          </a:prstGeom>
          <a:noFill/>
          <a:ln/>
        </p:spPr>
        <p:txBody>
          <a:bodyPr wrap="square" rtlCol="0" anchor="ctr"/>
          <a:lstStyle/>
          <a:p>
            <a:pPr indent="0" marL="0">
              <a:lnSpc>
                <a:spcPct val="135000"/>
              </a:lnSpc>
              <a:buNone/>
            </a:pPr>
            <a:r>
              <a:rPr lang="en-US" sz="950" dirty="0">
                <a:solidFill>
                  <a:srgbClr val="334155"/>
                </a:solidFill>
                <a:latin typeface="Calibri" pitchFamily="34" charset="0"/>
                <a:ea typeface="Calibri" pitchFamily="34" charset="-122"/>
                <a:cs typeface="Calibri" pitchFamily="34" charset="-120"/>
              </a:rPr>
              <a:t>Linear baseline model using log-odds. Interpretable coefficients. Underperforms on complex non-linear crime data patterns.</a:t>
            </a:r>
            <a:endParaRPr lang="en-US" sz="950" dirty="0"/>
          </a:p>
        </p:txBody>
      </p:sp>
      <p:sp>
        <p:nvSpPr>
          <p:cNvPr id="11" name="Shape 9"/>
          <p:cNvSpPr/>
          <p:nvPr/>
        </p:nvSpPr>
        <p:spPr>
          <a:xfrm>
            <a:off x="411480" y="4297680"/>
            <a:ext cx="2029968" cy="54864"/>
          </a:xfrm>
          <a:prstGeom prst="rect">
            <a:avLst/>
          </a:prstGeom>
          <a:solidFill>
            <a:srgbClr val="8B949E">
              <a:alpha val="50000"/>
            </a:srgbClr>
          </a:solidFill>
          <a:ln/>
        </p:spPr>
      </p:sp>
      <p:sp>
        <p:nvSpPr>
          <p:cNvPr id="12" name="Text 10"/>
          <p:cNvSpPr/>
          <p:nvPr/>
        </p:nvSpPr>
        <p:spPr>
          <a:xfrm>
            <a:off x="411480" y="4407408"/>
            <a:ext cx="2029968" cy="594360"/>
          </a:xfrm>
          <a:prstGeom prst="rect">
            <a:avLst/>
          </a:prstGeom>
          <a:noFill/>
          <a:ln/>
        </p:spPr>
        <p:txBody>
          <a:bodyPr wrap="square" rtlCol="0" anchor="ctr"/>
          <a:lstStyle/>
          <a:p>
            <a:pPr indent="0" marL="0">
              <a:lnSpc>
                <a:spcPct val="130000"/>
              </a:lnSpc>
              <a:buNone/>
            </a:pPr>
            <a:r>
              <a:rPr lang="en-US" sz="900" b="1" dirty="0">
                <a:solidFill>
                  <a:srgbClr val="8B949E"/>
                </a:solidFill>
                <a:latin typeface="Calibri" pitchFamily="34" charset="0"/>
                <a:ea typeface="Calibri" pitchFamily="34" charset="-122"/>
                <a:cs typeface="Calibri" pitchFamily="34" charset="-120"/>
              </a:rPr>
              <a:t>✔ Simple · Fast · Interpretable</a:t>
            </a:r>
            <a:endParaRPr lang="en-US" sz="900" dirty="0"/>
          </a:p>
        </p:txBody>
      </p:sp>
      <p:sp>
        <p:nvSpPr>
          <p:cNvPr id="13" name="Shape 11"/>
          <p:cNvSpPr/>
          <p:nvPr/>
        </p:nvSpPr>
        <p:spPr>
          <a:xfrm>
            <a:off x="2660904" y="822960"/>
            <a:ext cx="2212848" cy="47091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4" name="Shape 12"/>
          <p:cNvSpPr/>
          <p:nvPr/>
        </p:nvSpPr>
        <p:spPr>
          <a:xfrm>
            <a:off x="2660904" y="822960"/>
            <a:ext cx="2212848" cy="1005840"/>
          </a:xfrm>
          <a:prstGeom prst="rect">
            <a:avLst/>
          </a:prstGeom>
          <a:solidFill>
            <a:srgbClr val="38A169"/>
          </a:solidFill>
          <a:ln/>
        </p:spPr>
      </p:sp>
      <p:sp>
        <p:nvSpPr>
          <p:cNvPr id="15" name="Text 13"/>
          <p:cNvSpPr/>
          <p:nvPr/>
        </p:nvSpPr>
        <p:spPr>
          <a:xfrm>
            <a:off x="2660904" y="868680"/>
            <a:ext cx="2212848"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2706624" y="1371600"/>
            <a:ext cx="212140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Tree</a:t>
            </a:r>
            <a:endParaRPr lang="en-US" sz="1100" dirty="0"/>
          </a:p>
        </p:txBody>
      </p:sp>
      <p:sp>
        <p:nvSpPr>
          <p:cNvPr id="17" name="Text 15"/>
          <p:cNvSpPr/>
          <p:nvPr/>
        </p:nvSpPr>
        <p:spPr>
          <a:xfrm>
            <a:off x="2752344" y="1920240"/>
            <a:ext cx="2029968" cy="2286000"/>
          </a:xfrm>
          <a:prstGeom prst="rect">
            <a:avLst/>
          </a:prstGeom>
          <a:noFill/>
          <a:ln/>
        </p:spPr>
        <p:txBody>
          <a:bodyPr wrap="square" rtlCol="0" anchor="ctr"/>
          <a:lstStyle/>
          <a:p>
            <a:pPr indent="0" marL="0">
              <a:lnSpc>
                <a:spcPct val="135000"/>
              </a:lnSpc>
              <a:buNone/>
            </a:pPr>
            <a:r>
              <a:rPr lang="en-US" sz="950" dirty="0">
                <a:solidFill>
                  <a:srgbClr val="334155"/>
                </a:solidFill>
                <a:latin typeface="Calibri" pitchFamily="34" charset="0"/>
                <a:ea typeface="Calibri" pitchFamily="34" charset="-122"/>
                <a:cs typeface="Calibri" pitchFamily="34" charset="-120"/>
              </a:rPr>
              <a:t>If-then rules on feature splits up to depth 10. Fully interpretable structure. Prone to overfitting without pruning.</a:t>
            </a:r>
            <a:endParaRPr lang="en-US" sz="950" dirty="0"/>
          </a:p>
        </p:txBody>
      </p:sp>
      <p:sp>
        <p:nvSpPr>
          <p:cNvPr id="18" name="Shape 16"/>
          <p:cNvSpPr/>
          <p:nvPr/>
        </p:nvSpPr>
        <p:spPr>
          <a:xfrm>
            <a:off x="2752344" y="4297680"/>
            <a:ext cx="2029968" cy="54864"/>
          </a:xfrm>
          <a:prstGeom prst="rect">
            <a:avLst/>
          </a:prstGeom>
          <a:solidFill>
            <a:srgbClr val="38A169">
              <a:alpha val="50000"/>
            </a:srgbClr>
          </a:solidFill>
          <a:ln/>
        </p:spPr>
      </p:sp>
      <p:sp>
        <p:nvSpPr>
          <p:cNvPr id="19" name="Text 17"/>
          <p:cNvSpPr/>
          <p:nvPr/>
        </p:nvSpPr>
        <p:spPr>
          <a:xfrm>
            <a:off x="2752344" y="4407408"/>
            <a:ext cx="2029968" cy="594360"/>
          </a:xfrm>
          <a:prstGeom prst="rect">
            <a:avLst/>
          </a:prstGeom>
          <a:noFill/>
          <a:ln/>
        </p:spPr>
        <p:txBody>
          <a:bodyPr wrap="square" rtlCol="0" anchor="ctr"/>
          <a:lstStyle/>
          <a:p>
            <a:pPr indent="0" marL="0">
              <a:lnSpc>
                <a:spcPct val="130000"/>
              </a:lnSpc>
              <a:buNone/>
            </a:pPr>
            <a:r>
              <a:rPr lang="en-US" sz="900" b="1" dirty="0">
                <a:solidFill>
                  <a:srgbClr val="38A169"/>
                </a:solidFill>
                <a:latin typeface="Calibri" pitchFamily="34" charset="0"/>
                <a:ea typeface="Calibri" pitchFamily="34" charset="-122"/>
                <a:cs typeface="Calibri" pitchFamily="34" charset="-120"/>
              </a:rPr>
              <a:t>✔ Explainable · Non-linear</a:t>
            </a:r>
            <a:endParaRPr lang="en-US" sz="900" dirty="0"/>
          </a:p>
        </p:txBody>
      </p:sp>
      <p:sp>
        <p:nvSpPr>
          <p:cNvPr id="20" name="Shape 18"/>
          <p:cNvSpPr/>
          <p:nvPr/>
        </p:nvSpPr>
        <p:spPr>
          <a:xfrm>
            <a:off x="5001768" y="822960"/>
            <a:ext cx="2212848" cy="47091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1" name="Shape 19"/>
          <p:cNvSpPr/>
          <p:nvPr/>
        </p:nvSpPr>
        <p:spPr>
          <a:xfrm>
            <a:off x="5001768" y="822960"/>
            <a:ext cx="2212848" cy="1005840"/>
          </a:xfrm>
          <a:prstGeom prst="rect">
            <a:avLst/>
          </a:prstGeom>
          <a:solidFill>
            <a:srgbClr val="457B9D"/>
          </a:solidFill>
          <a:ln/>
        </p:spPr>
      </p:sp>
      <p:sp>
        <p:nvSpPr>
          <p:cNvPr id="22" name="Text 20"/>
          <p:cNvSpPr/>
          <p:nvPr/>
        </p:nvSpPr>
        <p:spPr>
          <a:xfrm>
            <a:off x="5001768" y="868680"/>
            <a:ext cx="2212848"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3" name="Text 21"/>
          <p:cNvSpPr/>
          <p:nvPr/>
        </p:nvSpPr>
        <p:spPr>
          <a:xfrm>
            <a:off x="5047488" y="1371600"/>
            <a:ext cx="212140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Random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Forest</a:t>
            </a:r>
            <a:endParaRPr lang="en-US" sz="1100" dirty="0"/>
          </a:p>
        </p:txBody>
      </p:sp>
      <p:sp>
        <p:nvSpPr>
          <p:cNvPr id="24" name="Text 22"/>
          <p:cNvSpPr/>
          <p:nvPr/>
        </p:nvSpPr>
        <p:spPr>
          <a:xfrm>
            <a:off x="5093208" y="1920240"/>
            <a:ext cx="2029968" cy="2286000"/>
          </a:xfrm>
          <a:prstGeom prst="rect">
            <a:avLst/>
          </a:prstGeom>
          <a:noFill/>
          <a:ln/>
        </p:spPr>
        <p:txBody>
          <a:bodyPr wrap="square" rtlCol="0" anchor="ctr"/>
          <a:lstStyle/>
          <a:p>
            <a:pPr indent="0" marL="0">
              <a:lnSpc>
                <a:spcPct val="135000"/>
              </a:lnSpc>
              <a:buNone/>
            </a:pPr>
            <a:r>
              <a:rPr lang="en-US" sz="950" dirty="0">
                <a:solidFill>
                  <a:srgbClr val="334155"/>
                </a:solidFill>
                <a:latin typeface="Calibri" pitchFamily="34" charset="0"/>
                <a:ea typeface="Calibri" pitchFamily="34" charset="-122"/>
                <a:cs typeface="Calibri" pitchFamily="34" charset="-120"/>
              </a:rPr>
              <a:t>100 trees on random data subsets. Averaging reduces variance. Handles UNKNOWN perpetrator labels naturally.</a:t>
            </a:r>
            <a:endParaRPr lang="en-US" sz="950" dirty="0"/>
          </a:p>
        </p:txBody>
      </p:sp>
      <p:sp>
        <p:nvSpPr>
          <p:cNvPr id="25" name="Shape 23"/>
          <p:cNvSpPr/>
          <p:nvPr/>
        </p:nvSpPr>
        <p:spPr>
          <a:xfrm>
            <a:off x="5093208" y="4297680"/>
            <a:ext cx="2029968" cy="54864"/>
          </a:xfrm>
          <a:prstGeom prst="rect">
            <a:avLst/>
          </a:prstGeom>
          <a:solidFill>
            <a:srgbClr val="457B9D">
              <a:alpha val="50000"/>
            </a:srgbClr>
          </a:solidFill>
          <a:ln/>
        </p:spPr>
      </p:sp>
      <p:sp>
        <p:nvSpPr>
          <p:cNvPr id="26" name="Text 24"/>
          <p:cNvSpPr/>
          <p:nvPr/>
        </p:nvSpPr>
        <p:spPr>
          <a:xfrm>
            <a:off x="5093208" y="4407408"/>
            <a:ext cx="2029968" cy="594360"/>
          </a:xfrm>
          <a:prstGeom prst="rect">
            <a:avLst/>
          </a:prstGeom>
          <a:noFill/>
          <a:ln/>
        </p:spPr>
        <p:txBody>
          <a:bodyPr wrap="square" rtlCol="0" anchor="ctr"/>
          <a:lstStyle/>
          <a:p>
            <a:pPr indent="0" marL="0">
              <a:lnSpc>
                <a:spcPct val="130000"/>
              </a:lnSpc>
              <a:buNone/>
            </a:pPr>
            <a:r>
              <a:rPr lang="en-US" sz="900" b="1" dirty="0">
                <a:solidFill>
                  <a:srgbClr val="457B9D"/>
                </a:solidFill>
                <a:latin typeface="Calibri" pitchFamily="34" charset="0"/>
                <a:ea typeface="Calibri" pitchFamily="34" charset="-122"/>
                <a:cs typeface="Calibri" pitchFamily="34" charset="-120"/>
              </a:rPr>
              <a:t>✔ Robust · Feature importance</a:t>
            </a:r>
            <a:endParaRPr lang="en-US" sz="900" dirty="0"/>
          </a:p>
        </p:txBody>
      </p:sp>
      <p:sp>
        <p:nvSpPr>
          <p:cNvPr id="27" name="Shape 25"/>
          <p:cNvSpPr/>
          <p:nvPr/>
        </p:nvSpPr>
        <p:spPr>
          <a:xfrm>
            <a:off x="7342632" y="822960"/>
            <a:ext cx="2212848" cy="47091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8" name="Shape 26"/>
          <p:cNvSpPr/>
          <p:nvPr/>
        </p:nvSpPr>
        <p:spPr>
          <a:xfrm>
            <a:off x="7342632" y="822960"/>
            <a:ext cx="2212848" cy="1005840"/>
          </a:xfrm>
          <a:prstGeom prst="rect">
            <a:avLst/>
          </a:prstGeom>
          <a:solidFill>
            <a:srgbClr val="DD6B20"/>
          </a:solidFill>
          <a:ln/>
        </p:spPr>
      </p:sp>
      <p:sp>
        <p:nvSpPr>
          <p:cNvPr id="29" name="Text 27"/>
          <p:cNvSpPr/>
          <p:nvPr/>
        </p:nvSpPr>
        <p:spPr>
          <a:xfrm>
            <a:off x="7342632" y="868680"/>
            <a:ext cx="2212848"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0" name="Text 28"/>
          <p:cNvSpPr/>
          <p:nvPr/>
        </p:nvSpPr>
        <p:spPr>
          <a:xfrm>
            <a:off x="7388352" y="1371600"/>
            <a:ext cx="212140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SVM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(Linear)</a:t>
            </a:r>
            <a:endParaRPr lang="en-US" sz="1100" dirty="0"/>
          </a:p>
        </p:txBody>
      </p:sp>
      <p:sp>
        <p:nvSpPr>
          <p:cNvPr id="31" name="Text 29"/>
          <p:cNvSpPr/>
          <p:nvPr/>
        </p:nvSpPr>
        <p:spPr>
          <a:xfrm>
            <a:off x="7434072" y="1920240"/>
            <a:ext cx="2029968" cy="2286000"/>
          </a:xfrm>
          <a:prstGeom prst="rect">
            <a:avLst/>
          </a:prstGeom>
          <a:noFill/>
          <a:ln/>
        </p:spPr>
        <p:txBody>
          <a:bodyPr wrap="square" rtlCol="0" anchor="ctr"/>
          <a:lstStyle/>
          <a:p>
            <a:pPr indent="0" marL="0">
              <a:lnSpc>
                <a:spcPct val="135000"/>
              </a:lnSpc>
              <a:buNone/>
            </a:pPr>
            <a:r>
              <a:rPr lang="en-US" sz="950" dirty="0">
                <a:solidFill>
                  <a:srgbClr val="334155"/>
                </a:solidFill>
                <a:latin typeface="Calibri" pitchFamily="34" charset="0"/>
                <a:ea typeface="Calibri" pitchFamily="34" charset="-122"/>
                <a:cs typeface="Calibri" pitchFamily="34" charset="-120"/>
              </a:rPr>
              <a:t>Finds max-margin hyperplane between fatal and non-fatal. Computationally expensive at O(n²) on 27K rows.</a:t>
            </a:r>
            <a:endParaRPr lang="en-US" sz="950" dirty="0"/>
          </a:p>
        </p:txBody>
      </p:sp>
      <p:sp>
        <p:nvSpPr>
          <p:cNvPr id="32" name="Shape 30"/>
          <p:cNvSpPr/>
          <p:nvPr/>
        </p:nvSpPr>
        <p:spPr>
          <a:xfrm>
            <a:off x="7434072" y="4297680"/>
            <a:ext cx="2029968" cy="54864"/>
          </a:xfrm>
          <a:prstGeom prst="rect">
            <a:avLst/>
          </a:prstGeom>
          <a:solidFill>
            <a:srgbClr val="DD6B20">
              <a:alpha val="50000"/>
            </a:srgbClr>
          </a:solidFill>
          <a:ln/>
        </p:spPr>
      </p:sp>
      <p:sp>
        <p:nvSpPr>
          <p:cNvPr id="33" name="Text 31"/>
          <p:cNvSpPr/>
          <p:nvPr/>
        </p:nvSpPr>
        <p:spPr>
          <a:xfrm>
            <a:off x="7434072" y="4407408"/>
            <a:ext cx="2029968" cy="594360"/>
          </a:xfrm>
          <a:prstGeom prst="rect">
            <a:avLst/>
          </a:prstGeom>
          <a:noFill/>
          <a:ln/>
        </p:spPr>
        <p:txBody>
          <a:bodyPr wrap="square" rtlCol="0" anchor="ctr"/>
          <a:lstStyle/>
          <a:p>
            <a:pPr indent="0" marL="0">
              <a:lnSpc>
                <a:spcPct val="130000"/>
              </a:lnSpc>
              <a:buNone/>
            </a:pPr>
            <a:r>
              <a:rPr lang="en-US" sz="900" b="1" dirty="0">
                <a:solidFill>
                  <a:srgbClr val="DD6B20"/>
                </a:solidFill>
                <a:latin typeface="Calibri" pitchFamily="34" charset="0"/>
                <a:ea typeface="Calibri" pitchFamily="34" charset="-122"/>
                <a:cs typeface="Calibri" pitchFamily="34" charset="-120"/>
              </a:rPr>
              <a:t>✔ Strong boundary detection</a:t>
            </a:r>
            <a:endParaRPr lang="en-US" sz="900" dirty="0"/>
          </a:p>
        </p:txBody>
      </p:sp>
      <p:sp>
        <p:nvSpPr>
          <p:cNvPr id="34" name="Shape 32"/>
          <p:cNvSpPr/>
          <p:nvPr/>
        </p:nvSpPr>
        <p:spPr>
          <a:xfrm>
            <a:off x="9683496" y="822960"/>
            <a:ext cx="2212848" cy="47091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5" name="Shape 33"/>
          <p:cNvSpPr/>
          <p:nvPr/>
        </p:nvSpPr>
        <p:spPr>
          <a:xfrm>
            <a:off x="9683496" y="822960"/>
            <a:ext cx="2212848" cy="1005840"/>
          </a:xfrm>
          <a:prstGeom prst="rect">
            <a:avLst/>
          </a:prstGeom>
          <a:solidFill>
            <a:srgbClr val="E63946"/>
          </a:solidFill>
          <a:ln/>
        </p:spPr>
      </p:sp>
      <p:sp>
        <p:nvSpPr>
          <p:cNvPr id="36" name="Text 34"/>
          <p:cNvSpPr/>
          <p:nvPr/>
        </p:nvSpPr>
        <p:spPr>
          <a:xfrm>
            <a:off x="9683496" y="868680"/>
            <a:ext cx="2212848"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7" name="Text 35"/>
          <p:cNvSpPr/>
          <p:nvPr/>
        </p:nvSpPr>
        <p:spPr>
          <a:xfrm>
            <a:off x="9729216" y="1371600"/>
            <a:ext cx="2121408"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LightGBM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Best</a:t>
            </a:r>
            <a:endParaRPr lang="en-US" sz="1100" dirty="0"/>
          </a:p>
        </p:txBody>
      </p:sp>
      <p:sp>
        <p:nvSpPr>
          <p:cNvPr id="38" name="Text 36"/>
          <p:cNvSpPr/>
          <p:nvPr/>
        </p:nvSpPr>
        <p:spPr>
          <a:xfrm>
            <a:off x="9774936" y="1920240"/>
            <a:ext cx="2029968" cy="2286000"/>
          </a:xfrm>
          <a:prstGeom prst="rect">
            <a:avLst/>
          </a:prstGeom>
          <a:noFill/>
          <a:ln/>
        </p:spPr>
        <p:txBody>
          <a:bodyPr wrap="square" rtlCol="0" anchor="ctr"/>
          <a:lstStyle/>
          <a:p>
            <a:pPr indent="0" marL="0">
              <a:lnSpc>
                <a:spcPct val="135000"/>
              </a:lnSpc>
              <a:buNone/>
            </a:pPr>
            <a:r>
              <a:rPr lang="en-US" sz="950" dirty="0">
                <a:solidFill>
                  <a:srgbClr val="334155"/>
                </a:solidFill>
                <a:latin typeface="Calibri" pitchFamily="34" charset="0"/>
                <a:ea typeface="Calibri" pitchFamily="34" charset="-122"/>
                <a:cs typeface="Calibri" pitchFamily="34" charset="-120"/>
              </a:rPr>
              <a:t>Gradient boosting — 200 trees, each correcting prior errors. State-of-the-art on tabular data. Fastest large-scale booster.</a:t>
            </a:r>
            <a:endParaRPr lang="en-US" sz="950" dirty="0"/>
          </a:p>
        </p:txBody>
      </p:sp>
      <p:sp>
        <p:nvSpPr>
          <p:cNvPr id="39" name="Shape 37"/>
          <p:cNvSpPr/>
          <p:nvPr/>
        </p:nvSpPr>
        <p:spPr>
          <a:xfrm>
            <a:off x="9774936" y="4297680"/>
            <a:ext cx="2029968" cy="54864"/>
          </a:xfrm>
          <a:prstGeom prst="rect">
            <a:avLst/>
          </a:prstGeom>
          <a:solidFill>
            <a:srgbClr val="E63946">
              <a:alpha val="50000"/>
            </a:srgbClr>
          </a:solidFill>
          <a:ln/>
        </p:spPr>
      </p:sp>
      <p:sp>
        <p:nvSpPr>
          <p:cNvPr id="40" name="Text 38"/>
          <p:cNvSpPr/>
          <p:nvPr/>
        </p:nvSpPr>
        <p:spPr>
          <a:xfrm>
            <a:off x="9774936" y="4407408"/>
            <a:ext cx="2029968" cy="594360"/>
          </a:xfrm>
          <a:prstGeom prst="rect">
            <a:avLst/>
          </a:prstGeom>
          <a:noFill/>
          <a:ln/>
        </p:spPr>
        <p:txBody>
          <a:bodyPr wrap="square" rtlCol="0" anchor="ctr"/>
          <a:lstStyle/>
          <a:p>
            <a:pPr indent="0" marL="0">
              <a:lnSpc>
                <a:spcPct val="130000"/>
              </a:lnSpc>
              <a:buNone/>
            </a:pPr>
            <a:r>
              <a:rPr lang="en-US" sz="900" b="1" dirty="0">
                <a:solidFill>
                  <a:srgbClr val="E63946"/>
                </a:solidFill>
                <a:latin typeface="Calibri" pitchFamily="34" charset="0"/>
                <a:ea typeface="Calibri" pitchFamily="34" charset="-122"/>
                <a:cs typeface="Calibri" pitchFamily="34" charset="-120"/>
              </a:rPr>
              <a:t>✔ Highest F1 · AUC · Speed</a:t>
            </a:r>
            <a:endParaRPr lang="en-US" sz="900" dirty="0"/>
          </a:p>
        </p:txBody>
      </p:sp>
      <p:sp>
        <p:nvSpPr>
          <p:cNvPr id="41" name="Shape 39"/>
          <p:cNvSpPr/>
          <p:nvPr/>
        </p:nvSpPr>
        <p:spPr>
          <a:xfrm>
            <a:off x="320040" y="5669280"/>
            <a:ext cx="11521440" cy="594360"/>
          </a:xfrm>
          <a:prstGeom prst="rect">
            <a:avLst/>
          </a:prstGeom>
          <a:solidFill>
            <a:srgbClr val="F8FAFC"/>
          </a:solidFill>
          <a:ln w="12700">
            <a:solidFill>
              <a:srgbClr val="E2E8F0"/>
            </a:solidFill>
            <a:prstDash val="solid"/>
          </a:ln>
        </p:spPr>
      </p:sp>
      <p:sp>
        <p:nvSpPr>
          <p:cNvPr id="42" name="Text 40"/>
          <p:cNvSpPr/>
          <p:nvPr/>
        </p:nvSpPr>
        <p:spPr>
          <a:xfrm>
            <a:off x="457200" y="5696712"/>
            <a:ext cx="11155680" cy="530352"/>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All 5 models trained on SMOTE-balanced data (35,270 samples) · Evaluated on real-world imbalanced test set (5,463 samples) · 80/20 stratified split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Model Comparison — Performance Metrics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11</a:t>
            </a:r>
            <a:endParaRPr lang="en-US" sz="1200" dirty="0"/>
          </a:p>
        </p:txBody>
      </p:sp>
      <p:sp>
        <p:nvSpPr>
          <p:cNvPr id="6" name="Shape 4"/>
          <p:cNvSpPr/>
          <p:nvPr/>
        </p:nvSpPr>
        <p:spPr>
          <a:xfrm>
            <a:off x="320040" y="822960"/>
            <a:ext cx="7680960" cy="44348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22960"/>
            <a:ext cx="7680960" cy="411480"/>
          </a:xfrm>
          <a:prstGeom prst="rect">
            <a:avLst/>
          </a:prstGeom>
          <a:solidFill>
            <a:srgbClr val="0D1B2A"/>
          </a:solidFill>
          <a:ln/>
        </p:spPr>
      </p:sp>
      <p:sp>
        <p:nvSpPr>
          <p:cNvPr id="8" name="Text 6"/>
          <p:cNvSpPr/>
          <p:nvPr/>
        </p:nvSpPr>
        <p:spPr>
          <a:xfrm>
            <a:off x="411480" y="822960"/>
            <a:ext cx="233172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9" name="Text 7"/>
          <p:cNvSpPr/>
          <p:nvPr/>
        </p:nvSpPr>
        <p:spPr>
          <a:xfrm>
            <a:off x="2834640" y="822960"/>
            <a:ext cx="100584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Accuracy</a:t>
            </a:r>
            <a:endParaRPr lang="en-US" sz="1050" dirty="0"/>
          </a:p>
        </p:txBody>
      </p:sp>
      <p:sp>
        <p:nvSpPr>
          <p:cNvPr id="10" name="Text 8"/>
          <p:cNvSpPr/>
          <p:nvPr/>
        </p:nvSpPr>
        <p:spPr>
          <a:xfrm>
            <a:off x="3931920" y="822960"/>
            <a:ext cx="100584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p>
        </p:txBody>
      </p:sp>
      <p:sp>
        <p:nvSpPr>
          <p:cNvPr id="11" name="Text 9"/>
          <p:cNvSpPr/>
          <p:nvPr/>
        </p:nvSpPr>
        <p:spPr>
          <a:xfrm>
            <a:off x="5029200" y="822960"/>
            <a:ext cx="100584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p>
        </p:txBody>
      </p:sp>
      <p:sp>
        <p:nvSpPr>
          <p:cNvPr id="12" name="Text 10"/>
          <p:cNvSpPr/>
          <p:nvPr/>
        </p:nvSpPr>
        <p:spPr>
          <a:xfrm>
            <a:off x="6126480" y="822960"/>
            <a:ext cx="100584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F1 Score</a:t>
            </a:r>
            <a:endParaRPr lang="en-US" sz="1050" dirty="0"/>
          </a:p>
        </p:txBody>
      </p:sp>
      <p:sp>
        <p:nvSpPr>
          <p:cNvPr id="13" name="Text 11"/>
          <p:cNvSpPr/>
          <p:nvPr/>
        </p:nvSpPr>
        <p:spPr>
          <a:xfrm>
            <a:off x="7178040" y="822960"/>
            <a:ext cx="1005840" cy="411480"/>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ROC-AUC</a:t>
            </a:r>
            <a:endParaRPr lang="en-US" sz="1050" dirty="0"/>
          </a:p>
        </p:txBody>
      </p:sp>
      <p:sp>
        <p:nvSpPr>
          <p:cNvPr id="14" name="Shape 12"/>
          <p:cNvSpPr/>
          <p:nvPr/>
        </p:nvSpPr>
        <p:spPr>
          <a:xfrm>
            <a:off x="320040" y="1234440"/>
            <a:ext cx="7680960" cy="621792"/>
          </a:xfrm>
          <a:prstGeom prst="rect">
            <a:avLst/>
          </a:prstGeom>
          <a:solidFill>
            <a:srgbClr val="E63946"/>
          </a:solidFill>
          <a:ln/>
        </p:spPr>
      </p:sp>
      <p:sp>
        <p:nvSpPr>
          <p:cNvPr id="15" name="Text 13"/>
          <p:cNvSpPr/>
          <p:nvPr/>
        </p:nvSpPr>
        <p:spPr>
          <a:xfrm>
            <a:off x="411480" y="1280160"/>
            <a:ext cx="2331720" cy="502920"/>
          </a:xfrm>
          <a:prstGeom prst="rect">
            <a:avLst/>
          </a:prstGeom>
          <a:noFill/>
          <a:ln/>
        </p:spPr>
        <p:txBody>
          <a:bodyPr wrap="square"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 LightGBM</a:t>
            </a:r>
            <a:endParaRPr lang="en-US" sz="1100" dirty="0"/>
          </a:p>
        </p:txBody>
      </p:sp>
      <p:sp>
        <p:nvSpPr>
          <p:cNvPr id="16" name="Text 14"/>
          <p:cNvSpPr/>
          <p:nvPr/>
        </p:nvSpPr>
        <p:spPr>
          <a:xfrm>
            <a:off x="2834640" y="1280160"/>
            <a:ext cx="1005840" cy="502920"/>
          </a:xfrm>
          <a:prstGeom prst="rect">
            <a:avLst/>
          </a:prstGeom>
          <a:noFill/>
          <a:ln/>
        </p:spPr>
        <p:txBody>
          <a:bodyPr wrap="square"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0.8812</a:t>
            </a:r>
            <a:endParaRPr lang="en-US" sz="1150" dirty="0"/>
          </a:p>
        </p:txBody>
      </p:sp>
      <p:sp>
        <p:nvSpPr>
          <p:cNvPr id="17" name="Text 15"/>
          <p:cNvSpPr/>
          <p:nvPr/>
        </p:nvSpPr>
        <p:spPr>
          <a:xfrm>
            <a:off x="3931920" y="1280160"/>
            <a:ext cx="1005840" cy="502920"/>
          </a:xfrm>
          <a:prstGeom prst="rect">
            <a:avLst/>
          </a:prstGeom>
          <a:noFill/>
          <a:ln/>
        </p:spPr>
        <p:txBody>
          <a:bodyPr wrap="square"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0.6941</a:t>
            </a:r>
            <a:endParaRPr lang="en-US" sz="1150" dirty="0"/>
          </a:p>
        </p:txBody>
      </p:sp>
      <p:sp>
        <p:nvSpPr>
          <p:cNvPr id="18" name="Text 16"/>
          <p:cNvSpPr/>
          <p:nvPr/>
        </p:nvSpPr>
        <p:spPr>
          <a:xfrm>
            <a:off x="5029200" y="1280160"/>
            <a:ext cx="1005840" cy="502920"/>
          </a:xfrm>
          <a:prstGeom prst="rect">
            <a:avLst/>
          </a:prstGeom>
          <a:noFill/>
          <a:ln/>
        </p:spPr>
        <p:txBody>
          <a:bodyPr wrap="square"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0.5940</a:t>
            </a:r>
            <a:endParaRPr lang="en-US" sz="1150" dirty="0"/>
          </a:p>
        </p:txBody>
      </p:sp>
      <p:sp>
        <p:nvSpPr>
          <p:cNvPr id="19" name="Text 17"/>
          <p:cNvSpPr/>
          <p:nvPr/>
        </p:nvSpPr>
        <p:spPr>
          <a:xfrm>
            <a:off x="6126480" y="1280160"/>
            <a:ext cx="1005840" cy="502920"/>
          </a:xfrm>
          <a:prstGeom prst="rect">
            <a:avLst/>
          </a:prstGeom>
          <a:noFill/>
          <a:ln/>
        </p:spPr>
        <p:txBody>
          <a:bodyPr wrap="square"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0.6403</a:t>
            </a:r>
            <a:endParaRPr lang="en-US" sz="1150" dirty="0"/>
          </a:p>
        </p:txBody>
      </p:sp>
      <p:sp>
        <p:nvSpPr>
          <p:cNvPr id="20" name="Text 18"/>
          <p:cNvSpPr/>
          <p:nvPr/>
        </p:nvSpPr>
        <p:spPr>
          <a:xfrm>
            <a:off x="7178040" y="1280160"/>
            <a:ext cx="1005840" cy="502920"/>
          </a:xfrm>
          <a:prstGeom prst="rect">
            <a:avLst/>
          </a:prstGeom>
          <a:noFill/>
          <a:ln/>
        </p:spPr>
        <p:txBody>
          <a:bodyPr wrap="square" rtlCol="0" anchor="ctr"/>
          <a:lstStyle/>
          <a:p>
            <a:pPr indent="0" marL="0">
              <a:buNone/>
            </a:pPr>
            <a:r>
              <a:rPr lang="en-US" sz="1150" b="1" dirty="0">
                <a:solidFill>
                  <a:srgbClr val="FFFFFF"/>
                </a:solidFill>
                <a:latin typeface="Georgia" pitchFamily="34" charset="0"/>
                <a:ea typeface="Georgia" pitchFamily="34" charset="-122"/>
                <a:cs typeface="Georgia" pitchFamily="34" charset="-120"/>
              </a:rPr>
              <a:t>0.9114</a:t>
            </a:r>
            <a:endParaRPr lang="en-US" sz="1150" dirty="0"/>
          </a:p>
        </p:txBody>
      </p:sp>
      <p:sp>
        <p:nvSpPr>
          <p:cNvPr id="21" name="Shape 19"/>
          <p:cNvSpPr/>
          <p:nvPr/>
        </p:nvSpPr>
        <p:spPr>
          <a:xfrm>
            <a:off x="320040" y="1892808"/>
            <a:ext cx="7680960" cy="621792"/>
          </a:xfrm>
          <a:prstGeom prst="rect">
            <a:avLst/>
          </a:prstGeom>
          <a:solidFill>
            <a:srgbClr val="FFFFFF"/>
          </a:solidFill>
          <a:ln/>
        </p:spPr>
      </p:sp>
      <p:sp>
        <p:nvSpPr>
          <p:cNvPr id="22" name="Text 20"/>
          <p:cNvSpPr/>
          <p:nvPr/>
        </p:nvSpPr>
        <p:spPr>
          <a:xfrm>
            <a:off x="411480" y="1938528"/>
            <a:ext cx="2331720" cy="50292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Random Forest</a:t>
            </a:r>
            <a:endParaRPr lang="en-US" sz="1100" dirty="0"/>
          </a:p>
        </p:txBody>
      </p:sp>
      <p:sp>
        <p:nvSpPr>
          <p:cNvPr id="23" name="Text 21"/>
          <p:cNvSpPr/>
          <p:nvPr/>
        </p:nvSpPr>
        <p:spPr>
          <a:xfrm>
            <a:off x="2834640" y="1938528"/>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0.8756</a:t>
            </a:r>
            <a:endParaRPr lang="en-US" sz="1150" dirty="0"/>
          </a:p>
        </p:txBody>
      </p:sp>
      <p:sp>
        <p:nvSpPr>
          <p:cNvPr id="24" name="Text 22"/>
          <p:cNvSpPr/>
          <p:nvPr/>
        </p:nvSpPr>
        <p:spPr>
          <a:xfrm>
            <a:off x="3931920" y="1938528"/>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0.6820</a:t>
            </a:r>
            <a:endParaRPr lang="en-US" sz="1150" dirty="0"/>
          </a:p>
        </p:txBody>
      </p:sp>
      <p:sp>
        <p:nvSpPr>
          <p:cNvPr id="25" name="Text 23"/>
          <p:cNvSpPr/>
          <p:nvPr/>
        </p:nvSpPr>
        <p:spPr>
          <a:xfrm>
            <a:off x="5029200" y="1938528"/>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0.5640</a:t>
            </a:r>
            <a:endParaRPr lang="en-US" sz="1150" dirty="0"/>
          </a:p>
        </p:txBody>
      </p:sp>
      <p:sp>
        <p:nvSpPr>
          <p:cNvPr id="26" name="Text 24"/>
          <p:cNvSpPr/>
          <p:nvPr/>
        </p:nvSpPr>
        <p:spPr>
          <a:xfrm>
            <a:off x="6126480" y="1938528"/>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0.6173</a:t>
            </a:r>
            <a:endParaRPr lang="en-US" sz="1150" dirty="0"/>
          </a:p>
        </p:txBody>
      </p:sp>
      <p:sp>
        <p:nvSpPr>
          <p:cNvPr id="27" name="Text 25"/>
          <p:cNvSpPr/>
          <p:nvPr/>
        </p:nvSpPr>
        <p:spPr>
          <a:xfrm>
            <a:off x="7178040" y="1938528"/>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0.8920</a:t>
            </a:r>
            <a:endParaRPr lang="en-US" sz="1150" dirty="0"/>
          </a:p>
        </p:txBody>
      </p:sp>
      <p:sp>
        <p:nvSpPr>
          <p:cNvPr id="28" name="Shape 26"/>
          <p:cNvSpPr/>
          <p:nvPr/>
        </p:nvSpPr>
        <p:spPr>
          <a:xfrm>
            <a:off x="320040" y="2551176"/>
            <a:ext cx="7680960" cy="621792"/>
          </a:xfrm>
          <a:prstGeom prst="rect">
            <a:avLst/>
          </a:prstGeom>
          <a:solidFill>
            <a:srgbClr val="F8FAFC"/>
          </a:solidFill>
          <a:ln/>
        </p:spPr>
      </p:sp>
      <p:sp>
        <p:nvSpPr>
          <p:cNvPr id="29" name="Text 27"/>
          <p:cNvSpPr/>
          <p:nvPr/>
        </p:nvSpPr>
        <p:spPr>
          <a:xfrm>
            <a:off x="411480" y="2596896"/>
            <a:ext cx="2331720" cy="50292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Decision Tree</a:t>
            </a:r>
            <a:endParaRPr lang="en-US" sz="1100" dirty="0"/>
          </a:p>
        </p:txBody>
      </p:sp>
      <p:sp>
        <p:nvSpPr>
          <p:cNvPr id="30" name="Text 28"/>
          <p:cNvSpPr/>
          <p:nvPr/>
        </p:nvSpPr>
        <p:spPr>
          <a:xfrm>
            <a:off x="2834640" y="2596896"/>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0.8501</a:t>
            </a:r>
            <a:endParaRPr lang="en-US" sz="1150" dirty="0"/>
          </a:p>
        </p:txBody>
      </p:sp>
      <p:sp>
        <p:nvSpPr>
          <p:cNvPr id="31" name="Text 29"/>
          <p:cNvSpPr/>
          <p:nvPr/>
        </p:nvSpPr>
        <p:spPr>
          <a:xfrm>
            <a:off x="3931920" y="2596896"/>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0.6105</a:t>
            </a:r>
            <a:endParaRPr lang="en-US" sz="1150" dirty="0"/>
          </a:p>
        </p:txBody>
      </p:sp>
      <p:sp>
        <p:nvSpPr>
          <p:cNvPr id="32" name="Text 30"/>
          <p:cNvSpPr/>
          <p:nvPr/>
        </p:nvSpPr>
        <p:spPr>
          <a:xfrm>
            <a:off x="5029200" y="2596896"/>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0.5820</a:t>
            </a:r>
            <a:endParaRPr lang="en-US" sz="1150" dirty="0"/>
          </a:p>
        </p:txBody>
      </p:sp>
      <p:sp>
        <p:nvSpPr>
          <p:cNvPr id="33" name="Text 31"/>
          <p:cNvSpPr/>
          <p:nvPr/>
        </p:nvSpPr>
        <p:spPr>
          <a:xfrm>
            <a:off x="6126480" y="2596896"/>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0.5959</a:t>
            </a:r>
            <a:endParaRPr lang="en-US" sz="1150" dirty="0"/>
          </a:p>
        </p:txBody>
      </p:sp>
      <p:sp>
        <p:nvSpPr>
          <p:cNvPr id="34" name="Text 32"/>
          <p:cNvSpPr/>
          <p:nvPr/>
        </p:nvSpPr>
        <p:spPr>
          <a:xfrm>
            <a:off x="7178040" y="2596896"/>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0.8402</a:t>
            </a:r>
            <a:endParaRPr lang="en-US" sz="1150" dirty="0"/>
          </a:p>
        </p:txBody>
      </p:sp>
      <p:sp>
        <p:nvSpPr>
          <p:cNvPr id="35" name="Shape 33"/>
          <p:cNvSpPr/>
          <p:nvPr/>
        </p:nvSpPr>
        <p:spPr>
          <a:xfrm>
            <a:off x="320040" y="3209544"/>
            <a:ext cx="7680960" cy="621792"/>
          </a:xfrm>
          <a:prstGeom prst="rect">
            <a:avLst/>
          </a:prstGeom>
          <a:solidFill>
            <a:srgbClr val="FFFFFF"/>
          </a:solidFill>
          <a:ln/>
        </p:spPr>
      </p:sp>
      <p:sp>
        <p:nvSpPr>
          <p:cNvPr id="36" name="Text 34"/>
          <p:cNvSpPr/>
          <p:nvPr/>
        </p:nvSpPr>
        <p:spPr>
          <a:xfrm>
            <a:off x="411480" y="3255264"/>
            <a:ext cx="2331720" cy="50292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SVM</a:t>
            </a:r>
            <a:endParaRPr lang="en-US" sz="1100" dirty="0"/>
          </a:p>
        </p:txBody>
      </p:sp>
      <p:sp>
        <p:nvSpPr>
          <p:cNvPr id="37" name="Text 35"/>
          <p:cNvSpPr/>
          <p:nvPr/>
        </p:nvSpPr>
        <p:spPr>
          <a:xfrm>
            <a:off x="2834640" y="3255264"/>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0.8290</a:t>
            </a:r>
            <a:endParaRPr lang="en-US" sz="1150" dirty="0"/>
          </a:p>
        </p:txBody>
      </p:sp>
      <p:sp>
        <p:nvSpPr>
          <p:cNvPr id="38" name="Text 36"/>
          <p:cNvSpPr/>
          <p:nvPr/>
        </p:nvSpPr>
        <p:spPr>
          <a:xfrm>
            <a:off x="3931920" y="3255264"/>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0.5802</a:t>
            </a:r>
            <a:endParaRPr lang="en-US" sz="1150" dirty="0"/>
          </a:p>
        </p:txBody>
      </p:sp>
      <p:sp>
        <p:nvSpPr>
          <p:cNvPr id="39" name="Text 37"/>
          <p:cNvSpPr/>
          <p:nvPr/>
        </p:nvSpPr>
        <p:spPr>
          <a:xfrm>
            <a:off x="5029200" y="3255264"/>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0.5950</a:t>
            </a:r>
            <a:endParaRPr lang="en-US" sz="1150" dirty="0"/>
          </a:p>
        </p:txBody>
      </p:sp>
      <p:sp>
        <p:nvSpPr>
          <p:cNvPr id="40" name="Text 38"/>
          <p:cNvSpPr/>
          <p:nvPr/>
        </p:nvSpPr>
        <p:spPr>
          <a:xfrm>
            <a:off x="6126480" y="3255264"/>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0.5875</a:t>
            </a:r>
            <a:endParaRPr lang="en-US" sz="1150" dirty="0"/>
          </a:p>
        </p:txBody>
      </p:sp>
      <p:sp>
        <p:nvSpPr>
          <p:cNvPr id="41" name="Text 39"/>
          <p:cNvSpPr/>
          <p:nvPr/>
        </p:nvSpPr>
        <p:spPr>
          <a:xfrm>
            <a:off x="7178040" y="3255264"/>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0.8610</a:t>
            </a:r>
            <a:endParaRPr lang="en-US" sz="1150" dirty="0"/>
          </a:p>
        </p:txBody>
      </p:sp>
      <p:sp>
        <p:nvSpPr>
          <p:cNvPr id="42" name="Shape 40"/>
          <p:cNvSpPr/>
          <p:nvPr/>
        </p:nvSpPr>
        <p:spPr>
          <a:xfrm>
            <a:off x="320040" y="3867912"/>
            <a:ext cx="7680960" cy="621792"/>
          </a:xfrm>
          <a:prstGeom prst="rect">
            <a:avLst/>
          </a:prstGeom>
          <a:solidFill>
            <a:srgbClr val="F8FAFC"/>
          </a:solidFill>
          <a:ln/>
        </p:spPr>
      </p:sp>
      <p:sp>
        <p:nvSpPr>
          <p:cNvPr id="43" name="Text 41"/>
          <p:cNvSpPr/>
          <p:nvPr/>
        </p:nvSpPr>
        <p:spPr>
          <a:xfrm>
            <a:off x="411480" y="3913632"/>
            <a:ext cx="2331720" cy="50292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Logistic Regression</a:t>
            </a:r>
            <a:endParaRPr lang="en-US" sz="1100" dirty="0"/>
          </a:p>
        </p:txBody>
      </p:sp>
      <p:sp>
        <p:nvSpPr>
          <p:cNvPr id="44" name="Text 42"/>
          <p:cNvSpPr/>
          <p:nvPr/>
        </p:nvSpPr>
        <p:spPr>
          <a:xfrm>
            <a:off x="2834640" y="3913632"/>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0.7940</a:t>
            </a:r>
            <a:endParaRPr lang="en-US" sz="1150" dirty="0"/>
          </a:p>
        </p:txBody>
      </p:sp>
      <p:sp>
        <p:nvSpPr>
          <p:cNvPr id="45" name="Text 43"/>
          <p:cNvSpPr/>
          <p:nvPr/>
        </p:nvSpPr>
        <p:spPr>
          <a:xfrm>
            <a:off x="3931920" y="3913632"/>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0.4710</a:t>
            </a:r>
            <a:endParaRPr lang="en-US" sz="1150" dirty="0"/>
          </a:p>
        </p:txBody>
      </p:sp>
      <p:sp>
        <p:nvSpPr>
          <p:cNvPr id="46" name="Text 44"/>
          <p:cNvSpPr/>
          <p:nvPr/>
        </p:nvSpPr>
        <p:spPr>
          <a:xfrm>
            <a:off x="5029200" y="3913632"/>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0.6120</a:t>
            </a:r>
            <a:endParaRPr lang="en-US" sz="1150" dirty="0"/>
          </a:p>
        </p:txBody>
      </p:sp>
      <p:sp>
        <p:nvSpPr>
          <p:cNvPr id="47" name="Text 45"/>
          <p:cNvSpPr/>
          <p:nvPr/>
        </p:nvSpPr>
        <p:spPr>
          <a:xfrm>
            <a:off x="6126480" y="3913632"/>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0.5322</a:t>
            </a:r>
            <a:endParaRPr lang="en-US" sz="1150" dirty="0"/>
          </a:p>
        </p:txBody>
      </p:sp>
      <p:sp>
        <p:nvSpPr>
          <p:cNvPr id="48" name="Text 46"/>
          <p:cNvSpPr/>
          <p:nvPr/>
        </p:nvSpPr>
        <p:spPr>
          <a:xfrm>
            <a:off x="7178040" y="3913632"/>
            <a:ext cx="1005840" cy="502920"/>
          </a:xfrm>
          <a:prstGeom prst="rect">
            <a:avLst/>
          </a:prstGeom>
          <a:noFill/>
          <a:ln/>
        </p:spPr>
        <p:txBody>
          <a:bodyPr wrap="square" rtlCol="0" anchor="ctr"/>
          <a:lstStyle/>
          <a:p>
            <a:pPr indent="0" marL="0">
              <a:buNone/>
            </a:pPr>
            <a:r>
              <a:rPr lang="en-US" sz="1150" dirty="0">
                <a:solidFill>
                  <a:srgbClr val="334155"/>
                </a:solidFill>
                <a:latin typeface="Georgia" pitchFamily="34" charset="0"/>
                <a:ea typeface="Georgia" pitchFamily="34" charset="-122"/>
                <a:cs typeface="Georgia" pitchFamily="34" charset="-120"/>
              </a:rPr>
              <a:t>0.8240</a:t>
            </a:r>
            <a:endParaRPr lang="en-US" sz="1150" dirty="0"/>
          </a:p>
        </p:txBody>
      </p:sp>
      <p:sp>
        <p:nvSpPr>
          <p:cNvPr id="49" name="Shape 47"/>
          <p:cNvSpPr/>
          <p:nvPr/>
        </p:nvSpPr>
        <p:spPr>
          <a:xfrm>
            <a:off x="8229600" y="822960"/>
            <a:ext cx="3657600" cy="443484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50" name="Text 48"/>
          <p:cNvSpPr/>
          <p:nvPr/>
        </p:nvSpPr>
        <p:spPr>
          <a:xfrm>
            <a:off x="8321040" y="896112"/>
            <a:ext cx="3474720" cy="329184"/>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ROC-AUC Ranking</a:t>
            </a:r>
            <a:endParaRPr lang="en-US" sz="1300" dirty="0"/>
          </a:p>
        </p:txBody>
      </p:sp>
      <p:sp>
        <p:nvSpPr>
          <p:cNvPr id="51" name="Shape 49"/>
          <p:cNvSpPr/>
          <p:nvPr/>
        </p:nvSpPr>
        <p:spPr>
          <a:xfrm>
            <a:off x="8321040" y="1399032"/>
            <a:ext cx="1360627" cy="347472"/>
          </a:xfrm>
          <a:prstGeom prst="rect">
            <a:avLst/>
          </a:prstGeom>
          <a:solidFill>
            <a:srgbClr val="457B9D"/>
          </a:solidFill>
          <a:ln/>
        </p:spPr>
      </p:sp>
      <p:sp>
        <p:nvSpPr>
          <p:cNvPr id="52" name="Text 50"/>
          <p:cNvSpPr/>
          <p:nvPr/>
        </p:nvSpPr>
        <p:spPr>
          <a:xfrm>
            <a:off x="8321040" y="1399032"/>
            <a:ext cx="1360627"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Logistic</a:t>
            </a:r>
            <a:endParaRPr lang="en-US" sz="900" dirty="0"/>
          </a:p>
        </p:txBody>
      </p:sp>
      <p:sp>
        <p:nvSpPr>
          <p:cNvPr id="53" name="Text 51"/>
          <p:cNvSpPr/>
          <p:nvPr/>
        </p:nvSpPr>
        <p:spPr>
          <a:xfrm>
            <a:off x="9727387" y="1444752"/>
            <a:ext cx="731520" cy="256032"/>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0.8240</a:t>
            </a:r>
            <a:endParaRPr lang="en-US" sz="950" dirty="0"/>
          </a:p>
        </p:txBody>
      </p:sp>
      <p:sp>
        <p:nvSpPr>
          <p:cNvPr id="54" name="Shape 52"/>
          <p:cNvSpPr/>
          <p:nvPr/>
        </p:nvSpPr>
        <p:spPr>
          <a:xfrm>
            <a:off x="8321040" y="2020824"/>
            <a:ext cx="1538387" cy="347472"/>
          </a:xfrm>
          <a:prstGeom prst="rect">
            <a:avLst/>
          </a:prstGeom>
          <a:solidFill>
            <a:srgbClr val="457B9D"/>
          </a:solidFill>
          <a:ln/>
        </p:spPr>
      </p:sp>
      <p:sp>
        <p:nvSpPr>
          <p:cNvPr id="55" name="Text 53"/>
          <p:cNvSpPr/>
          <p:nvPr/>
        </p:nvSpPr>
        <p:spPr>
          <a:xfrm>
            <a:off x="8321040" y="2020824"/>
            <a:ext cx="1538387"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p>
        </p:txBody>
      </p:sp>
      <p:sp>
        <p:nvSpPr>
          <p:cNvPr id="56" name="Text 54"/>
          <p:cNvSpPr/>
          <p:nvPr/>
        </p:nvSpPr>
        <p:spPr>
          <a:xfrm>
            <a:off x="9905147" y="2066544"/>
            <a:ext cx="731520" cy="256032"/>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0.8402</a:t>
            </a:r>
            <a:endParaRPr lang="en-US" sz="950" dirty="0"/>
          </a:p>
        </p:txBody>
      </p:sp>
      <p:sp>
        <p:nvSpPr>
          <p:cNvPr id="57" name="Shape 55"/>
          <p:cNvSpPr/>
          <p:nvPr/>
        </p:nvSpPr>
        <p:spPr>
          <a:xfrm>
            <a:off x="8321040" y="2642616"/>
            <a:ext cx="1766621" cy="347472"/>
          </a:xfrm>
          <a:prstGeom prst="rect">
            <a:avLst/>
          </a:prstGeom>
          <a:solidFill>
            <a:srgbClr val="457B9D"/>
          </a:solidFill>
          <a:ln/>
        </p:spPr>
      </p:sp>
      <p:sp>
        <p:nvSpPr>
          <p:cNvPr id="58" name="Text 56"/>
          <p:cNvSpPr/>
          <p:nvPr/>
        </p:nvSpPr>
        <p:spPr>
          <a:xfrm>
            <a:off x="8321040" y="2642616"/>
            <a:ext cx="1766621"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SVM</a:t>
            </a:r>
            <a:endParaRPr lang="en-US" sz="900" dirty="0"/>
          </a:p>
        </p:txBody>
      </p:sp>
      <p:sp>
        <p:nvSpPr>
          <p:cNvPr id="59" name="Text 57"/>
          <p:cNvSpPr/>
          <p:nvPr/>
        </p:nvSpPr>
        <p:spPr>
          <a:xfrm>
            <a:off x="10133381" y="2688336"/>
            <a:ext cx="731520" cy="256032"/>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0.8610</a:t>
            </a:r>
            <a:endParaRPr lang="en-US" sz="950" dirty="0"/>
          </a:p>
        </p:txBody>
      </p:sp>
      <p:sp>
        <p:nvSpPr>
          <p:cNvPr id="60" name="Shape 58"/>
          <p:cNvSpPr/>
          <p:nvPr/>
        </p:nvSpPr>
        <p:spPr>
          <a:xfrm>
            <a:off x="8321040" y="3264408"/>
            <a:ext cx="2106778" cy="347472"/>
          </a:xfrm>
          <a:prstGeom prst="rect">
            <a:avLst/>
          </a:prstGeom>
          <a:solidFill>
            <a:srgbClr val="457B9D"/>
          </a:solidFill>
          <a:ln/>
        </p:spPr>
      </p:sp>
      <p:sp>
        <p:nvSpPr>
          <p:cNvPr id="61" name="Text 59"/>
          <p:cNvSpPr/>
          <p:nvPr/>
        </p:nvSpPr>
        <p:spPr>
          <a:xfrm>
            <a:off x="8321040" y="3264408"/>
            <a:ext cx="2106778"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Random</a:t>
            </a:r>
            <a:endParaRPr lang="en-US" sz="900" dirty="0"/>
          </a:p>
        </p:txBody>
      </p:sp>
      <p:sp>
        <p:nvSpPr>
          <p:cNvPr id="62" name="Text 60"/>
          <p:cNvSpPr/>
          <p:nvPr/>
        </p:nvSpPr>
        <p:spPr>
          <a:xfrm>
            <a:off x="10473538" y="3310128"/>
            <a:ext cx="731520" cy="256032"/>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0.8920</a:t>
            </a:r>
            <a:endParaRPr lang="en-US" sz="950" dirty="0"/>
          </a:p>
        </p:txBody>
      </p:sp>
      <p:sp>
        <p:nvSpPr>
          <p:cNvPr id="63" name="Shape 61"/>
          <p:cNvSpPr/>
          <p:nvPr/>
        </p:nvSpPr>
        <p:spPr>
          <a:xfrm>
            <a:off x="8321040" y="3886200"/>
            <a:ext cx="2319650" cy="347472"/>
          </a:xfrm>
          <a:prstGeom prst="rect">
            <a:avLst/>
          </a:prstGeom>
          <a:solidFill>
            <a:srgbClr val="E63946"/>
          </a:solidFill>
          <a:ln/>
        </p:spPr>
      </p:sp>
      <p:sp>
        <p:nvSpPr>
          <p:cNvPr id="64" name="Text 62"/>
          <p:cNvSpPr/>
          <p:nvPr/>
        </p:nvSpPr>
        <p:spPr>
          <a:xfrm>
            <a:off x="8321040" y="3886200"/>
            <a:ext cx="2319650"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LightGBM</a:t>
            </a:r>
            <a:endParaRPr lang="en-US" sz="900" dirty="0"/>
          </a:p>
        </p:txBody>
      </p:sp>
      <p:sp>
        <p:nvSpPr>
          <p:cNvPr id="65" name="Text 63"/>
          <p:cNvSpPr/>
          <p:nvPr/>
        </p:nvSpPr>
        <p:spPr>
          <a:xfrm>
            <a:off x="10686410" y="3931920"/>
            <a:ext cx="731520" cy="256032"/>
          </a:xfrm>
          <a:prstGeom prst="rect">
            <a:avLst/>
          </a:prstGeom>
          <a:noFill/>
          <a:ln/>
        </p:spPr>
        <p:txBody>
          <a:bodyPr wrap="square" rtlCol="0" anchor="ctr"/>
          <a:lstStyle/>
          <a:p>
            <a:pPr indent="0" marL="0">
              <a:buNone/>
            </a:pPr>
            <a:r>
              <a:rPr lang="en-US" sz="950" b="1" dirty="0">
                <a:solidFill>
                  <a:srgbClr val="E63946"/>
                </a:solidFill>
                <a:latin typeface="Calibri" pitchFamily="34" charset="0"/>
                <a:ea typeface="Calibri" pitchFamily="34" charset="-122"/>
                <a:cs typeface="Calibri" pitchFamily="34" charset="-120"/>
              </a:rPr>
              <a:t>0.9114</a:t>
            </a:r>
            <a:endParaRPr lang="en-US" sz="950" dirty="0"/>
          </a:p>
        </p:txBody>
      </p:sp>
      <p:sp>
        <p:nvSpPr>
          <p:cNvPr id="66" name="Shape 64"/>
          <p:cNvSpPr/>
          <p:nvPr/>
        </p:nvSpPr>
        <p:spPr>
          <a:xfrm>
            <a:off x="320040" y="5394960"/>
            <a:ext cx="11567160" cy="685800"/>
          </a:xfrm>
          <a:prstGeom prst="rect">
            <a:avLst/>
          </a:prstGeom>
          <a:solidFill>
            <a:srgbClr val="0D1B2A"/>
          </a:solidFill>
          <a:ln/>
        </p:spPr>
      </p:sp>
      <p:sp>
        <p:nvSpPr>
          <p:cNvPr id="67" name="Text 65"/>
          <p:cNvSpPr/>
          <p:nvPr/>
        </p:nvSpPr>
        <p:spPr>
          <a:xfrm>
            <a:off x="457200" y="5422392"/>
            <a:ext cx="11292840" cy="621792"/>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  LightGBM achieves the highest F1 (0.6403) and ROC-AUC (0.9114) — selected as the final production model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LightGBM — Final Model Deep Evaluation</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12</a:t>
            </a:r>
            <a:endParaRPr lang="en-US" sz="1200" dirty="0"/>
          </a:p>
        </p:txBody>
      </p:sp>
      <p:sp>
        <p:nvSpPr>
          <p:cNvPr id="6" name="Shape 4"/>
          <p:cNvSpPr/>
          <p:nvPr/>
        </p:nvSpPr>
        <p:spPr>
          <a:xfrm>
            <a:off x="320040" y="822960"/>
            <a:ext cx="2176272" cy="1097280"/>
          </a:xfrm>
          <a:prstGeom prst="rect">
            <a:avLst/>
          </a:prstGeom>
          <a:solidFill>
            <a:srgbClr val="0D1B2A"/>
          </a:solidFill>
          <a:ln/>
          <a:effectLst>
            <a:outerShdw sx="100000" sy="100000" kx="0" ky="0" algn="bl" rotWithShape="0" blurRad="127000" dist="50800" dir="8100000">
              <a:srgbClr val="000000">
                <a:alpha val="18000"/>
              </a:srgbClr>
            </a:outerShdw>
          </a:effectLst>
        </p:spPr>
      </p:sp>
      <p:sp>
        <p:nvSpPr>
          <p:cNvPr id="7" name="Text 5"/>
          <p:cNvSpPr/>
          <p:nvPr/>
        </p:nvSpPr>
        <p:spPr>
          <a:xfrm>
            <a:off x="320040" y="914400"/>
            <a:ext cx="2176272" cy="59436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88.12%</a:t>
            </a:r>
            <a:endParaRPr lang="en-US" sz="2400" dirty="0"/>
          </a:p>
        </p:txBody>
      </p:sp>
      <p:sp>
        <p:nvSpPr>
          <p:cNvPr id="8" name="Text 6"/>
          <p:cNvSpPr/>
          <p:nvPr/>
        </p:nvSpPr>
        <p:spPr>
          <a:xfrm>
            <a:off x="320040" y="1508760"/>
            <a:ext cx="2176272"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Accuracy</a:t>
            </a:r>
            <a:endParaRPr lang="en-US" sz="1000" dirty="0"/>
          </a:p>
        </p:txBody>
      </p:sp>
      <p:sp>
        <p:nvSpPr>
          <p:cNvPr id="9" name="Shape 7"/>
          <p:cNvSpPr/>
          <p:nvPr/>
        </p:nvSpPr>
        <p:spPr>
          <a:xfrm>
            <a:off x="2642616" y="822960"/>
            <a:ext cx="2176272" cy="1097280"/>
          </a:xfrm>
          <a:prstGeom prst="rect">
            <a:avLst/>
          </a:prstGeom>
          <a:solidFill>
            <a:srgbClr val="457B9D"/>
          </a:solidFill>
          <a:ln/>
          <a:effectLst>
            <a:outerShdw sx="100000" sy="100000" kx="0" ky="0" algn="bl" rotWithShape="0" blurRad="127000" dist="50800" dir="8100000">
              <a:srgbClr val="000000">
                <a:alpha val="18000"/>
              </a:srgbClr>
            </a:outerShdw>
          </a:effectLst>
        </p:spPr>
      </p:sp>
      <p:sp>
        <p:nvSpPr>
          <p:cNvPr id="10" name="Text 8"/>
          <p:cNvSpPr/>
          <p:nvPr/>
        </p:nvSpPr>
        <p:spPr>
          <a:xfrm>
            <a:off x="2642616" y="914400"/>
            <a:ext cx="2176272" cy="59436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69.41%</a:t>
            </a:r>
            <a:endParaRPr lang="en-US" sz="2400" dirty="0"/>
          </a:p>
        </p:txBody>
      </p:sp>
      <p:sp>
        <p:nvSpPr>
          <p:cNvPr id="11" name="Text 9"/>
          <p:cNvSpPr/>
          <p:nvPr/>
        </p:nvSpPr>
        <p:spPr>
          <a:xfrm>
            <a:off x="2642616" y="1508760"/>
            <a:ext cx="2176272"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Precision</a:t>
            </a:r>
            <a:endParaRPr lang="en-US" sz="1000" dirty="0"/>
          </a:p>
        </p:txBody>
      </p:sp>
      <p:sp>
        <p:nvSpPr>
          <p:cNvPr id="12" name="Shape 10"/>
          <p:cNvSpPr/>
          <p:nvPr/>
        </p:nvSpPr>
        <p:spPr>
          <a:xfrm>
            <a:off x="4965192" y="822960"/>
            <a:ext cx="2176272" cy="1097280"/>
          </a:xfrm>
          <a:prstGeom prst="rect">
            <a:avLst/>
          </a:prstGeom>
          <a:solidFill>
            <a:srgbClr val="DD6B20"/>
          </a:solidFill>
          <a:ln/>
          <a:effectLst>
            <a:outerShdw sx="100000" sy="100000" kx="0" ky="0" algn="bl" rotWithShape="0" blurRad="127000" dist="50800" dir="8100000">
              <a:srgbClr val="000000">
                <a:alpha val="18000"/>
              </a:srgbClr>
            </a:outerShdw>
          </a:effectLst>
        </p:spPr>
      </p:sp>
      <p:sp>
        <p:nvSpPr>
          <p:cNvPr id="13" name="Text 11"/>
          <p:cNvSpPr/>
          <p:nvPr/>
        </p:nvSpPr>
        <p:spPr>
          <a:xfrm>
            <a:off x="4965192" y="914400"/>
            <a:ext cx="2176272" cy="59436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59.40%</a:t>
            </a:r>
            <a:endParaRPr lang="en-US" sz="2400" dirty="0"/>
          </a:p>
        </p:txBody>
      </p:sp>
      <p:sp>
        <p:nvSpPr>
          <p:cNvPr id="14" name="Text 12"/>
          <p:cNvSpPr/>
          <p:nvPr/>
        </p:nvSpPr>
        <p:spPr>
          <a:xfrm>
            <a:off x="4965192" y="1508760"/>
            <a:ext cx="2176272"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Recall</a:t>
            </a:r>
            <a:endParaRPr lang="en-US" sz="1000" dirty="0"/>
          </a:p>
        </p:txBody>
      </p:sp>
      <p:sp>
        <p:nvSpPr>
          <p:cNvPr id="15" name="Shape 13"/>
          <p:cNvSpPr/>
          <p:nvPr/>
        </p:nvSpPr>
        <p:spPr>
          <a:xfrm>
            <a:off x="7287768" y="822960"/>
            <a:ext cx="2176272" cy="1097280"/>
          </a:xfrm>
          <a:prstGeom prst="rect">
            <a:avLst/>
          </a:prstGeom>
          <a:solidFill>
            <a:srgbClr val="38A169"/>
          </a:solidFill>
          <a:ln/>
          <a:effectLst>
            <a:outerShdw sx="100000" sy="100000" kx="0" ky="0" algn="bl" rotWithShape="0" blurRad="127000" dist="50800" dir="8100000">
              <a:srgbClr val="000000">
                <a:alpha val="18000"/>
              </a:srgbClr>
            </a:outerShdw>
          </a:effectLst>
        </p:spPr>
      </p:sp>
      <p:sp>
        <p:nvSpPr>
          <p:cNvPr id="16" name="Text 14"/>
          <p:cNvSpPr/>
          <p:nvPr/>
        </p:nvSpPr>
        <p:spPr>
          <a:xfrm>
            <a:off x="7287768" y="914400"/>
            <a:ext cx="2176272" cy="59436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64.03%</a:t>
            </a:r>
            <a:endParaRPr lang="en-US" sz="2400" dirty="0"/>
          </a:p>
        </p:txBody>
      </p:sp>
      <p:sp>
        <p:nvSpPr>
          <p:cNvPr id="17" name="Text 15"/>
          <p:cNvSpPr/>
          <p:nvPr/>
        </p:nvSpPr>
        <p:spPr>
          <a:xfrm>
            <a:off x="7287768" y="1508760"/>
            <a:ext cx="2176272"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F1 Score</a:t>
            </a:r>
            <a:endParaRPr lang="en-US" sz="1000" dirty="0"/>
          </a:p>
        </p:txBody>
      </p:sp>
      <p:sp>
        <p:nvSpPr>
          <p:cNvPr id="18" name="Shape 16"/>
          <p:cNvSpPr/>
          <p:nvPr/>
        </p:nvSpPr>
        <p:spPr>
          <a:xfrm>
            <a:off x="9610344" y="822960"/>
            <a:ext cx="2176272" cy="1097280"/>
          </a:xfrm>
          <a:prstGeom prst="rect">
            <a:avLst/>
          </a:prstGeom>
          <a:solidFill>
            <a:srgbClr val="E63946"/>
          </a:solidFill>
          <a:ln/>
          <a:effectLst>
            <a:outerShdw sx="100000" sy="100000" kx="0" ky="0" algn="bl" rotWithShape="0" blurRad="127000" dist="50800" dir="8100000">
              <a:srgbClr val="000000">
                <a:alpha val="18000"/>
              </a:srgbClr>
            </a:outerShdw>
          </a:effectLst>
        </p:spPr>
      </p:sp>
      <p:sp>
        <p:nvSpPr>
          <p:cNvPr id="19" name="Text 17"/>
          <p:cNvSpPr/>
          <p:nvPr/>
        </p:nvSpPr>
        <p:spPr>
          <a:xfrm>
            <a:off x="9610344" y="914400"/>
            <a:ext cx="2176272" cy="59436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0.9114</a:t>
            </a:r>
            <a:endParaRPr lang="en-US" sz="2400" dirty="0"/>
          </a:p>
        </p:txBody>
      </p:sp>
      <p:sp>
        <p:nvSpPr>
          <p:cNvPr id="20" name="Text 18"/>
          <p:cNvSpPr/>
          <p:nvPr/>
        </p:nvSpPr>
        <p:spPr>
          <a:xfrm>
            <a:off x="9610344" y="1508760"/>
            <a:ext cx="2176272"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ROC-AUC</a:t>
            </a:r>
            <a:endParaRPr lang="en-US" sz="1000" dirty="0"/>
          </a:p>
        </p:txBody>
      </p:sp>
      <p:sp>
        <p:nvSpPr>
          <p:cNvPr id="21" name="Shape 19"/>
          <p:cNvSpPr/>
          <p:nvPr/>
        </p:nvSpPr>
        <p:spPr>
          <a:xfrm>
            <a:off x="320040" y="2057400"/>
            <a:ext cx="5943600" cy="32004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2" name="Text 20"/>
          <p:cNvSpPr/>
          <p:nvPr/>
        </p:nvSpPr>
        <p:spPr>
          <a:xfrm>
            <a:off x="457200" y="2130552"/>
            <a:ext cx="5669280" cy="329184"/>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Confusion Matrix</a:t>
            </a:r>
            <a:endParaRPr lang="en-US" sz="1300" dirty="0"/>
          </a:p>
        </p:txBody>
      </p:sp>
      <p:sp>
        <p:nvSpPr>
          <p:cNvPr id="23" name="Shape 21"/>
          <p:cNvSpPr/>
          <p:nvPr/>
        </p:nvSpPr>
        <p:spPr>
          <a:xfrm>
            <a:off x="548640" y="2606040"/>
            <a:ext cx="2103120" cy="1280160"/>
          </a:xfrm>
          <a:prstGeom prst="rect">
            <a:avLst/>
          </a:prstGeom>
          <a:solidFill>
            <a:srgbClr val="457B9D">
              <a:alpha val="15000"/>
            </a:srgbClr>
          </a:solidFill>
          <a:ln w="25400">
            <a:solidFill>
              <a:srgbClr val="457B9D"/>
            </a:solidFill>
            <a:prstDash val="solid"/>
          </a:ln>
        </p:spPr>
      </p:sp>
      <p:sp>
        <p:nvSpPr>
          <p:cNvPr id="24" name="Text 22"/>
          <p:cNvSpPr/>
          <p:nvPr/>
        </p:nvSpPr>
        <p:spPr>
          <a:xfrm>
            <a:off x="594360" y="2679192"/>
            <a:ext cx="2011680" cy="457200"/>
          </a:xfrm>
          <a:prstGeom prst="rect">
            <a:avLst/>
          </a:prstGeom>
          <a:noFill/>
          <a:ln/>
        </p:spPr>
        <p:txBody>
          <a:bodyPr wrap="square" rtlCol="0" anchor="ctr"/>
          <a:lstStyle/>
          <a:p>
            <a:pPr algn="ctr" indent="0" marL="0">
              <a:buNone/>
            </a:pPr>
            <a:r>
              <a:rPr lang="en-US" sz="950" b="1" dirty="0">
                <a:solidFill>
                  <a:srgbClr val="457B9D"/>
                </a:solidFill>
                <a:latin typeface="Calibri" pitchFamily="34" charset="0"/>
                <a:ea typeface="Calibri" pitchFamily="34" charset="-122"/>
                <a:cs typeface="Calibri" pitchFamily="34" charset="-120"/>
              </a:rPr>
              <a:t>TN</a:t>
            </a:r>
            <a:endParaRPr lang="en-US" sz="950" dirty="0"/>
          </a:p>
          <a:p>
            <a:pPr algn="ctr" indent="0" marL="0">
              <a:buNone/>
            </a:pPr>
            <a:r>
              <a:rPr lang="en-US" sz="950" b="1" dirty="0">
                <a:solidFill>
                  <a:srgbClr val="457B9D"/>
                </a:solidFill>
                <a:latin typeface="Calibri" pitchFamily="34" charset="0"/>
                <a:ea typeface="Calibri" pitchFamily="34" charset="-122"/>
                <a:cs typeface="Calibri" pitchFamily="34" charset="-120"/>
              </a:rPr>
              <a:t>True Non-Fatal</a:t>
            </a:r>
            <a:endParaRPr lang="en-US" sz="950" dirty="0"/>
          </a:p>
        </p:txBody>
      </p:sp>
      <p:sp>
        <p:nvSpPr>
          <p:cNvPr id="25" name="Text 23"/>
          <p:cNvSpPr/>
          <p:nvPr/>
        </p:nvSpPr>
        <p:spPr>
          <a:xfrm>
            <a:off x="594360" y="3154680"/>
            <a:ext cx="2011680" cy="411480"/>
          </a:xfrm>
          <a:prstGeom prst="rect">
            <a:avLst/>
          </a:prstGeom>
          <a:noFill/>
          <a:ln/>
        </p:spPr>
        <p:txBody>
          <a:bodyPr wrap="square" rtlCol="0" anchor="ctr"/>
          <a:lstStyle/>
          <a:p>
            <a:pPr algn="ctr" indent="0" marL="0">
              <a:buNone/>
            </a:pPr>
            <a:r>
              <a:rPr lang="en-US" sz="2400" b="1" dirty="0">
                <a:solidFill>
                  <a:srgbClr val="457B9D"/>
                </a:solidFill>
                <a:latin typeface="Georgia" pitchFamily="34" charset="0"/>
                <a:ea typeface="Georgia" pitchFamily="34" charset="-122"/>
                <a:cs typeface="Georgia" pitchFamily="34" charset="-120"/>
              </a:rPr>
              <a:t>4,206</a:t>
            </a:r>
            <a:endParaRPr lang="en-US" sz="2400" dirty="0"/>
          </a:p>
        </p:txBody>
      </p:sp>
      <p:sp>
        <p:nvSpPr>
          <p:cNvPr id="26" name="Text 24"/>
          <p:cNvSpPr/>
          <p:nvPr/>
        </p:nvSpPr>
        <p:spPr>
          <a:xfrm>
            <a:off x="594360" y="3557016"/>
            <a:ext cx="2011680" cy="274320"/>
          </a:xfrm>
          <a:prstGeom prst="rect">
            <a:avLst/>
          </a:prstGeom>
          <a:noFill/>
          <a:ln/>
        </p:spPr>
        <p:txBody>
          <a:bodyPr wrap="square" rtlCol="0" anchor="ctr"/>
          <a:lstStyle/>
          <a:p>
            <a:pPr algn="ctr" indent="0" marL="0">
              <a:buNone/>
            </a:pPr>
            <a:r>
              <a:rPr lang="en-US" sz="950" dirty="0">
                <a:solidFill>
                  <a:srgbClr val="457B9D"/>
                </a:solidFill>
                <a:latin typeface="Calibri" pitchFamily="34" charset="0"/>
                <a:ea typeface="Calibri" pitchFamily="34" charset="-122"/>
                <a:cs typeface="Calibri" pitchFamily="34" charset="-120"/>
              </a:rPr>
              <a:t>77.0%</a:t>
            </a:r>
            <a:endParaRPr lang="en-US" sz="950" dirty="0"/>
          </a:p>
        </p:txBody>
      </p:sp>
      <p:sp>
        <p:nvSpPr>
          <p:cNvPr id="27" name="Shape 25"/>
          <p:cNvSpPr/>
          <p:nvPr/>
        </p:nvSpPr>
        <p:spPr>
          <a:xfrm>
            <a:off x="2834640" y="2606040"/>
            <a:ext cx="2103120" cy="1280160"/>
          </a:xfrm>
          <a:prstGeom prst="rect">
            <a:avLst/>
          </a:prstGeom>
          <a:solidFill>
            <a:srgbClr val="DD6B20">
              <a:alpha val="15000"/>
            </a:srgbClr>
          </a:solidFill>
          <a:ln w="25400">
            <a:solidFill>
              <a:srgbClr val="DD6B20"/>
            </a:solidFill>
            <a:prstDash val="solid"/>
          </a:ln>
        </p:spPr>
      </p:sp>
      <p:sp>
        <p:nvSpPr>
          <p:cNvPr id="28" name="Text 26"/>
          <p:cNvSpPr/>
          <p:nvPr/>
        </p:nvSpPr>
        <p:spPr>
          <a:xfrm>
            <a:off x="2880360" y="2679192"/>
            <a:ext cx="2011680" cy="457200"/>
          </a:xfrm>
          <a:prstGeom prst="rect">
            <a:avLst/>
          </a:prstGeom>
          <a:noFill/>
          <a:ln/>
        </p:spPr>
        <p:txBody>
          <a:bodyPr wrap="square" rtlCol="0" anchor="ctr"/>
          <a:lstStyle/>
          <a:p>
            <a:pPr algn="ctr" indent="0" marL="0">
              <a:buNone/>
            </a:pPr>
            <a:r>
              <a:rPr lang="en-US" sz="950" b="1" dirty="0">
                <a:solidFill>
                  <a:srgbClr val="DD6B20"/>
                </a:solidFill>
                <a:latin typeface="Calibri" pitchFamily="34" charset="0"/>
                <a:ea typeface="Calibri" pitchFamily="34" charset="-122"/>
                <a:cs typeface="Calibri" pitchFamily="34" charset="-120"/>
              </a:rPr>
              <a:t>FP</a:t>
            </a:r>
            <a:endParaRPr lang="en-US" sz="950" dirty="0"/>
          </a:p>
          <a:p>
            <a:pPr algn="ctr" indent="0" marL="0">
              <a:buNone/>
            </a:pPr>
            <a:r>
              <a:rPr lang="en-US" sz="950" b="1" dirty="0">
                <a:solidFill>
                  <a:srgbClr val="DD6B20"/>
                </a:solidFill>
                <a:latin typeface="Calibri" pitchFamily="34" charset="0"/>
                <a:ea typeface="Calibri" pitchFamily="34" charset="-122"/>
                <a:cs typeface="Calibri" pitchFamily="34" charset="-120"/>
              </a:rPr>
              <a:t>False Fatal</a:t>
            </a:r>
            <a:endParaRPr lang="en-US" sz="950" dirty="0"/>
          </a:p>
        </p:txBody>
      </p:sp>
      <p:sp>
        <p:nvSpPr>
          <p:cNvPr id="29" name="Text 27"/>
          <p:cNvSpPr/>
          <p:nvPr/>
        </p:nvSpPr>
        <p:spPr>
          <a:xfrm>
            <a:off x="2880360" y="3154680"/>
            <a:ext cx="2011680" cy="411480"/>
          </a:xfrm>
          <a:prstGeom prst="rect">
            <a:avLst/>
          </a:prstGeom>
          <a:noFill/>
          <a:ln/>
        </p:spPr>
        <p:txBody>
          <a:bodyPr wrap="square" rtlCol="0" anchor="ctr"/>
          <a:lstStyle/>
          <a:p>
            <a:pPr algn="ctr" indent="0" marL="0">
              <a:buNone/>
            </a:pPr>
            <a:r>
              <a:rPr lang="en-US" sz="2400" b="1" dirty="0">
                <a:solidFill>
                  <a:srgbClr val="DD6B20"/>
                </a:solidFill>
                <a:latin typeface="Georgia" pitchFamily="34" charset="0"/>
                <a:ea typeface="Georgia" pitchFamily="34" charset="-122"/>
                <a:cs typeface="Georgia" pitchFamily="34" charset="-120"/>
              </a:rPr>
              <a:t>249</a:t>
            </a:r>
            <a:endParaRPr lang="en-US" sz="2400" dirty="0"/>
          </a:p>
        </p:txBody>
      </p:sp>
      <p:sp>
        <p:nvSpPr>
          <p:cNvPr id="30" name="Text 28"/>
          <p:cNvSpPr/>
          <p:nvPr/>
        </p:nvSpPr>
        <p:spPr>
          <a:xfrm>
            <a:off x="2880360" y="3557016"/>
            <a:ext cx="2011680" cy="274320"/>
          </a:xfrm>
          <a:prstGeom prst="rect">
            <a:avLst/>
          </a:prstGeom>
          <a:noFill/>
          <a:ln/>
        </p:spPr>
        <p:txBody>
          <a:bodyPr wrap="square" rtlCol="0" anchor="ctr"/>
          <a:lstStyle/>
          <a:p>
            <a:pPr algn="ctr" indent="0" marL="0">
              <a:buNone/>
            </a:pPr>
            <a:r>
              <a:rPr lang="en-US" sz="950" dirty="0">
                <a:solidFill>
                  <a:srgbClr val="DD6B20"/>
                </a:solidFill>
                <a:latin typeface="Calibri" pitchFamily="34" charset="0"/>
                <a:ea typeface="Calibri" pitchFamily="34" charset="-122"/>
                <a:cs typeface="Calibri" pitchFamily="34" charset="-120"/>
              </a:rPr>
              <a:t>4.6%</a:t>
            </a:r>
            <a:endParaRPr lang="en-US" sz="950" dirty="0"/>
          </a:p>
        </p:txBody>
      </p:sp>
      <p:sp>
        <p:nvSpPr>
          <p:cNvPr id="31" name="Shape 29"/>
          <p:cNvSpPr/>
          <p:nvPr/>
        </p:nvSpPr>
        <p:spPr>
          <a:xfrm>
            <a:off x="548640" y="4041648"/>
            <a:ext cx="2103120" cy="1280160"/>
          </a:xfrm>
          <a:prstGeom prst="rect">
            <a:avLst/>
          </a:prstGeom>
          <a:solidFill>
            <a:srgbClr val="E63946">
              <a:alpha val="15000"/>
            </a:srgbClr>
          </a:solidFill>
          <a:ln w="25400">
            <a:solidFill>
              <a:srgbClr val="E63946"/>
            </a:solidFill>
            <a:prstDash val="solid"/>
          </a:ln>
        </p:spPr>
      </p:sp>
      <p:sp>
        <p:nvSpPr>
          <p:cNvPr id="32" name="Text 30"/>
          <p:cNvSpPr/>
          <p:nvPr/>
        </p:nvSpPr>
        <p:spPr>
          <a:xfrm>
            <a:off x="594360" y="4114800"/>
            <a:ext cx="2011680" cy="457200"/>
          </a:xfrm>
          <a:prstGeom prst="rect">
            <a:avLst/>
          </a:prstGeom>
          <a:noFill/>
          <a:ln/>
        </p:spPr>
        <p:txBody>
          <a:bodyPr wrap="square" rtlCol="0" anchor="ctr"/>
          <a:lstStyle/>
          <a:p>
            <a:pPr algn="ctr" indent="0" marL="0">
              <a:buNone/>
            </a:pPr>
            <a:r>
              <a:rPr lang="en-US" sz="950" b="1" dirty="0">
                <a:solidFill>
                  <a:srgbClr val="E63946"/>
                </a:solidFill>
                <a:latin typeface="Calibri" pitchFamily="34" charset="0"/>
                <a:ea typeface="Calibri" pitchFamily="34" charset="-122"/>
                <a:cs typeface="Calibri" pitchFamily="34" charset="-120"/>
              </a:rPr>
              <a:t>FN</a:t>
            </a:r>
            <a:endParaRPr lang="en-US" sz="950" dirty="0"/>
          </a:p>
          <a:p>
            <a:pPr algn="ctr" indent="0" marL="0">
              <a:buNone/>
            </a:pPr>
            <a:r>
              <a:rPr lang="en-US" sz="950" b="1" dirty="0">
                <a:solidFill>
                  <a:srgbClr val="E63946"/>
                </a:solidFill>
                <a:latin typeface="Calibri" pitchFamily="34" charset="0"/>
                <a:ea typeface="Calibri" pitchFamily="34" charset="-122"/>
                <a:cs typeface="Calibri" pitchFamily="34" charset="-120"/>
              </a:rPr>
              <a:t>False Non-Fatal</a:t>
            </a:r>
            <a:endParaRPr lang="en-US" sz="950" dirty="0"/>
          </a:p>
        </p:txBody>
      </p:sp>
      <p:sp>
        <p:nvSpPr>
          <p:cNvPr id="33" name="Text 31"/>
          <p:cNvSpPr/>
          <p:nvPr/>
        </p:nvSpPr>
        <p:spPr>
          <a:xfrm>
            <a:off x="594360" y="4590288"/>
            <a:ext cx="2011680" cy="411480"/>
          </a:xfrm>
          <a:prstGeom prst="rect">
            <a:avLst/>
          </a:prstGeom>
          <a:noFill/>
          <a:ln/>
        </p:spPr>
        <p:txBody>
          <a:bodyPr wrap="square" rtlCol="0" anchor="ctr"/>
          <a:lstStyle/>
          <a:p>
            <a:pPr algn="ctr" indent="0" marL="0">
              <a:buNone/>
            </a:pPr>
            <a:r>
              <a:rPr lang="en-US" sz="2400" b="1" dirty="0">
                <a:solidFill>
                  <a:srgbClr val="E63946"/>
                </a:solidFill>
                <a:latin typeface="Georgia" pitchFamily="34" charset="0"/>
                <a:ea typeface="Georgia" pitchFamily="34" charset="-122"/>
                <a:cs typeface="Georgia" pitchFamily="34" charset="-120"/>
              </a:rPr>
              <a:t>427</a:t>
            </a:r>
            <a:endParaRPr lang="en-US" sz="2400" dirty="0"/>
          </a:p>
        </p:txBody>
      </p:sp>
      <p:sp>
        <p:nvSpPr>
          <p:cNvPr id="34" name="Text 32"/>
          <p:cNvSpPr/>
          <p:nvPr/>
        </p:nvSpPr>
        <p:spPr>
          <a:xfrm>
            <a:off x="594360" y="4992624"/>
            <a:ext cx="2011680" cy="274320"/>
          </a:xfrm>
          <a:prstGeom prst="rect">
            <a:avLst/>
          </a:prstGeom>
          <a:noFill/>
          <a:ln/>
        </p:spPr>
        <p:txBody>
          <a:bodyPr wrap="square" rtlCol="0" anchor="ctr"/>
          <a:lstStyle/>
          <a:p>
            <a:pPr algn="ctr" indent="0" marL="0">
              <a:buNone/>
            </a:pPr>
            <a:r>
              <a:rPr lang="en-US" sz="950" dirty="0">
                <a:solidFill>
                  <a:srgbClr val="E63946"/>
                </a:solidFill>
                <a:latin typeface="Calibri" pitchFamily="34" charset="0"/>
                <a:ea typeface="Calibri" pitchFamily="34" charset="-122"/>
                <a:cs typeface="Calibri" pitchFamily="34" charset="-120"/>
              </a:rPr>
              <a:t>7.8%</a:t>
            </a:r>
            <a:endParaRPr lang="en-US" sz="950" dirty="0"/>
          </a:p>
        </p:txBody>
      </p:sp>
      <p:sp>
        <p:nvSpPr>
          <p:cNvPr id="35" name="Shape 33"/>
          <p:cNvSpPr/>
          <p:nvPr/>
        </p:nvSpPr>
        <p:spPr>
          <a:xfrm>
            <a:off x="2834640" y="4041648"/>
            <a:ext cx="2103120" cy="1280160"/>
          </a:xfrm>
          <a:prstGeom prst="rect">
            <a:avLst/>
          </a:prstGeom>
          <a:solidFill>
            <a:srgbClr val="38A169">
              <a:alpha val="15000"/>
            </a:srgbClr>
          </a:solidFill>
          <a:ln w="25400">
            <a:solidFill>
              <a:srgbClr val="38A169"/>
            </a:solidFill>
            <a:prstDash val="solid"/>
          </a:ln>
        </p:spPr>
      </p:sp>
      <p:sp>
        <p:nvSpPr>
          <p:cNvPr id="36" name="Text 34"/>
          <p:cNvSpPr/>
          <p:nvPr/>
        </p:nvSpPr>
        <p:spPr>
          <a:xfrm>
            <a:off x="2880360" y="4114800"/>
            <a:ext cx="2011680" cy="457200"/>
          </a:xfrm>
          <a:prstGeom prst="rect">
            <a:avLst/>
          </a:prstGeom>
          <a:noFill/>
          <a:ln/>
        </p:spPr>
        <p:txBody>
          <a:bodyPr wrap="square" rtlCol="0" anchor="ctr"/>
          <a:lstStyle/>
          <a:p>
            <a:pPr algn="ctr" indent="0" marL="0">
              <a:buNone/>
            </a:pPr>
            <a:r>
              <a:rPr lang="en-US" sz="950" b="1" dirty="0">
                <a:solidFill>
                  <a:srgbClr val="38A169"/>
                </a:solidFill>
                <a:latin typeface="Calibri" pitchFamily="34" charset="0"/>
                <a:ea typeface="Calibri" pitchFamily="34" charset="-122"/>
                <a:cs typeface="Calibri" pitchFamily="34" charset="-120"/>
              </a:rPr>
              <a:t>TP</a:t>
            </a:r>
            <a:endParaRPr lang="en-US" sz="950" dirty="0"/>
          </a:p>
          <a:p>
            <a:pPr algn="ctr" indent="0" marL="0">
              <a:buNone/>
            </a:pPr>
            <a:r>
              <a:rPr lang="en-US" sz="950" b="1" dirty="0">
                <a:solidFill>
                  <a:srgbClr val="38A169"/>
                </a:solidFill>
                <a:latin typeface="Calibri" pitchFamily="34" charset="0"/>
                <a:ea typeface="Calibri" pitchFamily="34" charset="-122"/>
                <a:cs typeface="Calibri" pitchFamily="34" charset="-120"/>
              </a:rPr>
              <a:t>True Fatal</a:t>
            </a:r>
            <a:endParaRPr lang="en-US" sz="950" dirty="0"/>
          </a:p>
        </p:txBody>
      </p:sp>
      <p:sp>
        <p:nvSpPr>
          <p:cNvPr id="37" name="Text 35"/>
          <p:cNvSpPr/>
          <p:nvPr/>
        </p:nvSpPr>
        <p:spPr>
          <a:xfrm>
            <a:off x="2880360" y="4590288"/>
            <a:ext cx="2011680" cy="411480"/>
          </a:xfrm>
          <a:prstGeom prst="rect">
            <a:avLst/>
          </a:prstGeom>
          <a:noFill/>
          <a:ln/>
        </p:spPr>
        <p:txBody>
          <a:bodyPr wrap="square" rtlCol="0" anchor="ctr"/>
          <a:lstStyle/>
          <a:p>
            <a:pPr algn="ctr" indent="0" marL="0">
              <a:buNone/>
            </a:pPr>
            <a:r>
              <a:rPr lang="en-US" sz="2400" b="1" dirty="0">
                <a:solidFill>
                  <a:srgbClr val="38A169"/>
                </a:solidFill>
                <a:latin typeface="Georgia" pitchFamily="34" charset="0"/>
                <a:ea typeface="Georgia" pitchFamily="34" charset="-122"/>
                <a:cs typeface="Georgia" pitchFamily="34" charset="-120"/>
              </a:rPr>
              <a:t>581</a:t>
            </a:r>
            <a:endParaRPr lang="en-US" sz="2400" dirty="0"/>
          </a:p>
        </p:txBody>
      </p:sp>
      <p:sp>
        <p:nvSpPr>
          <p:cNvPr id="38" name="Text 36"/>
          <p:cNvSpPr/>
          <p:nvPr/>
        </p:nvSpPr>
        <p:spPr>
          <a:xfrm>
            <a:off x="2880360" y="4992624"/>
            <a:ext cx="2011680" cy="274320"/>
          </a:xfrm>
          <a:prstGeom prst="rect">
            <a:avLst/>
          </a:prstGeom>
          <a:noFill/>
          <a:ln/>
        </p:spPr>
        <p:txBody>
          <a:bodyPr wrap="square" rtlCol="0" anchor="ctr"/>
          <a:lstStyle/>
          <a:p>
            <a:pPr algn="ctr" indent="0" marL="0">
              <a:buNone/>
            </a:pPr>
            <a:r>
              <a:rPr lang="en-US" sz="950" dirty="0">
                <a:solidFill>
                  <a:srgbClr val="38A169"/>
                </a:solidFill>
                <a:latin typeface="Calibri" pitchFamily="34" charset="0"/>
                <a:ea typeface="Calibri" pitchFamily="34" charset="-122"/>
                <a:cs typeface="Calibri" pitchFamily="34" charset="-120"/>
              </a:rPr>
              <a:t>10.6%</a:t>
            </a:r>
            <a:endParaRPr lang="en-US" sz="950" dirty="0"/>
          </a:p>
        </p:txBody>
      </p:sp>
      <p:sp>
        <p:nvSpPr>
          <p:cNvPr id="39" name="Text 37"/>
          <p:cNvSpPr/>
          <p:nvPr/>
        </p:nvSpPr>
        <p:spPr>
          <a:xfrm>
            <a:off x="640080" y="2404872"/>
            <a:ext cx="4297680" cy="182880"/>
          </a:xfrm>
          <a:prstGeom prst="rect">
            <a:avLst/>
          </a:prstGeom>
          <a:noFill/>
          <a:ln/>
        </p:spPr>
        <p:txBody>
          <a:bodyPr wrap="square"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Predicted →</a:t>
            </a:r>
            <a:endParaRPr lang="en-US" sz="850" dirty="0"/>
          </a:p>
        </p:txBody>
      </p:sp>
      <p:sp>
        <p:nvSpPr>
          <p:cNvPr id="40" name="Text 38"/>
          <p:cNvSpPr/>
          <p:nvPr/>
        </p:nvSpPr>
        <p:spPr>
          <a:xfrm>
            <a:off x="548640" y="2395728"/>
            <a:ext cx="2103120" cy="201168"/>
          </a:xfrm>
          <a:prstGeom prst="rect">
            <a:avLst/>
          </a:prstGeom>
          <a:noFill/>
          <a:ln/>
        </p:spPr>
        <p:txBody>
          <a:bodyPr wrap="square" rtlCol="0" anchor="ctr"/>
          <a:lstStyle/>
          <a:p>
            <a:pPr algn="ctr" indent="0" marL="0">
              <a:buNone/>
            </a:pPr>
            <a:r>
              <a:rPr lang="en-US" sz="900" dirty="0">
                <a:solidFill>
                  <a:srgbClr val="8B949E"/>
                </a:solidFill>
                <a:latin typeface="Calibri" pitchFamily="34" charset="0"/>
                <a:ea typeface="Calibri" pitchFamily="34" charset="-122"/>
                <a:cs typeface="Calibri" pitchFamily="34" charset="-120"/>
              </a:rPr>
              <a:t>Non-Fatal</a:t>
            </a:r>
            <a:endParaRPr lang="en-US" sz="900" dirty="0"/>
          </a:p>
        </p:txBody>
      </p:sp>
      <p:sp>
        <p:nvSpPr>
          <p:cNvPr id="41" name="Text 39"/>
          <p:cNvSpPr/>
          <p:nvPr/>
        </p:nvSpPr>
        <p:spPr>
          <a:xfrm>
            <a:off x="2834640" y="2395728"/>
            <a:ext cx="2103120" cy="201168"/>
          </a:xfrm>
          <a:prstGeom prst="rect">
            <a:avLst/>
          </a:prstGeom>
          <a:noFill/>
          <a:ln/>
        </p:spPr>
        <p:txBody>
          <a:bodyPr wrap="square" rtlCol="0" anchor="ctr"/>
          <a:lstStyle/>
          <a:p>
            <a:pPr algn="ctr" indent="0" marL="0">
              <a:buNone/>
            </a:pPr>
            <a:r>
              <a:rPr lang="en-US" sz="900" dirty="0">
                <a:solidFill>
                  <a:srgbClr val="8B949E"/>
                </a:solidFill>
                <a:latin typeface="Calibri" pitchFamily="34" charset="0"/>
                <a:ea typeface="Calibri" pitchFamily="34" charset="-122"/>
                <a:cs typeface="Calibri" pitchFamily="34" charset="-120"/>
              </a:rPr>
              <a:t>Fatal</a:t>
            </a:r>
            <a:endParaRPr lang="en-US" sz="900" dirty="0"/>
          </a:p>
        </p:txBody>
      </p:sp>
      <p:sp>
        <p:nvSpPr>
          <p:cNvPr id="42" name="Shape 40"/>
          <p:cNvSpPr/>
          <p:nvPr/>
        </p:nvSpPr>
        <p:spPr>
          <a:xfrm>
            <a:off x="6492240" y="2057400"/>
            <a:ext cx="5486400" cy="320040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43" name="Text 41"/>
          <p:cNvSpPr/>
          <p:nvPr/>
        </p:nvSpPr>
        <p:spPr>
          <a:xfrm>
            <a:off x="6629400" y="2130552"/>
            <a:ext cx="5212080" cy="329184"/>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ROC Curve &amp; AUC Interpretation</a:t>
            </a:r>
            <a:endParaRPr lang="en-US" sz="1300" dirty="0"/>
          </a:p>
        </p:txBody>
      </p:sp>
      <p:sp>
        <p:nvSpPr>
          <p:cNvPr id="44" name="Shape 42"/>
          <p:cNvSpPr/>
          <p:nvPr/>
        </p:nvSpPr>
        <p:spPr>
          <a:xfrm>
            <a:off x="6675120" y="2578608"/>
            <a:ext cx="2560320" cy="2286000"/>
          </a:xfrm>
          <a:prstGeom prst="rect">
            <a:avLst/>
          </a:prstGeom>
          <a:solidFill>
            <a:srgbClr val="F8FAFC"/>
          </a:solidFill>
          <a:ln w="12700">
            <a:solidFill>
              <a:srgbClr val="E2E8F0"/>
            </a:solidFill>
            <a:prstDash val="solid"/>
          </a:ln>
        </p:spPr>
      </p:sp>
      <p:sp>
        <p:nvSpPr>
          <p:cNvPr id="45" name="Shape 43"/>
          <p:cNvSpPr/>
          <p:nvPr/>
        </p:nvSpPr>
        <p:spPr>
          <a:xfrm>
            <a:off x="6675120" y="4864608"/>
            <a:ext cx="2560320" cy="-2286000"/>
          </a:xfrm>
          <a:prstGeom prst="line">
            <a:avLst/>
          </a:prstGeom>
          <a:noFill/>
          <a:ln w="19050">
            <a:solidFill>
              <a:srgbClr val="CCCCCC"/>
            </a:solidFill>
            <a:prstDash val="dash"/>
          </a:ln>
        </p:spPr>
      </p:sp>
      <p:sp>
        <p:nvSpPr>
          <p:cNvPr id="46" name="Shape 44"/>
          <p:cNvSpPr/>
          <p:nvPr/>
        </p:nvSpPr>
        <p:spPr>
          <a:xfrm rot="-4944321">
            <a:off x="6675120" y="3904488"/>
            <a:ext cx="968617" cy="45720"/>
          </a:xfrm>
          <a:prstGeom prst="rect">
            <a:avLst/>
          </a:prstGeom>
          <a:solidFill>
            <a:srgbClr val="E63946"/>
          </a:solidFill>
          <a:ln/>
        </p:spPr>
      </p:sp>
      <p:sp>
        <p:nvSpPr>
          <p:cNvPr id="47" name="Shape 45"/>
          <p:cNvSpPr/>
          <p:nvPr/>
        </p:nvSpPr>
        <p:spPr>
          <a:xfrm rot="-4461465">
            <a:off x="6803136" y="3447288"/>
            <a:ext cx="474784" cy="45720"/>
          </a:xfrm>
          <a:prstGeom prst="rect">
            <a:avLst/>
          </a:prstGeom>
          <a:solidFill>
            <a:srgbClr val="E63946"/>
          </a:solidFill>
          <a:ln/>
        </p:spPr>
      </p:sp>
      <p:sp>
        <p:nvSpPr>
          <p:cNvPr id="48" name="Shape 46"/>
          <p:cNvSpPr/>
          <p:nvPr/>
        </p:nvSpPr>
        <p:spPr>
          <a:xfrm rot="-3300479">
            <a:off x="6931152" y="3081528"/>
            <a:ext cx="446467" cy="45720"/>
          </a:xfrm>
          <a:prstGeom prst="rect">
            <a:avLst/>
          </a:prstGeom>
          <a:solidFill>
            <a:srgbClr val="E63946"/>
          </a:solidFill>
          <a:ln/>
        </p:spPr>
      </p:sp>
      <p:sp>
        <p:nvSpPr>
          <p:cNvPr id="49" name="Shape 47"/>
          <p:cNvSpPr/>
          <p:nvPr/>
        </p:nvSpPr>
        <p:spPr>
          <a:xfrm rot="-1845763">
            <a:off x="7187184" y="2852928"/>
            <a:ext cx="446935" cy="45720"/>
          </a:xfrm>
          <a:prstGeom prst="rect">
            <a:avLst/>
          </a:prstGeom>
          <a:solidFill>
            <a:srgbClr val="E63946"/>
          </a:solidFill>
          <a:ln/>
        </p:spPr>
      </p:sp>
      <p:sp>
        <p:nvSpPr>
          <p:cNvPr id="50" name="Shape 48"/>
          <p:cNvSpPr/>
          <p:nvPr/>
        </p:nvSpPr>
        <p:spPr>
          <a:xfrm rot="-994440">
            <a:off x="7571232" y="2738628"/>
            <a:ext cx="400696" cy="45720"/>
          </a:xfrm>
          <a:prstGeom prst="rect">
            <a:avLst/>
          </a:prstGeom>
          <a:solidFill>
            <a:srgbClr val="E63946"/>
          </a:solidFill>
          <a:ln/>
        </p:spPr>
      </p:sp>
      <p:sp>
        <p:nvSpPr>
          <p:cNvPr id="51" name="Shape 49"/>
          <p:cNvSpPr/>
          <p:nvPr/>
        </p:nvSpPr>
        <p:spPr>
          <a:xfrm rot="-607480">
            <a:off x="7955280" y="2670048"/>
            <a:ext cx="390123" cy="45720"/>
          </a:xfrm>
          <a:prstGeom prst="rect">
            <a:avLst/>
          </a:prstGeom>
          <a:solidFill>
            <a:srgbClr val="E63946"/>
          </a:solidFill>
          <a:ln/>
        </p:spPr>
      </p:sp>
      <p:sp>
        <p:nvSpPr>
          <p:cNvPr id="52" name="Shape 50"/>
          <p:cNvSpPr/>
          <p:nvPr/>
        </p:nvSpPr>
        <p:spPr>
          <a:xfrm rot="-407338">
            <a:off x="8339328" y="2624328"/>
            <a:ext cx="386760" cy="45720"/>
          </a:xfrm>
          <a:prstGeom prst="rect">
            <a:avLst/>
          </a:prstGeom>
          <a:solidFill>
            <a:srgbClr val="E63946"/>
          </a:solidFill>
          <a:ln/>
        </p:spPr>
      </p:sp>
      <p:sp>
        <p:nvSpPr>
          <p:cNvPr id="53" name="Shape 51"/>
          <p:cNvSpPr/>
          <p:nvPr/>
        </p:nvSpPr>
        <p:spPr>
          <a:xfrm rot="-306130">
            <a:off x="8723376" y="2578608"/>
            <a:ext cx="514101" cy="45720"/>
          </a:xfrm>
          <a:prstGeom prst="rect">
            <a:avLst/>
          </a:prstGeom>
          <a:solidFill>
            <a:srgbClr val="E63946"/>
          </a:solidFill>
          <a:ln/>
        </p:spPr>
      </p:sp>
      <p:sp>
        <p:nvSpPr>
          <p:cNvPr id="54" name="Text 52"/>
          <p:cNvSpPr/>
          <p:nvPr/>
        </p:nvSpPr>
        <p:spPr>
          <a:xfrm>
            <a:off x="6812280" y="2715768"/>
            <a:ext cx="1371600" cy="256032"/>
          </a:xfrm>
          <a:prstGeom prst="rect">
            <a:avLst/>
          </a:prstGeom>
          <a:noFill/>
          <a:ln/>
        </p:spPr>
        <p:txBody>
          <a:bodyPr wrap="square" rtlCol="0" anchor="ctr"/>
          <a:lstStyle/>
          <a:p>
            <a:pPr indent="0" marL="0">
              <a:buNone/>
            </a:pPr>
            <a:r>
              <a:rPr lang="en-US" sz="1000" b="1" dirty="0">
                <a:solidFill>
                  <a:srgbClr val="E63946"/>
                </a:solidFill>
                <a:latin typeface="Georgia" pitchFamily="34" charset="0"/>
                <a:ea typeface="Georgia" pitchFamily="34" charset="-122"/>
                <a:cs typeface="Georgia" pitchFamily="34" charset="-120"/>
              </a:rPr>
              <a:t>AUC = 0.9114</a:t>
            </a:r>
            <a:endParaRPr lang="en-US" sz="1000" dirty="0"/>
          </a:p>
        </p:txBody>
      </p:sp>
      <p:sp>
        <p:nvSpPr>
          <p:cNvPr id="55" name="Text 53"/>
          <p:cNvSpPr/>
          <p:nvPr/>
        </p:nvSpPr>
        <p:spPr>
          <a:xfrm>
            <a:off x="9418320" y="2651760"/>
            <a:ext cx="2377440" cy="54864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  AUC &gt; 0.90 = Excellent discriminatory power</a:t>
            </a:r>
            <a:endParaRPr lang="en-US" sz="1000" dirty="0"/>
          </a:p>
        </p:txBody>
      </p:sp>
      <p:sp>
        <p:nvSpPr>
          <p:cNvPr id="56" name="Text 54"/>
          <p:cNvSpPr/>
          <p:nvPr/>
        </p:nvSpPr>
        <p:spPr>
          <a:xfrm>
            <a:off x="9418320" y="3291840"/>
            <a:ext cx="2377440" cy="54864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  Model correctly ranks fatal above non-fatal 91.1% of the time</a:t>
            </a:r>
            <a:endParaRPr lang="en-US" sz="1000" dirty="0"/>
          </a:p>
        </p:txBody>
      </p:sp>
      <p:sp>
        <p:nvSpPr>
          <p:cNvPr id="57" name="Text 55"/>
          <p:cNvSpPr/>
          <p:nvPr/>
        </p:nvSpPr>
        <p:spPr>
          <a:xfrm>
            <a:off x="9418320" y="3931920"/>
            <a:ext cx="2377440" cy="54864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  Lower threshold &lt; 0.5 → higher Recall, catch more fatal cases</a:t>
            </a:r>
            <a:endParaRPr lang="en-US" sz="1000" dirty="0"/>
          </a:p>
        </p:txBody>
      </p:sp>
      <p:sp>
        <p:nvSpPr>
          <p:cNvPr id="58" name="Text 56"/>
          <p:cNvSpPr/>
          <p:nvPr/>
        </p:nvSpPr>
        <p:spPr>
          <a:xfrm>
            <a:off x="9418320" y="4572000"/>
            <a:ext cx="2377440" cy="548640"/>
          </a:xfrm>
          <a:prstGeom prst="rect">
            <a:avLst/>
          </a:prstGeom>
          <a:noFill/>
          <a:ln/>
        </p:spPr>
        <p:txBody>
          <a:bodyPr wrap="square" rtlCol="0" anchor="ctr"/>
          <a:lstStyle/>
          <a:p>
            <a:pPr indent="0" marL="0">
              <a:lnSpc>
                <a:spcPct val="130000"/>
              </a:lnSpc>
              <a:buNone/>
            </a:pPr>
            <a:r>
              <a:rPr lang="en-US" sz="1000" dirty="0">
                <a:solidFill>
                  <a:srgbClr val="334155"/>
                </a:solidFill>
                <a:latin typeface="Calibri" pitchFamily="34" charset="0"/>
                <a:ea typeface="Calibri" pitchFamily="34" charset="-122"/>
                <a:cs typeface="Calibri" pitchFamily="34" charset="-120"/>
              </a:rPr>
              <a:t>⚖️  Trade-off: precision vs recall based on deployment need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Feature Importance — LightGBM Built-in &amp; SHAP</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13</a:t>
            </a:r>
            <a:endParaRPr lang="en-US" sz="1200" dirty="0"/>
          </a:p>
        </p:txBody>
      </p:sp>
      <p:sp>
        <p:nvSpPr>
          <p:cNvPr id="6" name="Shape 4"/>
          <p:cNvSpPr/>
          <p:nvPr/>
        </p:nvSpPr>
        <p:spPr>
          <a:xfrm>
            <a:off x="320040" y="822960"/>
            <a:ext cx="7132320" cy="53949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Text 5"/>
          <p:cNvSpPr/>
          <p:nvPr/>
        </p:nvSpPr>
        <p:spPr>
          <a:xfrm>
            <a:off x="457200" y="896112"/>
            <a:ext cx="6858000" cy="329184"/>
          </a:xfrm>
          <a:prstGeom prst="rect">
            <a:avLst/>
          </a:prstGeom>
          <a:noFill/>
          <a:ln/>
        </p:spPr>
        <p:txBody>
          <a:bodyPr wrap="square" rtlCol="0" anchor="ctr"/>
          <a:lstStyle/>
          <a:p>
            <a:pPr indent="0" marL="0">
              <a:buNone/>
            </a:pPr>
            <a:r>
              <a:rPr lang="en-US" sz="1250" b="1" dirty="0">
                <a:solidFill>
                  <a:srgbClr val="0D1B2A"/>
                </a:solidFill>
                <a:latin typeface="Georgia" pitchFamily="34" charset="0"/>
                <a:ea typeface="Georgia" pitchFamily="34" charset="-122"/>
                <a:cs typeface="Georgia" pitchFamily="34" charset="-120"/>
              </a:rPr>
              <a:t>Built-in Feature Importance (Split Count)</a:t>
            </a:r>
            <a:endParaRPr lang="en-US" sz="1250" dirty="0"/>
          </a:p>
        </p:txBody>
      </p:sp>
      <p:sp>
        <p:nvSpPr>
          <p:cNvPr id="8" name="Text 6"/>
          <p:cNvSpPr/>
          <p:nvPr/>
        </p:nvSpPr>
        <p:spPr>
          <a:xfrm>
            <a:off x="411480" y="1353312"/>
            <a:ext cx="1554480" cy="292608"/>
          </a:xfrm>
          <a:prstGeom prst="rect">
            <a:avLst/>
          </a:prstGeom>
          <a:noFill/>
          <a:ln/>
        </p:spPr>
        <p:txBody>
          <a:bodyPr wrap="square" rtlCol="0" anchor="ctr"/>
          <a:lstStyle/>
          <a:p>
            <a:pPr algn="r" indent="0" marL="0">
              <a:buNone/>
            </a:pPr>
            <a:r>
              <a:rPr lang="en-US" sz="900" b="1" dirty="0">
                <a:solidFill>
                  <a:srgbClr val="0D1B2A"/>
                </a:solidFill>
                <a:latin typeface="Calibri" pitchFamily="34" charset="0"/>
                <a:ea typeface="Calibri" pitchFamily="34" charset="-122"/>
                <a:cs typeface="Calibri" pitchFamily="34" charset="-120"/>
              </a:rPr>
              <a:t>Latitude</a:t>
            </a:r>
            <a:endParaRPr lang="en-US" sz="900" dirty="0"/>
          </a:p>
        </p:txBody>
      </p:sp>
      <p:sp>
        <p:nvSpPr>
          <p:cNvPr id="9" name="Shape 7"/>
          <p:cNvSpPr/>
          <p:nvPr/>
        </p:nvSpPr>
        <p:spPr>
          <a:xfrm>
            <a:off x="2057400" y="1389888"/>
            <a:ext cx="4846320" cy="219456"/>
          </a:xfrm>
          <a:prstGeom prst="rect">
            <a:avLst/>
          </a:prstGeom>
          <a:solidFill>
            <a:srgbClr val="E63946"/>
          </a:solidFill>
          <a:ln/>
        </p:spPr>
      </p:sp>
      <p:sp>
        <p:nvSpPr>
          <p:cNvPr id="10" name="Text 8"/>
          <p:cNvSpPr/>
          <p:nvPr/>
        </p:nvSpPr>
        <p:spPr>
          <a:xfrm>
            <a:off x="6967728" y="1389888"/>
            <a:ext cx="640080" cy="219456"/>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1248</a:t>
            </a:r>
            <a:endParaRPr lang="en-US" sz="850" dirty="0"/>
          </a:p>
        </p:txBody>
      </p:sp>
      <p:sp>
        <p:nvSpPr>
          <p:cNvPr id="11" name="Shape 9"/>
          <p:cNvSpPr/>
          <p:nvPr/>
        </p:nvSpPr>
        <p:spPr>
          <a:xfrm>
            <a:off x="6949440" y="1389888"/>
            <a:ext cx="384048" cy="219456"/>
          </a:xfrm>
          <a:prstGeom prst="rect">
            <a:avLst/>
          </a:prstGeom>
          <a:solidFill>
            <a:srgbClr val="E63946"/>
          </a:solidFill>
          <a:ln/>
        </p:spPr>
      </p:sp>
      <p:sp>
        <p:nvSpPr>
          <p:cNvPr id="12" name="Text 10"/>
          <p:cNvSpPr/>
          <p:nvPr/>
        </p:nvSpPr>
        <p:spPr>
          <a:xfrm>
            <a:off x="6949440" y="1389888"/>
            <a:ext cx="384048"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a:t>
            </a:r>
            <a:endParaRPr lang="en-US" sz="700" dirty="0"/>
          </a:p>
        </p:txBody>
      </p:sp>
      <p:sp>
        <p:nvSpPr>
          <p:cNvPr id="13" name="Text 11"/>
          <p:cNvSpPr/>
          <p:nvPr/>
        </p:nvSpPr>
        <p:spPr>
          <a:xfrm>
            <a:off x="411480" y="1691640"/>
            <a:ext cx="1554480" cy="292608"/>
          </a:xfrm>
          <a:prstGeom prst="rect">
            <a:avLst/>
          </a:prstGeom>
          <a:noFill/>
          <a:ln/>
        </p:spPr>
        <p:txBody>
          <a:bodyPr wrap="square" rtlCol="0" anchor="ctr"/>
          <a:lstStyle/>
          <a:p>
            <a:pPr algn="r" indent="0" marL="0">
              <a:buNone/>
            </a:pPr>
            <a:r>
              <a:rPr lang="en-US" sz="900" b="1" dirty="0">
                <a:solidFill>
                  <a:srgbClr val="0D1B2A"/>
                </a:solidFill>
                <a:latin typeface="Calibri" pitchFamily="34" charset="0"/>
                <a:ea typeface="Calibri" pitchFamily="34" charset="-122"/>
                <a:cs typeface="Calibri" pitchFamily="34" charset="-120"/>
              </a:rPr>
              <a:t>Longitude</a:t>
            </a:r>
            <a:endParaRPr lang="en-US" sz="900" dirty="0"/>
          </a:p>
        </p:txBody>
      </p:sp>
      <p:sp>
        <p:nvSpPr>
          <p:cNvPr id="14" name="Shape 12"/>
          <p:cNvSpPr/>
          <p:nvPr/>
        </p:nvSpPr>
        <p:spPr>
          <a:xfrm>
            <a:off x="2057400" y="1728216"/>
            <a:ext cx="4621090" cy="219456"/>
          </a:xfrm>
          <a:prstGeom prst="rect">
            <a:avLst/>
          </a:prstGeom>
          <a:solidFill>
            <a:srgbClr val="E63946"/>
          </a:solidFill>
          <a:ln/>
        </p:spPr>
      </p:sp>
      <p:sp>
        <p:nvSpPr>
          <p:cNvPr id="15" name="Text 13"/>
          <p:cNvSpPr/>
          <p:nvPr/>
        </p:nvSpPr>
        <p:spPr>
          <a:xfrm>
            <a:off x="6742498" y="1728216"/>
            <a:ext cx="640080" cy="219456"/>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1190</a:t>
            </a:r>
            <a:endParaRPr lang="en-US" sz="850" dirty="0"/>
          </a:p>
        </p:txBody>
      </p:sp>
      <p:sp>
        <p:nvSpPr>
          <p:cNvPr id="16" name="Shape 14"/>
          <p:cNvSpPr/>
          <p:nvPr/>
        </p:nvSpPr>
        <p:spPr>
          <a:xfrm>
            <a:off x="6949440" y="1728216"/>
            <a:ext cx="384048" cy="219456"/>
          </a:xfrm>
          <a:prstGeom prst="rect">
            <a:avLst/>
          </a:prstGeom>
          <a:solidFill>
            <a:srgbClr val="E63946"/>
          </a:solidFill>
          <a:ln/>
        </p:spPr>
      </p:sp>
      <p:sp>
        <p:nvSpPr>
          <p:cNvPr id="17" name="Text 15"/>
          <p:cNvSpPr/>
          <p:nvPr/>
        </p:nvSpPr>
        <p:spPr>
          <a:xfrm>
            <a:off x="6949440" y="1728216"/>
            <a:ext cx="384048"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a:t>
            </a:r>
            <a:endParaRPr lang="en-US" sz="700" dirty="0"/>
          </a:p>
        </p:txBody>
      </p:sp>
      <p:sp>
        <p:nvSpPr>
          <p:cNvPr id="18" name="Text 16"/>
          <p:cNvSpPr/>
          <p:nvPr/>
        </p:nvSpPr>
        <p:spPr>
          <a:xfrm>
            <a:off x="411480" y="2029968"/>
            <a:ext cx="1554480" cy="292608"/>
          </a:xfrm>
          <a:prstGeom prst="rect">
            <a:avLst/>
          </a:prstGeom>
          <a:noFill/>
          <a:ln/>
        </p:spPr>
        <p:txBody>
          <a:bodyPr wrap="square" rtlCol="0" anchor="ctr"/>
          <a:lstStyle/>
          <a:p>
            <a:pPr algn="r" indent="0" marL="0">
              <a:buNone/>
            </a:pPr>
            <a:r>
              <a:rPr lang="en-US" sz="900" b="1" dirty="0">
                <a:solidFill>
                  <a:srgbClr val="0D1B2A"/>
                </a:solidFill>
                <a:latin typeface="Calibri" pitchFamily="34" charset="0"/>
                <a:ea typeface="Calibri" pitchFamily="34" charset="-122"/>
                <a:cs typeface="Calibri" pitchFamily="34" charset="-120"/>
              </a:rPr>
              <a:t>PRECINCT</a:t>
            </a:r>
            <a:endParaRPr lang="en-US" sz="900" dirty="0"/>
          </a:p>
        </p:txBody>
      </p:sp>
      <p:sp>
        <p:nvSpPr>
          <p:cNvPr id="19" name="Shape 17"/>
          <p:cNvSpPr/>
          <p:nvPr/>
        </p:nvSpPr>
        <p:spPr>
          <a:xfrm>
            <a:off x="2057400" y="2066544"/>
            <a:ext cx="4077433" cy="219456"/>
          </a:xfrm>
          <a:prstGeom prst="rect">
            <a:avLst/>
          </a:prstGeom>
          <a:solidFill>
            <a:srgbClr val="E63946"/>
          </a:solidFill>
          <a:ln/>
        </p:spPr>
      </p:sp>
      <p:sp>
        <p:nvSpPr>
          <p:cNvPr id="20" name="Text 18"/>
          <p:cNvSpPr/>
          <p:nvPr/>
        </p:nvSpPr>
        <p:spPr>
          <a:xfrm>
            <a:off x="6198841" y="2066544"/>
            <a:ext cx="640080" cy="219456"/>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1050</a:t>
            </a:r>
            <a:endParaRPr lang="en-US" sz="850" dirty="0"/>
          </a:p>
        </p:txBody>
      </p:sp>
      <p:sp>
        <p:nvSpPr>
          <p:cNvPr id="21" name="Shape 19"/>
          <p:cNvSpPr/>
          <p:nvPr/>
        </p:nvSpPr>
        <p:spPr>
          <a:xfrm>
            <a:off x="6949440" y="2066544"/>
            <a:ext cx="384048" cy="219456"/>
          </a:xfrm>
          <a:prstGeom prst="rect">
            <a:avLst/>
          </a:prstGeom>
          <a:solidFill>
            <a:srgbClr val="E63946"/>
          </a:solidFill>
          <a:ln/>
        </p:spPr>
      </p:sp>
      <p:sp>
        <p:nvSpPr>
          <p:cNvPr id="22" name="Text 20"/>
          <p:cNvSpPr/>
          <p:nvPr/>
        </p:nvSpPr>
        <p:spPr>
          <a:xfrm>
            <a:off x="6949440" y="2066544"/>
            <a:ext cx="384048"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a:t>
            </a:r>
            <a:endParaRPr lang="en-US" sz="700" dirty="0"/>
          </a:p>
        </p:txBody>
      </p:sp>
      <p:sp>
        <p:nvSpPr>
          <p:cNvPr id="23" name="Text 21"/>
          <p:cNvSpPr/>
          <p:nvPr/>
        </p:nvSpPr>
        <p:spPr>
          <a:xfrm>
            <a:off x="411480" y="2368296"/>
            <a:ext cx="1554480" cy="292608"/>
          </a:xfrm>
          <a:prstGeom prst="rect">
            <a:avLst/>
          </a:prstGeom>
          <a:noFill/>
          <a:ln/>
        </p:spPr>
        <p:txBody>
          <a:bodyPr wrap="square" rtlCol="0" anchor="ctr"/>
          <a:lstStyle/>
          <a:p>
            <a:pPr algn="r" indent="0" marL="0">
              <a:buNone/>
            </a:pPr>
            <a:r>
              <a:rPr lang="en-US" sz="900" b="1" dirty="0">
                <a:solidFill>
                  <a:srgbClr val="0D1B2A"/>
                </a:solidFill>
                <a:latin typeface="Calibri" pitchFamily="34" charset="0"/>
                <a:ea typeface="Calibri" pitchFamily="34" charset="-122"/>
                <a:cs typeface="Calibri" pitchFamily="34" charset="-120"/>
              </a:rPr>
              <a:t>HOUR</a:t>
            </a:r>
            <a:endParaRPr lang="en-US" sz="900" dirty="0"/>
          </a:p>
        </p:txBody>
      </p:sp>
      <p:sp>
        <p:nvSpPr>
          <p:cNvPr id="24" name="Shape 22"/>
          <p:cNvSpPr/>
          <p:nvPr/>
        </p:nvSpPr>
        <p:spPr>
          <a:xfrm>
            <a:off x="2057400" y="2404872"/>
            <a:ext cx="3572608" cy="219456"/>
          </a:xfrm>
          <a:prstGeom prst="rect">
            <a:avLst/>
          </a:prstGeom>
          <a:solidFill>
            <a:srgbClr val="E63946"/>
          </a:solidFill>
          <a:ln/>
        </p:spPr>
      </p:sp>
      <p:sp>
        <p:nvSpPr>
          <p:cNvPr id="25" name="Text 23"/>
          <p:cNvSpPr/>
          <p:nvPr/>
        </p:nvSpPr>
        <p:spPr>
          <a:xfrm>
            <a:off x="5694016" y="2404872"/>
            <a:ext cx="640080" cy="219456"/>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920</a:t>
            </a:r>
            <a:endParaRPr lang="en-US" sz="850" dirty="0"/>
          </a:p>
        </p:txBody>
      </p:sp>
      <p:sp>
        <p:nvSpPr>
          <p:cNvPr id="26" name="Shape 24"/>
          <p:cNvSpPr/>
          <p:nvPr/>
        </p:nvSpPr>
        <p:spPr>
          <a:xfrm>
            <a:off x="6949440" y="2404872"/>
            <a:ext cx="384048" cy="219456"/>
          </a:xfrm>
          <a:prstGeom prst="rect">
            <a:avLst/>
          </a:prstGeom>
          <a:solidFill>
            <a:srgbClr val="E63946"/>
          </a:solidFill>
          <a:ln/>
        </p:spPr>
      </p:sp>
      <p:sp>
        <p:nvSpPr>
          <p:cNvPr id="27" name="Text 25"/>
          <p:cNvSpPr/>
          <p:nvPr/>
        </p:nvSpPr>
        <p:spPr>
          <a:xfrm>
            <a:off x="6949440" y="2404872"/>
            <a:ext cx="384048"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a:t>
            </a:r>
            <a:endParaRPr lang="en-US" sz="700" dirty="0"/>
          </a:p>
        </p:txBody>
      </p:sp>
      <p:sp>
        <p:nvSpPr>
          <p:cNvPr id="28" name="Text 26"/>
          <p:cNvSpPr/>
          <p:nvPr/>
        </p:nvSpPr>
        <p:spPr>
          <a:xfrm>
            <a:off x="411480" y="2706624"/>
            <a:ext cx="1554480" cy="292608"/>
          </a:xfrm>
          <a:prstGeom prst="rect">
            <a:avLst/>
          </a:prstGeom>
          <a:noFill/>
          <a:ln/>
        </p:spPr>
        <p:txBody>
          <a:bodyPr wrap="square" rtlCol="0" anchor="ctr"/>
          <a:lstStyle/>
          <a:p>
            <a:pPr algn="r" indent="0" marL="0">
              <a:buNone/>
            </a:pPr>
            <a:r>
              <a:rPr lang="en-US" sz="900" b="1" dirty="0">
                <a:solidFill>
                  <a:srgbClr val="0D1B2A"/>
                </a:solidFill>
                <a:latin typeface="Calibri" pitchFamily="34" charset="0"/>
                <a:ea typeface="Calibri" pitchFamily="34" charset="-122"/>
                <a:cs typeface="Calibri" pitchFamily="34" charset="-120"/>
              </a:rPr>
              <a:t>VIC_AGE_GROUP</a:t>
            </a:r>
            <a:endParaRPr lang="en-US" sz="900" dirty="0"/>
          </a:p>
        </p:txBody>
      </p:sp>
      <p:sp>
        <p:nvSpPr>
          <p:cNvPr id="29" name="Shape 27"/>
          <p:cNvSpPr/>
          <p:nvPr/>
        </p:nvSpPr>
        <p:spPr>
          <a:xfrm>
            <a:off x="2057400" y="2743200"/>
            <a:ext cx="3261946" cy="219456"/>
          </a:xfrm>
          <a:prstGeom prst="rect">
            <a:avLst/>
          </a:prstGeom>
          <a:solidFill>
            <a:srgbClr val="E63946"/>
          </a:solidFill>
          <a:ln/>
        </p:spPr>
      </p:sp>
      <p:sp>
        <p:nvSpPr>
          <p:cNvPr id="30" name="Text 28"/>
          <p:cNvSpPr/>
          <p:nvPr/>
        </p:nvSpPr>
        <p:spPr>
          <a:xfrm>
            <a:off x="5383354" y="2743200"/>
            <a:ext cx="640080" cy="219456"/>
          </a:xfrm>
          <a:prstGeom prst="rect">
            <a:avLst/>
          </a:prstGeom>
          <a:noFill/>
          <a:ln/>
        </p:spPr>
        <p:txBody>
          <a:bodyPr wrap="square" rtlCol="0" anchor="ctr"/>
          <a:lstStyle/>
          <a:p>
            <a:pPr indent="0" marL="0">
              <a:buNone/>
            </a:pPr>
            <a:r>
              <a:rPr lang="en-US" sz="850" b="1" dirty="0">
                <a:solidFill>
                  <a:srgbClr val="E63946"/>
                </a:solidFill>
                <a:latin typeface="Calibri" pitchFamily="34" charset="0"/>
                <a:ea typeface="Calibri" pitchFamily="34" charset="-122"/>
                <a:cs typeface="Calibri" pitchFamily="34" charset="-120"/>
              </a:rPr>
              <a:t>840</a:t>
            </a:r>
            <a:endParaRPr lang="en-US" sz="850" dirty="0"/>
          </a:p>
        </p:txBody>
      </p:sp>
      <p:sp>
        <p:nvSpPr>
          <p:cNvPr id="31" name="Shape 29"/>
          <p:cNvSpPr/>
          <p:nvPr/>
        </p:nvSpPr>
        <p:spPr>
          <a:xfrm>
            <a:off x="6949440" y="2743200"/>
            <a:ext cx="384048" cy="219456"/>
          </a:xfrm>
          <a:prstGeom prst="rect">
            <a:avLst/>
          </a:prstGeom>
          <a:solidFill>
            <a:srgbClr val="E63946"/>
          </a:solidFill>
          <a:ln/>
        </p:spPr>
      </p:sp>
      <p:sp>
        <p:nvSpPr>
          <p:cNvPr id="32" name="Text 30"/>
          <p:cNvSpPr/>
          <p:nvPr/>
        </p:nvSpPr>
        <p:spPr>
          <a:xfrm>
            <a:off x="6949440" y="2743200"/>
            <a:ext cx="384048" cy="219456"/>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TOP</a:t>
            </a:r>
            <a:endParaRPr lang="en-US" sz="700" dirty="0"/>
          </a:p>
        </p:txBody>
      </p:sp>
      <p:sp>
        <p:nvSpPr>
          <p:cNvPr id="33" name="Text 31"/>
          <p:cNvSpPr/>
          <p:nvPr/>
        </p:nvSpPr>
        <p:spPr>
          <a:xfrm>
            <a:off x="411480" y="3044952"/>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YEAR</a:t>
            </a:r>
            <a:endParaRPr lang="en-US" sz="900" dirty="0"/>
          </a:p>
        </p:txBody>
      </p:sp>
      <p:sp>
        <p:nvSpPr>
          <p:cNvPr id="34" name="Shape 32"/>
          <p:cNvSpPr/>
          <p:nvPr/>
        </p:nvSpPr>
        <p:spPr>
          <a:xfrm>
            <a:off x="2057400" y="3081528"/>
            <a:ext cx="2757121" cy="219456"/>
          </a:xfrm>
          <a:prstGeom prst="rect">
            <a:avLst/>
          </a:prstGeom>
          <a:solidFill>
            <a:srgbClr val="457B9D">
              <a:alpha val="65000"/>
            </a:srgbClr>
          </a:solidFill>
          <a:ln/>
        </p:spPr>
      </p:sp>
      <p:sp>
        <p:nvSpPr>
          <p:cNvPr id="35" name="Text 33"/>
          <p:cNvSpPr/>
          <p:nvPr/>
        </p:nvSpPr>
        <p:spPr>
          <a:xfrm>
            <a:off x="4878529" y="3081528"/>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710</a:t>
            </a:r>
            <a:endParaRPr lang="en-US" sz="850" dirty="0"/>
          </a:p>
        </p:txBody>
      </p:sp>
      <p:sp>
        <p:nvSpPr>
          <p:cNvPr id="36" name="Text 34"/>
          <p:cNvSpPr/>
          <p:nvPr/>
        </p:nvSpPr>
        <p:spPr>
          <a:xfrm>
            <a:off x="411480" y="3383280"/>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MONTH</a:t>
            </a:r>
            <a:endParaRPr lang="en-US" sz="900" dirty="0"/>
          </a:p>
        </p:txBody>
      </p:sp>
      <p:sp>
        <p:nvSpPr>
          <p:cNvPr id="37" name="Shape 35"/>
          <p:cNvSpPr/>
          <p:nvPr/>
        </p:nvSpPr>
        <p:spPr>
          <a:xfrm>
            <a:off x="2057400" y="3419856"/>
            <a:ext cx="2407627" cy="219456"/>
          </a:xfrm>
          <a:prstGeom prst="rect">
            <a:avLst/>
          </a:prstGeom>
          <a:solidFill>
            <a:srgbClr val="457B9D">
              <a:alpha val="65000"/>
            </a:srgbClr>
          </a:solidFill>
          <a:ln/>
        </p:spPr>
      </p:sp>
      <p:sp>
        <p:nvSpPr>
          <p:cNvPr id="38" name="Text 36"/>
          <p:cNvSpPr/>
          <p:nvPr/>
        </p:nvSpPr>
        <p:spPr>
          <a:xfrm>
            <a:off x="4529035" y="3419856"/>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620</a:t>
            </a:r>
            <a:endParaRPr lang="en-US" sz="850" dirty="0"/>
          </a:p>
        </p:txBody>
      </p:sp>
      <p:sp>
        <p:nvSpPr>
          <p:cNvPr id="39" name="Text 37"/>
          <p:cNvSpPr/>
          <p:nvPr/>
        </p:nvSpPr>
        <p:spPr>
          <a:xfrm>
            <a:off x="411480" y="3721608"/>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PERP_AGE_GROUP</a:t>
            </a:r>
            <a:endParaRPr lang="en-US" sz="900" dirty="0"/>
          </a:p>
        </p:txBody>
      </p:sp>
      <p:sp>
        <p:nvSpPr>
          <p:cNvPr id="40" name="Shape 38"/>
          <p:cNvSpPr/>
          <p:nvPr/>
        </p:nvSpPr>
        <p:spPr>
          <a:xfrm>
            <a:off x="2057400" y="3758184"/>
            <a:ext cx="2291129" cy="219456"/>
          </a:xfrm>
          <a:prstGeom prst="rect">
            <a:avLst/>
          </a:prstGeom>
          <a:solidFill>
            <a:srgbClr val="457B9D">
              <a:alpha val="65000"/>
            </a:srgbClr>
          </a:solidFill>
          <a:ln/>
        </p:spPr>
      </p:sp>
      <p:sp>
        <p:nvSpPr>
          <p:cNvPr id="41" name="Text 39"/>
          <p:cNvSpPr/>
          <p:nvPr/>
        </p:nvSpPr>
        <p:spPr>
          <a:xfrm>
            <a:off x="4412537" y="3758184"/>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590</a:t>
            </a:r>
            <a:endParaRPr lang="en-US" sz="850" dirty="0"/>
          </a:p>
        </p:txBody>
      </p:sp>
      <p:sp>
        <p:nvSpPr>
          <p:cNvPr id="42" name="Text 40"/>
          <p:cNvSpPr/>
          <p:nvPr/>
        </p:nvSpPr>
        <p:spPr>
          <a:xfrm>
            <a:off x="411480" y="4059936"/>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BORO</a:t>
            </a:r>
            <a:endParaRPr lang="en-US" sz="900" dirty="0"/>
          </a:p>
        </p:txBody>
      </p:sp>
      <p:sp>
        <p:nvSpPr>
          <p:cNvPr id="43" name="Shape 41"/>
          <p:cNvSpPr/>
          <p:nvPr/>
        </p:nvSpPr>
        <p:spPr>
          <a:xfrm>
            <a:off x="2057400" y="4096512"/>
            <a:ext cx="1980467" cy="219456"/>
          </a:xfrm>
          <a:prstGeom prst="rect">
            <a:avLst/>
          </a:prstGeom>
          <a:solidFill>
            <a:srgbClr val="457B9D">
              <a:alpha val="65000"/>
            </a:srgbClr>
          </a:solidFill>
          <a:ln/>
        </p:spPr>
      </p:sp>
      <p:sp>
        <p:nvSpPr>
          <p:cNvPr id="44" name="Text 42"/>
          <p:cNvSpPr/>
          <p:nvPr/>
        </p:nvSpPr>
        <p:spPr>
          <a:xfrm>
            <a:off x="4101875" y="4096512"/>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510</a:t>
            </a:r>
            <a:endParaRPr lang="en-US" sz="850" dirty="0"/>
          </a:p>
        </p:txBody>
      </p:sp>
      <p:sp>
        <p:nvSpPr>
          <p:cNvPr id="45" name="Text 43"/>
          <p:cNvSpPr/>
          <p:nvPr/>
        </p:nvSpPr>
        <p:spPr>
          <a:xfrm>
            <a:off x="411480" y="4398264"/>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VIC_RACE</a:t>
            </a:r>
            <a:endParaRPr lang="en-US" sz="900" dirty="0"/>
          </a:p>
        </p:txBody>
      </p:sp>
      <p:sp>
        <p:nvSpPr>
          <p:cNvPr id="46" name="Shape 44"/>
          <p:cNvSpPr/>
          <p:nvPr/>
        </p:nvSpPr>
        <p:spPr>
          <a:xfrm>
            <a:off x="2057400" y="4434840"/>
            <a:ext cx="1708638" cy="219456"/>
          </a:xfrm>
          <a:prstGeom prst="rect">
            <a:avLst/>
          </a:prstGeom>
          <a:solidFill>
            <a:srgbClr val="457B9D">
              <a:alpha val="65000"/>
            </a:srgbClr>
          </a:solidFill>
          <a:ln/>
        </p:spPr>
      </p:sp>
      <p:sp>
        <p:nvSpPr>
          <p:cNvPr id="47" name="Text 45"/>
          <p:cNvSpPr/>
          <p:nvPr/>
        </p:nvSpPr>
        <p:spPr>
          <a:xfrm>
            <a:off x="3830046" y="4434840"/>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440</a:t>
            </a:r>
            <a:endParaRPr lang="en-US" sz="850" dirty="0"/>
          </a:p>
        </p:txBody>
      </p:sp>
      <p:sp>
        <p:nvSpPr>
          <p:cNvPr id="48" name="Text 46"/>
          <p:cNvSpPr/>
          <p:nvPr/>
        </p:nvSpPr>
        <p:spPr>
          <a:xfrm>
            <a:off x="411480" y="4736592"/>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PERP_RACE</a:t>
            </a:r>
            <a:endParaRPr lang="en-US" sz="900" dirty="0"/>
          </a:p>
        </p:txBody>
      </p:sp>
      <p:sp>
        <p:nvSpPr>
          <p:cNvPr id="49" name="Shape 47"/>
          <p:cNvSpPr/>
          <p:nvPr/>
        </p:nvSpPr>
        <p:spPr>
          <a:xfrm>
            <a:off x="2057400" y="4773168"/>
            <a:ext cx="1475642" cy="219456"/>
          </a:xfrm>
          <a:prstGeom prst="rect">
            <a:avLst/>
          </a:prstGeom>
          <a:solidFill>
            <a:srgbClr val="457B9D">
              <a:alpha val="65000"/>
            </a:srgbClr>
          </a:solidFill>
          <a:ln/>
        </p:spPr>
      </p:sp>
      <p:sp>
        <p:nvSpPr>
          <p:cNvPr id="50" name="Text 48"/>
          <p:cNvSpPr/>
          <p:nvPr/>
        </p:nvSpPr>
        <p:spPr>
          <a:xfrm>
            <a:off x="3597050" y="4773168"/>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380</a:t>
            </a:r>
            <a:endParaRPr lang="en-US" sz="850" dirty="0"/>
          </a:p>
        </p:txBody>
      </p:sp>
      <p:sp>
        <p:nvSpPr>
          <p:cNvPr id="51" name="Text 49"/>
          <p:cNvSpPr/>
          <p:nvPr/>
        </p:nvSpPr>
        <p:spPr>
          <a:xfrm>
            <a:off x="411480" y="5074920"/>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IS_NIGHT</a:t>
            </a:r>
            <a:endParaRPr lang="en-US" sz="900" dirty="0"/>
          </a:p>
        </p:txBody>
      </p:sp>
      <p:sp>
        <p:nvSpPr>
          <p:cNvPr id="52" name="Shape 50"/>
          <p:cNvSpPr/>
          <p:nvPr/>
        </p:nvSpPr>
        <p:spPr>
          <a:xfrm>
            <a:off x="2057400" y="5111496"/>
            <a:ext cx="1203813" cy="219456"/>
          </a:xfrm>
          <a:prstGeom prst="rect">
            <a:avLst/>
          </a:prstGeom>
          <a:solidFill>
            <a:srgbClr val="457B9D">
              <a:alpha val="65000"/>
            </a:srgbClr>
          </a:solidFill>
          <a:ln/>
        </p:spPr>
      </p:sp>
      <p:sp>
        <p:nvSpPr>
          <p:cNvPr id="53" name="Text 51"/>
          <p:cNvSpPr/>
          <p:nvPr/>
        </p:nvSpPr>
        <p:spPr>
          <a:xfrm>
            <a:off x="3325221" y="5111496"/>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310</a:t>
            </a:r>
            <a:endParaRPr lang="en-US" sz="850" dirty="0"/>
          </a:p>
        </p:txBody>
      </p:sp>
      <p:sp>
        <p:nvSpPr>
          <p:cNvPr id="54" name="Text 52"/>
          <p:cNvSpPr/>
          <p:nvPr/>
        </p:nvSpPr>
        <p:spPr>
          <a:xfrm>
            <a:off x="411480" y="5413248"/>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VIC_SEX</a:t>
            </a:r>
            <a:endParaRPr lang="en-US" sz="900" dirty="0"/>
          </a:p>
        </p:txBody>
      </p:sp>
      <p:sp>
        <p:nvSpPr>
          <p:cNvPr id="55" name="Shape 53"/>
          <p:cNvSpPr/>
          <p:nvPr/>
        </p:nvSpPr>
        <p:spPr>
          <a:xfrm>
            <a:off x="2057400" y="5449824"/>
            <a:ext cx="1087315" cy="219456"/>
          </a:xfrm>
          <a:prstGeom prst="rect">
            <a:avLst/>
          </a:prstGeom>
          <a:solidFill>
            <a:srgbClr val="457B9D">
              <a:alpha val="65000"/>
            </a:srgbClr>
          </a:solidFill>
          <a:ln/>
        </p:spPr>
      </p:sp>
      <p:sp>
        <p:nvSpPr>
          <p:cNvPr id="56" name="Text 54"/>
          <p:cNvSpPr/>
          <p:nvPr/>
        </p:nvSpPr>
        <p:spPr>
          <a:xfrm>
            <a:off x="3208723" y="5449824"/>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280</a:t>
            </a:r>
            <a:endParaRPr lang="en-US" sz="850" dirty="0"/>
          </a:p>
        </p:txBody>
      </p:sp>
      <p:sp>
        <p:nvSpPr>
          <p:cNvPr id="57" name="Text 55"/>
          <p:cNvSpPr/>
          <p:nvPr/>
        </p:nvSpPr>
        <p:spPr>
          <a:xfrm>
            <a:off x="411480" y="5751576"/>
            <a:ext cx="1554480" cy="292608"/>
          </a:xfrm>
          <a:prstGeom prst="rect">
            <a:avLst/>
          </a:prstGeom>
          <a:noFill/>
          <a:ln/>
        </p:spPr>
        <p:txBody>
          <a:bodyPr wrap="square"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IS_WEEKEND</a:t>
            </a:r>
            <a:endParaRPr lang="en-US" sz="900" dirty="0"/>
          </a:p>
        </p:txBody>
      </p:sp>
      <p:sp>
        <p:nvSpPr>
          <p:cNvPr id="58" name="Shape 56"/>
          <p:cNvSpPr/>
          <p:nvPr/>
        </p:nvSpPr>
        <p:spPr>
          <a:xfrm>
            <a:off x="2057400" y="5788152"/>
            <a:ext cx="815487" cy="219456"/>
          </a:xfrm>
          <a:prstGeom prst="rect">
            <a:avLst/>
          </a:prstGeom>
          <a:solidFill>
            <a:srgbClr val="457B9D">
              <a:alpha val="65000"/>
            </a:srgbClr>
          </a:solidFill>
          <a:ln/>
        </p:spPr>
      </p:sp>
      <p:sp>
        <p:nvSpPr>
          <p:cNvPr id="59" name="Text 57"/>
          <p:cNvSpPr/>
          <p:nvPr/>
        </p:nvSpPr>
        <p:spPr>
          <a:xfrm>
            <a:off x="2936895" y="5788152"/>
            <a:ext cx="640080" cy="219456"/>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210</a:t>
            </a:r>
            <a:endParaRPr lang="en-US" sz="850" dirty="0"/>
          </a:p>
        </p:txBody>
      </p:sp>
      <p:sp>
        <p:nvSpPr>
          <p:cNvPr id="60" name="Shape 58"/>
          <p:cNvSpPr/>
          <p:nvPr/>
        </p:nvSpPr>
        <p:spPr>
          <a:xfrm>
            <a:off x="7635240" y="822960"/>
            <a:ext cx="4206240" cy="539496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61" name="Text 59"/>
          <p:cNvSpPr/>
          <p:nvPr/>
        </p:nvSpPr>
        <p:spPr>
          <a:xfrm>
            <a:off x="7772400" y="896112"/>
            <a:ext cx="3931920" cy="329184"/>
          </a:xfrm>
          <a:prstGeom prst="rect">
            <a:avLst/>
          </a:prstGeom>
          <a:noFill/>
          <a:ln/>
        </p:spPr>
        <p:txBody>
          <a:bodyPr wrap="square" rtlCol="0" anchor="ctr"/>
          <a:lstStyle/>
          <a:p>
            <a:pPr indent="0" marL="0">
              <a:buNone/>
            </a:pPr>
            <a:r>
              <a:rPr lang="en-US" sz="1250" b="1" dirty="0">
                <a:solidFill>
                  <a:srgbClr val="0D1B2A"/>
                </a:solidFill>
                <a:latin typeface="Georgia" pitchFamily="34" charset="0"/>
                <a:ea typeface="Georgia" pitchFamily="34" charset="-122"/>
                <a:cs typeface="Georgia" pitchFamily="34" charset="-120"/>
              </a:rPr>
              <a:t>SHAP Analysis — Key Insights</a:t>
            </a:r>
            <a:endParaRPr lang="en-US" sz="1250" dirty="0"/>
          </a:p>
        </p:txBody>
      </p:sp>
      <p:sp>
        <p:nvSpPr>
          <p:cNvPr id="62" name="Shape 60"/>
          <p:cNvSpPr/>
          <p:nvPr/>
        </p:nvSpPr>
        <p:spPr>
          <a:xfrm>
            <a:off x="7635240" y="1316736"/>
            <a:ext cx="4206240" cy="868680"/>
          </a:xfrm>
          <a:prstGeom prst="rect">
            <a:avLst/>
          </a:prstGeom>
          <a:solidFill>
            <a:srgbClr val="E63946">
              <a:alpha val="8000"/>
            </a:srgbClr>
          </a:solidFill>
          <a:ln w="10160">
            <a:solidFill>
              <a:srgbClr val="E63946"/>
            </a:solidFill>
            <a:prstDash val="solid"/>
          </a:ln>
        </p:spPr>
      </p:sp>
      <p:sp>
        <p:nvSpPr>
          <p:cNvPr id="63" name="Text 61"/>
          <p:cNvSpPr/>
          <p:nvPr/>
        </p:nvSpPr>
        <p:spPr>
          <a:xfrm>
            <a:off x="7772400" y="1371600"/>
            <a:ext cx="3931920" cy="256032"/>
          </a:xfrm>
          <a:prstGeom prst="rect">
            <a:avLst/>
          </a:prstGeom>
          <a:noFill/>
          <a:ln/>
        </p:spPr>
        <p:txBody>
          <a:bodyPr wrap="square" rtlCol="0" anchor="ctr"/>
          <a:lstStyle/>
          <a:p>
            <a:pPr indent="0" marL="0">
              <a:buNone/>
            </a:pPr>
            <a:r>
              <a:rPr lang="en-US" sz="1000" b="1" dirty="0">
                <a:solidFill>
                  <a:srgbClr val="E63946"/>
                </a:solidFill>
                <a:latin typeface="Calibri" pitchFamily="34" charset="0"/>
                <a:ea typeface="Calibri" pitchFamily="34" charset="-122"/>
                <a:cs typeface="Calibri" pitchFamily="34" charset="-120"/>
              </a:rPr>
              <a:t>📍 Location (Lat/Lon/Precinct)</a:t>
            </a:r>
            <a:endParaRPr lang="en-US" sz="1000" dirty="0"/>
          </a:p>
        </p:txBody>
      </p:sp>
      <p:sp>
        <p:nvSpPr>
          <p:cNvPr id="64" name="Text 62"/>
          <p:cNvSpPr/>
          <p:nvPr/>
        </p:nvSpPr>
        <p:spPr>
          <a:xfrm>
            <a:off x="7772400" y="1627632"/>
            <a:ext cx="3931920" cy="502920"/>
          </a:xfrm>
          <a:prstGeom prst="rect">
            <a:avLst/>
          </a:prstGeom>
          <a:noFill/>
          <a:ln/>
        </p:spPr>
        <p:txBody>
          <a:bodyPr wrap="square" rtlCol="0" anchor="ctr"/>
          <a:lstStyle/>
          <a:p>
            <a:pPr indent="0" marL="0">
              <a:lnSpc>
                <a:spcPct val="125000"/>
              </a:lnSpc>
              <a:buNone/>
            </a:pPr>
            <a:r>
              <a:rPr lang="en-US" sz="900" dirty="0">
                <a:solidFill>
                  <a:srgbClr val="334155"/>
                </a:solidFill>
                <a:latin typeface="Calibri" pitchFamily="34" charset="0"/>
                <a:ea typeface="Calibri" pitchFamily="34" charset="-122"/>
                <a:cs typeface="Calibri" pitchFamily="34" charset="-120"/>
              </a:rPr>
              <a:t>WHERE a shooting occurs is the #1 predictor of fatality. Location encodes proximity to trauma centers, police density, and neighborhood resources simultaneously.</a:t>
            </a:r>
            <a:endParaRPr lang="en-US" sz="900" dirty="0"/>
          </a:p>
        </p:txBody>
      </p:sp>
      <p:sp>
        <p:nvSpPr>
          <p:cNvPr id="65" name="Shape 63"/>
          <p:cNvSpPr/>
          <p:nvPr/>
        </p:nvSpPr>
        <p:spPr>
          <a:xfrm>
            <a:off x="7635240" y="2286000"/>
            <a:ext cx="4206240" cy="868680"/>
          </a:xfrm>
          <a:prstGeom prst="rect">
            <a:avLst/>
          </a:prstGeom>
          <a:solidFill>
            <a:srgbClr val="0D1B2A">
              <a:alpha val="8000"/>
            </a:srgbClr>
          </a:solidFill>
          <a:ln w="10160">
            <a:solidFill>
              <a:srgbClr val="0D1B2A"/>
            </a:solidFill>
            <a:prstDash val="solid"/>
          </a:ln>
        </p:spPr>
      </p:sp>
      <p:sp>
        <p:nvSpPr>
          <p:cNvPr id="66" name="Text 64"/>
          <p:cNvSpPr/>
          <p:nvPr/>
        </p:nvSpPr>
        <p:spPr>
          <a:xfrm>
            <a:off x="7772400" y="2340864"/>
            <a:ext cx="3931920" cy="256032"/>
          </a:xfrm>
          <a:prstGeom prst="rect">
            <a:avLst/>
          </a:prstGeom>
          <a:noFill/>
          <a:ln/>
        </p:spPr>
        <p:txBody>
          <a:bodyPr wrap="square" rtlCol="0" anchor="ctr"/>
          <a:lstStyle/>
          <a:p>
            <a:pPr indent="0" marL="0">
              <a:buNone/>
            </a:pPr>
            <a:r>
              <a:rPr lang="en-US" sz="1000" b="1" dirty="0">
                <a:solidFill>
                  <a:srgbClr val="0D1B2A"/>
                </a:solidFill>
                <a:latin typeface="Calibri" pitchFamily="34" charset="0"/>
                <a:ea typeface="Calibri" pitchFamily="34" charset="-122"/>
                <a:cs typeface="Calibri" pitchFamily="34" charset="-120"/>
              </a:rPr>
              <a:t>🕐 Hour of Incident</a:t>
            </a:r>
            <a:endParaRPr lang="en-US" sz="1000" dirty="0"/>
          </a:p>
        </p:txBody>
      </p:sp>
      <p:sp>
        <p:nvSpPr>
          <p:cNvPr id="67" name="Text 65"/>
          <p:cNvSpPr/>
          <p:nvPr/>
        </p:nvSpPr>
        <p:spPr>
          <a:xfrm>
            <a:off x="7772400" y="2596896"/>
            <a:ext cx="3931920" cy="502920"/>
          </a:xfrm>
          <a:prstGeom prst="rect">
            <a:avLst/>
          </a:prstGeom>
          <a:noFill/>
          <a:ln/>
        </p:spPr>
        <p:txBody>
          <a:bodyPr wrap="square" rtlCol="0" anchor="ctr"/>
          <a:lstStyle/>
          <a:p>
            <a:pPr indent="0" marL="0">
              <a:lnSpc>
                <a:spcPct val="125000"/>
              </a:lnSpc>
              <a:buNone/>
            </a:pPr>
            <a:r>
              <a:rPr lang="en-US" sz="900" dirty="0">
                <a:solidFill>
                  <a:srgbClr val="334155"/>
                </a:solidFill>
                <a:latin typeface="Calibri" pitchFamily="34" charset="0"/>
                <a:ea typeface="Calibri" pitchFamily="34" charset="-122"/>
                <a:cs typeface="Calibri" pitchFamily="34" charset="-120"/>
              </a:rPr>
              <a:t>Late-night shootings (10PM–5AM) miss the 'golden hour' for trauma care — EMS response is slower, fewer bystanders can assist, and hospitals are less staffed.</a:t>
            </a:r>
            <a:endParaRPr lang="en-US" sz="900" dirty="0"/>
          </a:p>
        </p:txBody>
      </p:sp>
      <p:sp>
        <p:nvSpPr>
          <p:cNvPr id="68" name="Shape 66"/>
          <p:cNvSpPr/>
          <p:nvPr/>
        </p:nvSpPr>
        <p:spPr>
          <a:xfrm>
            <a:off x="7635240" y="3255264"/>
            <a:ext cx="4206240" cy="868680"/>
          </a:xfrm>
          <a:prstGeom prst="rect">
            <a:avLst/>
          </a:prstGeom>
          <a:solidFill>
            <a:srgbClr val="DD6B20">
              <a:alpha val="8000"/>
            </a:srgbClr>
          </a:solidFill>
          <a:ln w="10160">
            <a:solidFill>
              <a:srgbClr val="DD6B20"/>
            </a:solidFill>
            <a:prstDash val="solid"/>
          </a:ln>
        </p:spPr>
      </p:sp>
      <p:sp>
        <p:nvSpPr>
          <p:cNvPr id="69" name="Text 67"/>
          <p:cNvSpPr/>
          <p:nvPr/>
        </p:nvSpPr>
        <p:spPr>
          <a:xfrm>
            <a:off x="7772400" y="3310128"/>
            <a:ext cx="3931920" cy="256032"/>
          </a:xfrm>
          <a:prstGeom prst="rect">
            <a:avLst/>
          </a:prstGeom>
          <a:noFill/>
          <a:ln/>
        </p:spPr>
        <p:txBody>
          <a:bodyPr wrap="square" rtlCol="0" anchor="ctr"/>
          <a:lstStyle/>
          <a:p>
            <a:pPr indent="0" marL="0">
              <a:buNone/>
            </a:pPr>
            <a:r>
              <a:rPr lang="en-US" sz="1000" b="1" dirty="0">
                <a:solidFill>
                  <a:srgbClr val="DD6B20"/>
                </a:solidFill>
                <a:latin typeface="Calibri" pitchFamily="34" charset="0"/>
                <a:ea typeface="Calibri" pitchFamily="34" charset="-122"/>
                <a:cs typeface="Calibri" pitchFamily="34" charset="-120"/>
              </a:rPr>
              <a:t>👤 Victim Age Group</a:t>
            </a:r>
            <a:endParaRPr lang="en-US" sz="1000" dirty="0"/>
          </a:p>
        </p:txBody>
      </p:sp>
      <p:sp>
        <p:nvSpPr>
          <p:cNvPr id="70" name="Text 68"/>
          <p:cNvSpPr/>
          <p:nvPr/>
        </p:nvSpPr>
        <p:spPr>
          <a:xfrm>
            <a:off x="7772400" y="3566160"/>
            <a:ext cx="3931920" cy="502920"/>
          </a:xfrm>
          <a:prstGeom prst="rect">
            <a:avLst/>
          </a:prstGeom>
          <a:noFill/>
          <a:ln/>
        </p:spPr>
        <p:txBody>
          <a:bodyPr wrap="square" rtlCol="0" anchor="ctr"/>
          <a:lstStyle/>
          <a:p>
            <a:pPr indent="0" marL="0">
              <a:lnSpc>
                <a:spcPct val="125000"/>
              </a:lnSpc>
              <a:buNone/>
            </a:pPr>
            <a:r>
              <a:rPr lang="en-US" sz="900" dirty="0">
                <a:solidFill>
                  <a:srgbClr val="334155"/>
                </a:solidFill>
                <a:latin typeface="Calibri" pitchFamily="34" charset="0"/>
                <a:ea typeface="Calibri" pitchFamily="34" charset="-122"/>
                <a:cs typeface="Calibri" pitchFamily="34" charset="-120"/>
              </a:rPr>
              <a:t>Older victims (45+) have lower physical resilience to gunshot wounds. Model correctly identifies age as a key biological fatality predictor.</a:t>
            </a:r>
            <a:endParaRPr lang="en-US" sz="900" dirty="0"/>
          </a:p>
        </p:txBody>
      </p:sp>
      <p:sp>
        <p:nvSpPr>
          <p:cNvPr id="71" name="Shape 69"/>
          <p:cNvSpPr/>
          <p:nvPr/>
        </p:nvSpPr>
        <p:spPr>
          <a:xfrm>
            <a:off x="7635240" y="4224528"/>
            <a:ext cx="4206240" cy="868680"/>
          </a:xfrm>
          <a:prstGeom prst="rect">
            <a:avLst/>
          </a:prstGeom>
          <a:solidFill>
            <a:srgbClr val="457B9D">
              <a:alpha val="8000"/>
            </a:srgbClr>
          </a:solidFill>
          <a:ln w="10160">
            <a:solidFill>
              <a:srgbClr val="457B9D"/>
            </a:solidFill>
            <a:prstDash val="solid"/>
          </a:ln>
        </p:spPr>
      </p:sp>
      <p:sp>
        <p:nvSpPr>
          <p:cNvPr id="72" name="Text 70"/>
          <p:cNvSpPr/>
          <p:nvPr/>
        </p:nvSpPr>
        <p:spPr>
          <a:xfrm>
            <a:off x="7772400" y="4279392"/>
            <a:ext cx="3931920" cy="256032"/>
          </a:xfrm>
          <a:prstGeom prst="rect">
            <a:avLst/>
          </a:prstGeom>
          <a:noFill/>
          <a:ln/>
        </p:spPr>
        <p:txBody>
          <a:bodyPr wrap="square" rtlCol="0" anchor="ctr"/>
          <a:lstStyle/>
          <a:p>
            <a:pPr indent="0" marL="0">
              <a:buNone/>
            </a:pPr>
            <a:r>
              <a:rPr lang="en-US" sz="1000" b="1" dirty="0">
                <a:solidFill>
                  <a:srgbClr val="457B9D"/>
                </a:solidFill>
                <a:latin typeface="Calibri" pitchFamily="34" charset="0"/>
                <a:ea typeface="Calibri" pitchFamily="34" charset="-122"/>
                <a:cs typeface="Calibri" pitchFamily="34" charset="-120"/>
              </a:rPr>
              <a:t>📅 Year &amp; Month</a:t>
            </a:r>
            <a:endParaRPr lang="en-US" sz="1000" dirty="0"/>
          </a:p>
        </p:txBody>
      </p:sp>
      <p:sp>
        <p:nvSpPr>
          <p:cNvPr id="73" name="Text 71"/>
          <p:cNvSpPr/>
          <p:nvPr/>
        </p:nvSpPr>
        <p:spPr>
          <a:xfrm>
            <a:off x="7772400" y="4535424"/>
            <a:ext cx="3931920" cy="502920"/>
          </a:xfrm>
          <a:prstGeom prst="rect">
            <a:avLst/>
          </a:prstGeom>
          <a:noFill/>
          <a:ln/>
        </p:spPr>
        <p:txBody>
          <a:bodyPr wrap="square" rtlCol="0" anchor="ctr"/>
          <a:lstStyle/>
          <a:p>
            <a:pPr indent="0" marL="0">
              <a:lnSpc>
                <a:spcPct val="125000"/>
              </a:lnSpc>
              <a:buNone/>
            </a:pPr>
            <a:r>
              <a:rPr lang="en-US" sz="900" dirty="0">
                <a:solidFill>
                  <a:srgbClr val="334155"/>
                </a:solidFill>
                <a:latin typeface="Calibri" pitchFamily="34" charset="0"/>
                <a:ea typeface="Calibri" pitchFamily="34" charset="-122"/>
                <a:cs typeface="Calibri" pitchFamily="34" charset="-120"/>
              </a:rPr>
              <a:t>Temporal patterns matter — post-2020 incidents have different fatality profiles, and seasonal patterns (summer months) show elevated incident counts.</a:t>
            </a:r>
            <a:endParaRPr lang="en-US" sz="900" dirty="0"/>
          </a:p>
        </p:txBody>
      </p:sp>
      <p:sp>
        <p:nvSpPr>
          <p:cNvPr id="74" name="Shape 72"/>
          <p:cNvSpPr/>
          <p:nvPr/>
        </p:nvSpPr>
        <p:spPr>
          <a:xfrm>
            <a:off x="7635240" y="5193792"/>
            <a:ext cx="4206240" cy="868680"/>
          </a:xfrm>
          <a:prstGeom prst="rect">
            <a:avLst/>
          </a:prstGeom>
          <a:solidFill>
            <a:srgbClr val="38A169">
              <a:alpha val="8000"/>
            </a:srgbClr>
          </a:solidFill>
          <a:ln w="10160">
            <a:solidFill>
              <a:srgbClr val="38A169"/>
            </a:solidFill>
            <a:prstDash val="solid"/>
          </a:ln>
        </p:spPr>
      </p:sp>
      <p:sp>
        <p:nvSpPr>
          <p:cNvPr id="75" name="Text 73"/>
          <p:cNvSpPr/>
          <p:nvPr/>
        </p:nvSpPr>
        <p:spPr>
          <a:xfrm>
            <a:off x="7772400" y="5248656"/>
            <a:ext cx="3931920" cy="256032"/>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 PERP_AGE Unknown</a:t>
            </a:r>
            <a:endParaRPr lang="en-US" sz="1000" dirty="0"/>
          </a:p>
        </p:txBody>
      </p:sp>
      <p:sp>
        <p:nvSpPr>
          <p:cNvPr id="76" name="Text 74"/>
          <p:cNvSpPr/>
          <p:nvPr/>
        </p:nvSpPr>
        <p:spPr>
          <a:xfrm>
            <a:off x="7772400" y="5504688"/>
            <a:ext cx="3931920" cy="502920"/>
          </a:xfrm>
          <a:prstGeom prst="rect">
            <a:avLst/>
          </a:prstGeom>
          <a:noFill/>
          <a:ln/>
        </p:spPr>
        <p:txBody>
          <a:bodyPr wrap="square" rtlCol="0" anchor="ctr"/>
          <a:lstStyle/>
          <a:p>
            <a:pPr indent="0" marL="0">
              <a:lnSpc>
                <a:spcPct val="125000"/>
              </a:lnSpc>
              <a:buNone/>
            </a:pPr>
            <a:r>
              <a:rPr lang="en-US" sz="900" dirty="0">
                <a:solidFill>
                  <a:srgbClr val="334155"/>
                </a:solidFill>
                <a:latin typeface="Calibri" pitchFamily="34" charset="0"/>
                <a:ea typeface="Calibri" pitchFamily="34" charset="-122"/>
                <a:cs typeface="Calibri" pitchFamily="34" charset="-120"/>
              </a:rPr>
              <a:t>Unknown perpetrator is itself a signal — incidents where no perp is identified differ systematically from those where the perp is known.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Model Explainability — SHAP Analysis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14</a:t>
            </a:r>
            <a:endParaRPr lang="en-US" sz="1200" dirty="0"/>
          </a:p>
        </p:txBody>
      </p:sp>
      <p:sp>
        <p:nvSpPr>
          <p:cNvPr id="6" name="Shape 4"/>
          <p:cNvSpPr/>
          <p:nvPr/>
        </p:nvSpPr>
        <p:spPr>
          <a:xfrm>
            <a:off x="320040" y="822960"/>
            <a:ext cx="3749040" cy="31546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22960"/>
            <a:ext cx="3749040" cy="658368"/>
          </a:xfrm>
          <a:prstGeom prst="rect">
            <a:avLst/>
          </a:prstGeom>
          <a:solidFill>
            <a:srgbClr val="0D1B2A"/>
          </a:solidFill>
          <a:ln/>
        </p:spPr>
      </p:sp>
      <p:sp>
        <p:nvSpPr>
          <p:cNvPr id="8" name="Text 6"/>
          <p:cNvSpPr/>
          <p:nvPr/>
        </p:nvSpPr>
        <p:spPr>
          <a:xfrm>
            <a:off x="411480" y="877824"/>
            <a:ext cx="3566160" cy="292608"/>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  Beeswarm Plot</a:t>
            </a:r>
            <a:endParaRPr lang="en-US" sz="1300" dirty="0"/>
          </a:p>
        </p:txBody>
      </p:sp>
      <p:sp>
        <p:nvSpPr>
          <p:cNvPr id="9" name="Text 7"/>
          <p:cNvSpPr/>
          <p:nvPr/>
        </p:nvSpPr>
        <p:spPr>
          <a:xfrm>
            <a:off x="411480" y="1161288"/>
            <a:ext cx="3566160" cy="237744"/>
          </a:xfrm>
          <a:prstGeom prst="rect">
            <a:avLst/>
          </a:prstGeom>
          <a:noFill/>
          <a:ln/>
        </p:spPr>
        <p:txBody>
          <a:bodyPr wrap="square" rtlCol="0" anchor="ctr"/>
          <a:lstStyle/>
          <a:p>
            <a:pPr indent="0" marL="0">
              <a:buNone/>
            </a:pPr>
            <a:r>
              <a:rPr lang="en-US" sz="1000" dirty="0">
                <a:solidFill>
                  <a:srgbClr val="FFFFFF">
                    <a:alpha val="80000"/>
                  </a:srgbClr>
                </a:solidFill>
                <a:latin typeface="Calibri" pitchFamily="34" charset="0"/>
                <a:ea typeface="Calibri" pitchFamily="34" charset="-122"/>
                <a:cs typeface="Calibri" pitchFamily="34" charset="-120"/>
              </a:rPr>
              <a:t>Global Feature Impact</a:t>
            </a:r>
            <a:endParaRPr lang="en-US" sz="1000" dirty="0"/>
          </a:p>
        </p:txBody>
      </p:sp>
      <p:sp>
        <p:nvSpPr>
          <p:cNvPr id="10" name="Text 8"/>
          <p:cNvSpPr/>
          <p:nvPr/>
        </p:nvSpPr>
        <p:spPr>
          <a:xfrm>
            <a:off x="411480" y="1600200"/>
            <a:ext cx="3566160" cy="1371600"/>
          </a:xfrm>
          <a:prstGeom prst="rect">
            <a:avLst/>
          </a:prstGeom>
          <a:noFill/>
          <a:ln/>
        </p:spPr>
        <p:txBody>
          <a:bodyPr wrap="square" rtlCol="0" anchor="ctr"/>
          <a:lstStyle/>
          <a:p>
            <a:pPr indent="0" marL="0">
              <a:lnSpc>
                <a:spcPct val="135000"/>
              </a:lnSpc>
              <a:buNone/>
            </a:pPr>
            <a:r>
              <a:rPr lang="en-US" sz="1000" dirty="0">
                <a:solidFill>
                  <a:srgbClr val="334155"/>
                </a:solidFill>
                <a:latin typeface="Calibri" pitchFamily="34" charset="0"/>
                <a:ea typeface="Calibri" pitchFamily="34" charset="-122"/>
                <a:cs typeface="Calibri" pitchFamily="34" charset="-120"/>
              </a:rPr>
              <a:t>Each dot = 1 incident. Features ranked by total SHAP impact. Red dots = high feature value, Blue = low. Shows DIRECTION of each feature's influence.</a:t>
            </a:r>
            <a:endParaRPr lang="en-US" sz="1000" dirty="0"/>
          </a:p>
        </p:txBody>
      </p:sp>
      <p:sp>
        <p:nvSpPr>
          <p:cNvPr id="11" name="Shape 9"/>
          <p:cNvSpPr/>
          <p:nvPr/>
        </p:nvSpPr>
        <p:spPr>
          <a:xfrm>
            <a:off x="411480" y="3017520"/>
            <a:ext cx="3566160" cy="45720"/>
          </a:xfrm>
          <a:prstGeom prst="rect">
            <a:avLst/>
          </a:prstGeom>
          <a:solidFill>
            <a:srgbClr val="0D1B2A">
              <a:alpha val="40000"/>
            </a:srgbClr>
          </a:solidFill>
          <a:ln/>
        </p:spPr>
      </p:sp>
      <p:sp>
        <p:nvSpPr>
          <p:cNvPr id="12" name="Text 10"/>
          <p:cNvSpPr/>
          <p:nvPr/>
        </p:nvSpPr>
        <p:spPr>
          <a:xfrm>
            <a:off x="411480" y="3090672"/>
            <a:ext cx="3566160" cy="749808"/>
          </a:xfrm>
          <a:prstGeom prst="rect">
            <a:avLst/>
          </a:prstGeom>
          <a:noFill/>
          <a:ln/>
        </p:spPr>
        <p:txBody>
          <a:bodyPr wrap="square" rtlCol="0" anchor="ctr"/>
          <a:lstStyle/>
          <a:p>
            <a:pPr indent="0" marL="0">
              <a:lnSpc>
                <a:spcPct val="130000"/>
              </a:lnSpc>
              <a:buNone/>
            </a:pPr>
            <a:r>
              <a:rPr lang="en-US" sz="950" b="1" dirty="0">
                <a:solidFill>
                  <a:srgbClr val="0D1B2A"/>
                </a:solidFill>
                <a:latin typeface="Calibri" pitchFamily="34" charset="0"/>
                <a:ea typeface="Calibri" pitchFamily="34" charset="-122"/>
                <a:cs typeface="Calibri" pitchFamily="34" charset="-120"/>
              </a:rPr>
              <a:t>💡 Latitude/Longitude at top → geographic zones strongly drive fatality risk</a:t>
            </a:r>
            <a:endParaRPr lang="en-US" sz="950" dirty="0"/>
          </a:p>
        </p:txBody>
      </p:sp>
      <p:sp>
        <p:nvSpPr>
          <p:cNvPr id="13" name="Shape 11"/>
          <p:cNvSpPr/>
          <p:nvPr/>
        </p:nvSpPr>
        <p:spPr>
          <a:xfrm>
            <a:off x="4270248" y="822960"/>
            <a:ext cx="3749040" cy="31546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4" name="Shape 12"/>
          <p:cNvSpPr/>
          <p:nvPr/>
        </p:nvSpPr>
        <p:spPr>
          <a:xfrm>
            <a:off x="4270248" y="822960"/>
            <a:ext cx="3749040" cy="658368"/>
          </a:xfrm>
          <a:prstGeom prst="rect">
            <a:avLst/>
          </a:prstGeom>
          <a:solidFill>
            <a:srgbClr val="E63946"/>
          </a:solidFill>
          <a:ln/>
        </p:spPr>
      </p:sp>
      <p:sp>
        <p:nvSpPr>
          <p:cNvPr id="15" name="Text 13"/>
          <p:cNvSpPr/>
          <p:nvPr/>
        </p:nvSpPr>
        <p:spPr>
          <a:xfrm>
            <a:off x="4361688" y="877824"/>
            <a:ext cx="3566160" cy="292608"/>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  Waterfall Plot</a:t>
            </a:r>
            <a:endParaRPr lang="en-US" sz="1300" dirty="0"/>
          </a:p>
        </p:txBody>
      </p:sp>
      <p:sp>
        <p:nvSpPr>
          <p:cNvPr id="16" name="Text 14"/>
          <p:cNvSpPr/>
          <p:nvPr/>
        </p:nvSpPr>
        <p:spPr>
          <a:xfrm>
            <a:off x="4361688" y="1161288"/>
            <a:ext cx="3566160" cy="237744"/>
          </a:xfrm>
          <a:prstGeom prst="rect">
            <a:avLst/>
          </a:prstGeom>
          <a:noFill/>
          <a:ln/>
        </p:spPr>
        <p:txBody>
          <a:bodyPr wrap="square" rtlCol="0" anchor="ctr"/>
          <a:lstStyle/>
          <a:p>
            <a:pPr indent="0" marL="0">
              <a:buNone/>
            </a:pPr>
            <a:r>
              <a:rPr lang="en-US" sz="1000" dirty="0">
                <a:solidFill>
                  <a:srgbClr val="FFFFFF">
                    <a:alpha val="80000"/>
                  </a:srgbClr>
                </a:solidFill>
                <a:latin typeface="Calibri" pitchFamily="34" charset="0"/>
                <a:ea typeface="Calibri" pitchFamily="34" charset="-122"/>
                <a:cs typeface="Calibri" pitchFamily="34" charset="-120"/>
              </a:rPr>
              <a:t>Individual Incident Explanation</a:t>
            </a:r>
            <a:endParaRPr lang="en-US" sz="1000" dirty="0"/>
          </a:p>
        </p:txBody>
      </p:sp>
      <p:sp>
        <p:nvSpPr>
          <p:cNvPr id="17" name="Text 15"/>
          <p:cNvSpPr/>
          <p:nvPr/>
        </p:nvSpPr>
        <p:spPr>
          <a:xfrm>
            <a:off x="4361688" y="1600200"/>
            <a:ext cx="3566160" cy="1371600"/>
          </a:xfrm>
          <a:prstGeom prst="rect">
            <a:avLst/>
          </a:prstGeom>
          <a:noFill/>
          <a:ln/>
        </p:spPr>
        <p:txBody>
          <a:bodyPr wrap="square" rtlCol="0" anchor="ctr"/>
          <a:lstStyle/>
          <a:p>
            <a:pPr indent="0" marL="0">
              <a:lnSpc>
                <a:spcPct val="135000"/>
              </a:lnSpc>
              <a:buNone/>
            </a:pPr>
            <a:r>
              <a:rPr lang="en-US" sz="1000" dirty="0">
                <a:solidFill>
                  <a:srgbClr val="334155"/>
                </a:solidFill>
                <a:latin typeface="Calibri" pitchFamily="34" charset="0"/>
                <a:ea typeface="Calibri" pitchFamily="34" charset="-122"/>
                <a:cs typeface="Calibri" pitchFamily="34" charset="-120"/>
              </a:rPr>
              <a:t>Starts at base rate (E[f(X)]). Each feature's contribution shown as red (+) or blue (−) bars. Final f(x) = model's actual prediction for that incident.</a:t>
            </a:r>
            <a:endParaRPr lang="en-US" sz="1000" dirty="0"/>
          </a:p>
        </p:txBody>
      </p:sp>
      <p:sp>
        <p:nvSpPr>
          <p:cNvPr id="18" name="Shape 16"/>
          <p:cNvSpPr/>
          <p:nvPr/>
        </p:nvSpPr>
        <p:spPr>
          <a:xfrm>
            <a:off x="4361688" y="3017520"/>
            <a:ext cx="3566160" cy="45720"/>
          </a:xfrm>
          <a:prstGeom prst="rect">
            <a:avLst/>
          </a:prstGeom>
          <a:solidFill>
            <a:srgbClr val="E63946">
              <a:alpha val="40000"/>
            </a:srgbClr>
          </a:solidFill>
          <a:ln/>
        </p:spPr>
      </p:sp>
      <p:sp>
        <p:nvSpPr>
          <p:cNvPr id="19" name="Text 17"/>
          <p:cNvSpPr/>
          <p:nvPr/>
        </p:nvSpPr>
        <p:spPr>
          <a:xfrm>
            <a:off x="4361688" y="3090672"/>
            <a:ext cx="3566160" cy="749808"/>
          </a:xfrm>
          <a:prstGeom prst="rect">
            <a:avLst/>
          </a:prstGeom>
          <a:noFill/>
          <a:ln/>
        </p:spPr>
        <p:txBody>
          <a:bodyPr wrap="square" rtlCol="0" anchor="ctr"/>
          <a:lstStyle/>
          <a:p>
            <a:pPr indent="0" marL="0">
              <a:lnSpc>
                <a:spcPct val="130000"/>
              </a:lnSpc>
              <a:buNone/>
            </a:pPr>
            <a:r>
              <a:rPr lang="en-US" sz="950" b="1" dirty="0">
                <a:solidFill>
                  <a:srgbClr val="E63946"/>
                </a:solidFill>
                <a:latin typeface="Calibri" pitchFamily="34" charset="0"/>
                <a:ea typeface="Calibri" pitchFamily="34" charset="-122"/>
                <a:cs typeface="Calibri" pitchFamily="34" charset="-120"/>
              </a:rPr>
              <a:t>💡 "Fatal because: 1AM + high-risk precinct + victim age 65+"</a:t>
            </a:r>
            <a:endParaRPr lang="en-US" sz="950" dirty="0"/>
          </a:p>
        </p:txBody>
      </p:sp>
      <p:sp>
        <p:nvSpPr>
          <p:cNvPr id="20" name="Shape 18"/>
          <p:cNvSpPr/>
          <p:nvPr/>
        </p:nvSpPr>
        <p:spPr>
          <a:xfrm>
            <a:off x="8220456" y="822960"/>
            <a:ext cx="3749040" cy="315468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1" name="Shape 19"/>
          <p:cNvSpPr/>
          <p:nvPr/>
        </p:nvSpPr>
        <p:spPr>
          <a:xfrm>
            <a:off x="8220456" y="822960"/>
            <a:ext cx="3749040" cy="658368"/>
          </a:xfrm>
          <a:prstGeom prst="rect">
            <a:avLst/>
          </a:prstGeom>
          <a:solidFill>
            <a:srgbClr val="457B9D"/>
          </a:solidFill>
          <a:ln/>
        </p:spPr>
      </p:sp>
      <p:sp>
        <p:nvSpPr>
          <p:cNvPr id="22" name="Text 20"/>
          <p:cNvSpPr/>
          <p:nvPr/>
        </p:nvSpPr>
        <p:spPr>
          <a:xfrm>
            <a:off x="8311896" y="877824"/>
            <a:ext cx="3566160" cy="292608"/>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  Force Plot</a:t>
            </a:r>
            <a:endParaRPr lang="en-US" sz="1300" dirty="0"/>
          </a:p>
        </p:txBody>
      </p:sp>
      <p:sp>
        <p:nvSpPr>
          <p:cNvPr id="23" name="Text 21"/>
          <p:cNvSpPr/>
          <p:nvPr/>
        </p:nvSpPr>
        <p:spPr>
          <a:xfrm>
            <a:off x="8311896" y="1161288"/>
            <a:ext cx="3566160" cy="237744"/>
          </a:xfrm>
          <a:prstGeom prst="rect">
            <a:avLst/>
          </a:prstGeom>
          <a:noFill/>
          <a:ln/>
        </p:spPr>
        <p:txBody>
          <a:bodyPr wrap="square" rtlCol="0" anchor="ctr"/>
          <a:lstStyle/>
          <a:p>
            <a:pPr indent="0" marL="0">
              <a:buNone/>
            </a:pPr>
            <a:r>
              <a:rPr lang="en-US" sz="1000" dirty="0">
                <a:solidFill>
                  <a:srgbClr val="FFFFFF">
                    <a:alpha val="80000"/>
                  </a:srgbClr>
                </a:solidFill>
                <a:latin typeface="Calibri" pitchFamily="34" charset="0"/>
                <a:ea typeface="Calibri" pitchFamily="34" charset="-122"/>
                <a:cs typeface="Calibri" pitchFamily="34" charset="-120"/>
              </a:rPr>
              <a:t>Compact Decision View</a:t>
            </a:r>
            <a:endParaRPr lang="en-US" sz="1000" dirty="0"/>
          </a:p>
        </p:txBody>
      </p:sp>
      <p:sp>
        <p:nvSpPr>
          <p:cNvPr id="24" name="Text 22"/>
          <p:cNvSpPr/>
          <p:nvPr/>
        </p:nvSpPr>
        <p:spPr>
          <a:xfrm>
            <a:off x="8311896" y="1600200"/>
            <a:ext cx="3566160" cy="1371600"/>
          </a:xfrm>
          <a:prstGeom prst="rect">
            <a:avLst/>
          </a:prstGeom>
          <a:noFill/>
          <a:ln/>
        </p:spPr>
        <p:txBody>
          <a:bodyPr wrap="square" rtlCol="0" anchor="ctr"/>
          <a:lstStyle/>
          <a:p>
            <a:pPr indent="0" marL="0">
              <a:lnSpc>
                <a:spcPct val="135000"/>
              </a:lnSpc>
              <a:buNone/>
            </a:pPr>
            <a:r>
              <a:rPr lang="en-US" sz="1000" dirty="0">
                <a:solidFill>
                  <a:srgbClr val="334155"/>
                </a:solidFill>
                <a:latin typeface="Calibri" pitchFamily="34" charset="0"/>
                <a:ea typeface="Calibri" pitchFamily="34" charset="-122"/>
                <a:cs typeface="Calibri" pitchFamily="34" charset="-120"/>
              </a:rPr>
              <a:t>Red arrows push toward Fatal. Blue arrows push toward Non-Fatal. Arrow width = feature magnitude. Ideal for real-time dispatcher dashboards.</a:t>
            </a:r>
            <a:endParaRPr lang="en-US" sz="1000" dirty="0"/>
          </a:p>
        </p:txBody>
      </p:sp>
      <p:sp>
        <p:nvSpPr>
          <p:cNvPr id="25" name="Shape 23"/>
          <p:cNvSpPr/>
          <p:nvPr/>
        </p:nvSpPr>
        <p:spPr>
          <a:xfrm>
            <a:off x="8311896" y="3017520"/>
            <a:ext cx="3566160" cy="45720"/>
          </a:xfrm>
          <a:prstGeom prst="rect">
            <a:avLst/>
          </a:prstGeom>
          <a:solidFill>
            <a:srgbClr val="457B9D">
              <a:alpha val="40000"/>
            </a:srgbClr>
          </a:solidFill>
          <a:ln/>
        </p:spPr>
      </p:sp>
      <p:sp>
        <p:nvSpPr>
          <p:cNvPr id="26" name="Text 24"/>
          <p:cNvSpPr/>
          <p:nvPr/>
        </p:nvSpPr>
        <p:spPr>
          <a:xfrm>
            <a:off x="8311896" y="3090672"/>
            <a:ext cx="3566160" cy="749808"/>
          </a:xfrm>
          <a:prstGeom prst="rect">
            <a:avLst/>
          </a:prstGeom>
          <a:noFill/>
          <a:ln/>
        </p:spPr>
        <p:txBody>
          <a:bodyPr wrap="square" rtlCol="0" anchor="ctr"/>
          <a:lstStyle/>
          <a:p>
            <a:pPr indent="0" marL="0">
              <a:lnSpc>
                <a:spcPct val="130000"/>
              </a:lnSpc>
              <a:buNone/>
            </a:pPr>
            <a:r>
              <a:rPr lang="en-US" sz="950" b="1" dirty="0">
                <a:solidFill>
                  <a:srgbClr val="457B9D"/>
                </a:solidFill>
                <a:latin typeface="Calibri" pitchFamily="34" charset="0"/>
                <a:ea typeface="Calibri" pitchFamily="34" charset="-122"/>
                <a:cs typeface="Calibri" pitchFamily="34" charset="-120"/>
              </a:rPr>
              <a:t>💡 Can be auto-generated and attached to every CAD dispatch alert</a:t>
            </a:r>
            <a:endParaRPr lang="en-US" sz="950" dirty="0"/>
          </a:p>
        </p:txBody>
      </p:sp>
      <p:sp>
        <p:nvSpPr>
          <p:cNvPr id="27" name="Shape 25"/>
          <p:cNvSpPr/>
          <p:nvPr/>
        </p:nvSpPr>
        <p:spPr>
          <a:xfrm>
            <a:off x="320040" y="4114800"/>
            <a:ext cx="11521440" cy="2103120"/>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8" name="Text 26"/>
          <p:cNvSpPr/>
          <p:nvPr/>
        </p:nvSpPr>
        <p:spPr>
          <a:xfrm>
            <a:off x="457200" y="4187952"/>
            <a:ext cx="1115568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Why SHAP &gt; Built-in Importance — The Case for Explainability</a:t>
            </a:r>
            <a:endParaRPr lang="en-US" sz="1300" dirty="0"/>
          </a:p>
        </p:txBody>
      </p:sp>
      <p:sp>
        <p:nvSpPr>
          <p:cNvPr id="29" name="Shape 27"/>
          <p:cNvSpPr/>
          <p:nvPr/>
        </p:nvSpPr>
        <p:spPr>
          <a:xfrm>
            <a:off x="457200" y="4626864"/>
            <a:ext cx="292608" cy="292608"/>
          </a:xfrm>
          <a:prstGeom prst="ellipse">
            <a:avLst/>
          </a:prstGeom>
          <a:solidFill>
            <a:srgbClr val="E63946"/>
          </a:solidFill>
          <a:ln/>
        </p:spPr>
      </p:sp>
      <p:sp>
        <p:nvSpPr>
          <p:cNvPr id="30" name="Text 28"/>
          <p:cNvSpPr/>
          <p:nvPr/>
        </p:nvSpPr>
        <p:spPr>
          <a:xfrm>
            <a:off x="822960" y="4626864"/>
            <a:ext cx="1737360" cy="292608"/>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Direction</a:t>
            </a:r>
            <a:endParaRPr lang="en-US" sz="1100" dirty="0"/>
          </a:p>
        </p:txBody>
      </p:sp>
      <p:sp>
        <p:nvSpPr>
          <p:cNvPr id="31" name="Text 29"/>
          <p:cNvSpPr/>
          <p:nvPr/>
        </p:nvSpPr>
        <p:spPr>
          <a:xfrm>
            <a:off x="822960" y="4937760"/>
            <a:ext cx="1828800" cy="502920"/>
          </a:xfrm>
          <a:prstGeom prst="rect">
            <a:avLst/>
          </a:prstGeom>
          <a:noFill/>
          <a:ln/>
        </p:spPr>
        <p:txBody>
          <a:bodyPr wrap="square" rtlCol="0" anchor="ctr"/>
          <a:lstStyle/>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Shows + or − impact</a:t>
            </a:r>
            <a:endParaRPr lang="en-US" sz="950" dirty="0"/>
          </a:p>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Built-in only counts splits</a:t>
            </a:r>
            <a:endParaRPr lang="en-US" sz="950" dirty="0"/>
          </a:p>
        </p:txBody>
      </p:sp>
      <p:sp>
        <p:nvSpPr>
          <p:cNvPr id="32" name="Shape 30"/>
          <p:cNvSpPr/>
          <p:nvPr/>
        </p:nvSpPr>
        <p:spPr>
          <a:xfrm>
            <a:off x="2743200" y="4626864"/>
            <a:ext cx="292608" cy="292608"/>
          </a:xfrm>
          <a:prstGeom prst="ellipse">
            <a:avLst/>
          </a:prstGeom>
          <a:solidFill>
            <a:srgbClr val="DD6B20"/>
          </a:solidFill>
          <a:ln/>
        </p:spPr>
      </p:sp>
      <p:sp>
        <p:nvSpPr>
          <p:cNvPr id="33" name="Text 31"/>
          <p:cNvSpPr/>
          <p:nvPr/>
        </p:nvSpPr>
        <p:spPr>
          <a:xfrm>
            <a:off x="3108960" y="4626864"/>
            <a:ext cx="1737360" cy="292608"/>
          </a:xfrm>
          <a:prstGeom prst="rect">
            <a:avLst/>
          </a:prstGeom>
          <a:noFill/>
          <a:ln/>
        </p:spPr>
        <p:txBody>
          <a:bodyPr wrap="square" rtlCol="0" anchor="ctr"/>
          <a:lstStyle/>
          <a:p>
            <a:pPr indent="0" marL="0">
              <a:buNone/>
            </a:pPr>
            <a:r>
              <a:rPr lang="en-US" sz="1100" b="1" dirty="0">
                <a:solidFill>
                  <a:srgbClr val="DD6B20"/>
                </a:solidFill>
                <a:latin typeface="Calibri" pitchFamily="34" charset="0"/>
                <a:ea typeface="Calibri" pitchFamily="34" charset="-122"/>
                <a:cs typeface="Calibri" pitchFamily="34" charset="-120"/>
              </a:rPr>
              <a:t>Fairness</a:t>
            </a:r>
            <a:endParaRPr lang="en-US" sz="1100" dirty="0"/>
          </a:p>
        </p:txBody>
      </p:sp>
      <p:sp>
        <p:nvSpPr>
          <p:cNvPr id="34" name="Text 32"/>
          <p:cNvSpPr/>
          <p:nvPr/>
        </p:nvSpPr>
        <p:spPr>
          <a:xfrm>
            <a:off x="3108960" y="4937760"/>
            <a:ext cx="1828800" cy="502920"/>
          </a:xfrm>
          <a:prstGeom prst="rect">
            <a:avLst/>
          </a:prstGeom>
          <a:noFill/>
          <a:ln/>
        </p:spPr>
        <p:txBody>
          <a:bodyPr wrap="square" rtlCol="0" anchor="ctr"/>
          <a:lstStyle/>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Unbiased by cardinality</a:t>
            </a:r>
            <a:endParaRPr lang="en-US" sz="950" dirty="0"/>
          </a:p>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Built-in favors high-cardinality</a:t>
            </a:r>
            <a:endParaRPr lang="en-US" sz="950" dirty="0"/>
          </a:p>
        </p:txBody>
      </p:sp>
      <p:sp>
        <p:nvSpPr>
          <p:cNvPr id="35" name="Shape 33"/>
          <p:cNvSpPr/>
          <p:nvPr/>
        </p:nvSpPr>
        <p:spPr>
          <a:xfrm>
            <a:off x="5029200" y="4626864"/>
            <a:ext cx="292608" cy="292608"/>
          </a:xfrm>
          <a:prstGeom prst="ellipse">
            <a:avLst/>
          </a:prstGeom>
          <a:solidFill>
            <a:srgbClr val="457B9D"/>
          </a:solidFill>
          <a:ln/>
        </p:spPr>
      </p:sp>
      <p:sp>
        <p:nvSpPr>
          <p:cNvPr id="36" name="Text 34"/>
          <p:cNvSpPr/>
          <p:nvPr/>
        </p:nvSpPr>
        <p:spPr>
          <a:xfrm>
            <a:off x="5394960" y="4626864"/>
            <a:ext cx="1737360" cy="292608"/>
          </a:xfrm>
          <a:prstGeom prst="rect">
            <a:avLst/>
          </a:prstGeom>
          <a:noFill/>
          <a:ln/>
        </p:spPr>
        <p:txBody>
          <a:bodyPr wrap="square" rtlCol="0" anchor="ctr"/>
          <a:lstStyle/>
          <a:p>
            <a:pPr indent="0" marL="0">
              <a:buNone/>
            </a:pPr>
            <a:r>
              <a:rPr lang="en-US" sz="1100" b="1" dirty="0">
                <a:solidFill>
                  <a:srgbClr val="457B9D"/>
                </a:solidFill>
                <a:latin typeface="Calibri" pitchFamily="34" charset="0"/>
                <a:ea typeface="Calibri" pitchFamily="34" charset="-122"/>
                <a:cs typeface="Calibri" pitchFamily="34" charset="-120"/>
              </a:rPr>
              <a:t>Accountability</a:t>
            </a:r>
            <a:endParaRPr lang="en-US" sz="1100" dirty="0"/>
          </a:p>
        </p:txBody>
      </p:sp>
      <p:sp>
        <p:nvSpPr>
          <p:cNvPr id="37" name="Text 35"/>
          <p:cNvSpPr/>
          <p:nvPr/>
        </p:nvSpPr>
        <p:spPr>
          <a:xfrm>
            <a:off x="5394960" y="4937760"/>
            <a:ext cx="1828800" cy="502920"/>
          </a:xfrm>
          <a:prstGeom prst="rect">
            <a:avLst/>
          </a:prstGeom>
          <a:noFill/>
          <a:ln/>
        </p:spPr>
        <p:txBody>
          <a:bodyPr wrap="square" rtlCol="0" anchor="ctr"/>
          <a:lstStyle/>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Supervisors can AUDIT</a:t>
            </a:r>
            <a:endParaRPr lang="en-US" sz="950" dirty="0"/>
          </a:p>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any individual prediction</a:t>
            </a:r>
            <a:endParaRPr lang="en-US" sz="950" dirty="0"/>
          </a:p>
        </p:txBody>
      </p:sp>
      <p:sp>
        <p:nvSpPr>
          <p:cNvPr id="38" name="Shape 36"/>
          <p:cNvSpPr/>
          <p:nvPr/>
        </p:nvSpPr>
        <p:spPr>
          <a:xfrm>
            <a:off x="7315200" y="4626864"/>
            <a:ext cx="292608" cy="292608"/>
          </a:xfrm>
          <a:prstGeom prst="ellipse">
            <a:avLst/>
          </a:prstGeom>
          <a:solidFill>
            <a:srgbClr val="38A169"/>
          </a:solidFill>
          <a:ln/>
        </p:spPr>
      </p:sp>
      <p:sp>
        <p:nvSpPr>
          <p:cNvPr id="39" name="Text 37"/>
          <p:cNvSpPr/>
          <p:nvPr/>
        </p:nvSpPr>
        <p:spPr>
          <a:xfrm>
            <a:off x="7680960" y="4626864"/>
            <a:ext cx="1737360" cy="292608"/>
          </a:xfrm>
          <a:prstGeom prst="rect">
            <a:avLst/>
          </a:prstGeom>
          <a:noFill/>
          <a:ln/>
        </p:spPr>
        <p:txBody>
          <a:bodyPr wrap="square" rtlCol="0" anchor="ctr"/>
          <a:lstStyle/>
          <a:p>
            <a:pPr indent="0" marL="0">
              <a:buNone/>
            </a:pPr>
            <a:r>
              <a:rPr lang="en-US" sz="1100" b="1" dirty="0">
                <a:solidFill>
                  <a:srgbClr val="38A169"/>
                </a:solidFill>
                <a:latin typeface="Calibri" pitchFamily="34" charset="0"/>
                <a:ea typeface="Calibri" pitchFamily="34" charset="-122"/>
                <a:cs typeface="Calibri" pitchFamily="34" charset="-120"/>
              </a:rPr>
              <a:t>Actionable</a:t>
            </a:r>
            <a:endParaRPr lang="en-US" sz="1100" dirty="0"/>
          </a:p>
        </p:txBody>
      </p:sp>
      <p:sp>
        <p:nvSpPr>
          <p:cNvPr id="40" name="Text 38"/>
          <p:cNvSpPr/>
          <p:nvPr/>
        </p:nvSpPr>
        <p:spPr>
          <a:xfrm>
            <a:off x="7680960" y="4937760"/>
            <a:ext cx="1828800" cy="502920"/>
          </a:xfrm>
          <a:prstGeom prst="rect">
            <a:avLst/>
          </a:prstGeom>
          <a:noFill/>
          <a:ln/>
        </p:spPr>
        <p:txBody>
          <a:bodyPr wrap="square" rtlCol="0" anchor="ctr"/>
          <a:lstStyle/>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Identifies exact thresholds</a:t>
            </a:r>
            <a:endParaRPr lang="en-US" sz="950" dirty="0"/>
          </a:p>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for resource deployment</a:t>
            </a:r>
            <a:endParaRPr lang="en-US" sz="950" dirty="0"/>
          </a:p>
        </p:txBody>
      </p:sp>
      <p:sp>
        <p:nvSpPr>
          <p:cNvPr id="41" name="Shape 39"/>
          <p:cNvSpPr/>
          <p:nvPr/>
        </p:nvSpPr>
        <p:spPr>
          <a:xfrm>
            <a:off x="9601200" y="4626864"/>
            <a:ext cx="292608" cy="292608"/>
          </a:xfrm>
          <a:prstGeom prst="ellipse">
            <a:avLst/>
          </a:prstGeom>
          <a:solidFill>
            <a:srgbClr val="0D1B2A"/>
          </a:solidFill>
          <a:ln/>
        </p:spPr>
      </p:sp>
      <p:sp>
        <p:nvSpPr>
          <p:cNvPr id="42" name="Text 40"/>
          <p:cNvSpPr/>
          <p:nvPr/>
        </p:nvSpPr>
        <p:spPr>
          <a:xfrm>
            <a:off x="9966960" y="4626864"/>
            <a:ext cx="1737360" cy="292608"/>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Trust</a:t>
            </a:r>
            <a:endParaRPr lang="en-US" sz="1100" dirty="0"/>
          </a:p>
        </p:txBody>
      </p:sp>
      <p:sp>
        <p:nvSpPr>
          <p:cNvPr id="43" name="Text 41"/>
          <p:cNvSpPr/>
          <p:nvPr/>
        </p:nvSpPr>
        <p:spPr>
          <a:xfrm>
            <a:off x="9966960" y="4937760"/>
            <a:ext cx="1828800" cy="502920"/>
          </a:xfrm>
          <a:prstGeom prst="rect">
            <a:avLst/>
          </a:prstGeom>
          <a:noFill/>
          <a:ln/>
        </p:spPr>
        <p:txBody>
          <a:bodyPr wrap="square" rtlCol="0" anchor="ctr"/>
          <a:lstStyle/>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Officers understand WHY</a:t>
            </a:r>
            <a:endParaRPr lang="en-US" sz="950" dirty="0"/>
          </a:p>
          <a:p>
            <a:pPr indent="0" marL="0">
              <a:lnSpc>
                <a:spcPct val="130000"/>
              </a:lnSpc>
              <a:buNone/>
            </a:pPr>
            <a:r>
              <a:rPr lang="en-US" sz="950" dirty="0">
                <a:solidFill>
                  <a:srgbClr val="334155"/>
                </a:solidFill>
                <a:latin typeface="Calibri" pitchFamily="34" charset="0"/>
                <a:ea typeface="Calibri" pitchFamily="34" charset="-122"/>
                <a:cs typeface="Calibri" pitchFamily="34" charset="-120"/>
              </a:rPr>
              <a:t>Black-box AI is unacceptable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Key Findings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15</a:t>
            </a:r>
            <a:endParaRPr lang="en-US" sz="1200" dirty="0"/>
          </a:p>
        </p:txBody>
      </p:sp>
      <p:sp>
        <p:nvSpPr>
          <p:cNvPr id="6" name="Shape 4"/>
          <p:cNvSpPr/>
          <p:nvPr/>
        </p:nvSpPr>
        <p:spPr>
          <a:xfrm>
            <a:off x="320040" y="822960"/>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22960"/>
            <a:ext cx="64008" cy="1133856"/>
          </a:xfrm>
          <a:prstGeom prst="rect">
            <a:avLst/>
          </a:prstGeom>
          <a:solidFill>
            <a:srgbClr val="E63946"/>
          </a:solidFill>
          <a:ln/>
        </p:spPr>
      </p:sp>
      <p:sp>
        <p:nvSpPr>
          <p:cNvPr id="8" name="Shape 6"/>
          <p:cNvSpPr/>
          <p:nvPr/>
        </p:nvSpPr>
        <p:spPr>
          <a:xfrm>
            <a:off x="457200" y="1078992"/>
            <a:ext cx="438912" cy="438912"/>
          </a:xfrm>
          <a:prstGeom prst="rect">
            <a:avLst/>
          </a:prstGeom>
          <a:solidFill>
            <a:srgbClr val="E63946"/>
          </a:solidFill>
          <a:ln/>
        </p:spPr>
      </p:sp>
      <p:sp>
        <p:nvSpPr>
          <p:cNvPr id="9" name="Text 7"/>
          <p:cNvSpPr/>
          <p:nvPr/>
        </p:nvSpPr>
        <p:spPr>
          <a:xfrm>
            <a:off x="457200" y="1078992"/>
            <a:ext cx="438912" cy="43891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01</a:t>
            </a:r>
            <a:endParaRPr lang="en-US" sz="1100" dirty="0"/>
          </a:p>
        </p:txBody>
      </p:sp>
      <p:sp>
        <p:nvSpPr>
          <p:cNvPr id="10" name="Text 8"/>
          <p:cNvSpPr/>
          <p:nvPr/>
        </p:nvSpPr>
        <p:spPr>
          <a:xfrm>
            <a:off x="1005840" y="914400"/>
            <a:ext cx="1060704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  Location is the #1 Fatality Predictor</a:t>
            </a:r>
            <a:endParaRPr lang="en-US" sz="1300" dirty="0"/>
          </a:p>
        </p:txBody>
      </p:sp>
      <p:sp>
        <p:nvSpPr>
          <p:cNvPr id="11" name="Text 9"/>
          <p:cNvSpPr/>
          <p:nvPr/>
        </p:nvSpPr>
        <p:spPr>
          <a:xfrm>
            <a:off x="1005840" y="1280160"/>
            <a:ext cx="10515600" cy="603504"/>
          </a:xfrm>
          <a:prstGeom prst="rect">
            <a:avLst/>
          </a:prstGeom>
          <a:noFill/>
          <a:ln/>
        </p:spPr>
        <p:txBody>
          <a:bodyPr wrap="square" rtlCol="0" anchor="ctr"/>
          <a:lstStyle/>
          <a:p>
            <a:pPr indent="0" marL="0">
              <a:lnSpc>
                <a:spcPct val="132000"/>
              </a:lnSpc>
              <a:buNone/>
            </a:pPr>
            <a:r>
              <a:rPr lang="en-US" sz="1050" dirty="0">
                <a:solidFill>
                  <a:srgbClr val="334155"/>
                </a:solidFill>
                <a:latin typeface="Calibri" pitchFamily="34" charset="0"/>
                <a:ea typeface="Calibri" pitchFamily="34" charset="-122"/>
                <a:cs typeface="Calibri" pitchFamily="34" charset="-120"/>
              </a:rPr>
              <a:t>Geographic coordinates (Latitude, Longitude, Precinct, Borough) dominate feature importance in both built-in and SHAP rankings. WHERE a shooting happens determines proximity to trauma care, police density, and emergency response speed.</a:t>
            </a:r>
            <a:endParaRPr lang="en-US" sz="1050" dirty="0"/>
          </a:p>
        </p:txBody>
      </p:sp>
      <p:sp>
        <p:nvSpPr>
          <p:cNvPr id="12" name="Shape 10"/>
          <p:cNvSpPr/>
          <p:nvPr/>
        </p:nvSpPr>
        <p:spPr>
          <a:xfrm>
            <a:off x="320040" y="2029968"/>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3" name="Shape 11"/>
          <p:cNvSpPr/>
          <p:nvPr/>
        </p:nvSpPr>
        <p:spPr>
          <a:xfrm>
            <a:off x="320040" y="2029968"/>
            <a:ext cx="64008" cy="1133856"/>
          </a:xfrm>
          <a:prstGeom prst="rect">
            <a:avLst/>
          </a:prstGeom>
          <a:solidFill>
            <a:srgbClr val="0D1B2A"/>
          </a:solidFill>
          <a:ln/>
        </p:spPr>
      </p:sp>
      <p:sp>
        <p:nvSpPr>
          <p:cNvPr id="14" name="Shape 12"/>
          <p:cNvSpPr/>
          <p:nvPr/>
        </p:nvSpPr>
        <p:spPr>
          <a:xfrm>
            <a:off x="457200" y="2286000"/>
            <a:ext cx="438912" cy="438912"/>
          </a:xfrm>
          <a:prstGeom prst="rect">
            <a:avLst/>
          </a:prstGeom>
          <a:solidFill>
            <a:srgbClr val="0D1B2A"/>
          </a:solidFill>
          <a:ln/>
        </p:spPr>
      </p:sp>
      <p:sp>
        <p:nvSpPr>
          <p:cNvPr id="15" name="Text 13"/>
          <p:cNvSpPr/>
          <p:nvPr/>
        </p:nvSpPr>
        <p:spPr>
          <a:xfrm>
            <a:off x="457200" y="2286000"/>
            <a:ext cx="438912" cy="43891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02</a:t>
            </a:r>
            <a:endParaRPr lang="en-US" sz="1100" dirty="0"/>
          </a:p>
        </p:txBody>
      </p:sp>
      <p:sp>
        <p:nvSpPr>
          <p:cNvPr id="16" name="Text 14"/>
          <p:cNvSpPr/>
          <p:nvPr/>
        </p:nvSpPr>
        <p:spPr>
          <a:xfrm>
            <a:off x="1005840" y="2121408"/>
            <a:ext cx="1060704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  Late-Night = Highest Fatal Risk Window</a:t>
            </a:r>
            <a:endParaRPr lang="en-US" sz="1300" dirty="0"/>
          </a:p>
        </p:txBody>
      </p:sp>
      <p:sp>
        <p:nvSpPr>
          <p:cNvPr id="17" name="Text 15"/>
          <p:cNvSpPr/>
          <p:nvPr/>
        </p:nvSpPr>
        <p:spPr>
          <a:xfrm>
            <a:off x="1005840" y="2487168"/>
            <a:ext cx="10515600" cy="603504"/>
          </a:xfrm>
          <a:prstGeom prst="rect">
            <a:avLst/>
          </a:prstGeom>
          <a:noFill/>
          <a:ln/>
        </p:spPr>
        <p:txBody>
          <a:bodyPr wrap="square" rtlCol="0" anchor="ctr"/>
          <a:lstStyle/>
          <a:p>
            <a:pPr indent="0" marL="0">
              <a:lnSpc>
                <a:spcPct val="132000"/>
              </a:lnSpc>
              <a:buNone/>
            </a:pPr>
            <a:r>
              <a:rPr lang="en-US" sz="1050" dirty="0">
                <a:solidFill>
                  <a:srgbClr val="334155"/>
                </a:solidFill>
                <a:latin typeface="Calibri" pitchFamily="34" charset="0"/>
                <a:ea typeface="Calibri" pitchFamily="34" charset="-122"/>
                <a:cs typeface="Calibri" pitchFamily="34" charset="-120"/>
              </a:rPr>
              <a:t>Incidents between 10PM–5AM show the highest fatality rates. EMS response is slower at night, fewer bystanders can intervene, and hospitals operate at reduced capacity. The 'golden hour' for trauma care is most likely to be missed.</a:t>
            </a:r>
            <a:endParaRPr lang="en-US" sz="1050" dirty="0"/>
          </a:p>
        </p:txBody>
      </p:sp>
      <p:sp>
        <p:nvSpPr>
          <p:cNvPr id="18" name="Shape 16"/>
          <p:cNvSpPr/>
          <p:nvPr/>
        </p:nvSpPr>
        <p:spPr>
          <a:xfrm>
            <a:off x="320040" y="3236976"/>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9" name="Shape 17"/>
          <p:cNvSpPr/>
          <p:nvPr/>
        </p:nvSpPr>
        <p:spPr>
          <a:xfrm>
            <a:off x="320040" y="3236976"/>
            <a:ext cx="64008" cy="1133856"/>
          </a:xfrm>
          <a:prstGeom prst="rect">
            <a:avLst/>
          </a:prstGeom>
          <a:solidFill>
            <a:srgbClr val="DD6B20"/>
          </a:solidFill>
          <a:ln/>
        </p:spPr>
      </p:sp>
      <p:sp>
        <p:nvSpPr>
          <p:cNvPr id="20" name="Shape 18"/>
          <p:cNvSpPr/>
          <p:nvPr/>
        </p:nvSpPr>
        <p:spPr>
          <a:xfrm>
            <a:off x="457200" y="3493008"/>
            <a:ext cx="438912" cy="438912"/>
          </a:xfrm>
          <a:prstGeom prst="rect">
            <a:avLst/>
          </a:prstGeom>
          <a:solidFill>
            <a:srgbClr val="DD6B20"/>
          </a:solidFill>
          <a:ln/>
        </p:spPr>
      </p:sp>
      <p:sp>
        <p:nvSpPr>
          <p:cNvPr id="21" name="Text 19"/>
          <p:cNvSpPr/>
          <p:nvPr/>
        </p:nvSpPr>
        <p:spPr>
          <a:xfrm>
            <a:off x="457200" y="3493008"/>
            <a:ext cx="438912" cy="43891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03</a:t>
            </a:r>
            <a:endParaRPr lang="en-US" sz="1100" dirty="0"/>
          </a:p>
        </p:txBody>
      </p:sp>
      <p:sp>
        <p:nvSpPr>
          <p:cNvPr id="22" name="Text 20"/>
          <p:cNvSpPr/>
          <p:nvPr/>
        </p:nvSpPr>
        <p:spPr>
          <a:xfrm>
            <a:off x="1005840" y="3328416"/>
            <a:ext cx="1060704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  Victim Age Strongly Predicts Outcome</a:t>
            </a:r>
            <a:endParaRPr lang="en-US" sz="1300" dirty="0"/>
          </a:p>
        </p:txBody>
      </p:sp>
      <p:sp>
        <p:nvSpPr>
          <p:cNvPr id="23" name="Text 21"/>
          <p:cNvSpPr/>
          <p:nvPr/>
        </p:nvSpPr>
        <p:spPr>
          <a:xfrm>
            <a:off x="1005840" y="3694176"/>
            <a:ext cx="10515600" cy="603504"/>
          </a:xfrm>
          <a:prstGeom prst="rect">
            <a:avLst/>
          </a:prstGeom>
          <a:noFill/>
          <a:ln/>
        </p:spPr>
        <p:txBody>
          <a:bodyPr wrap="square" rtlCol="0" anchor="ctr"/>
          <a:lstStyle/>
          <a:p>
            <a:pPr indent="0" marL="0">
              <a:lnSpc>
                <a:spcPct val="132000"/>
              </a:lnSpc>
              <a:buNone/>
            </a:pPr>
            <a:r>
              <a:rPr lang="en-US" sz="1050" dirty="0">
                <a:solidFill>
                  <a:srgbClr val="334155"/>
                </a:solidFill>
                <a:latin typeface="Calibri" pitchFamily="34" charset="0"/>
                <a:ea typeface="Calibri" pitchFamily="34" charset="-122"/>
                <a:cs typeface="Calibri" pitchFamily="34" charset="-120"/>
              </a:rPr>
              <a:t>Victims aged 65+ face a 30.9% fatality rate vs 13.0% for those under 18. Older victims have lower physical resilience to gunshot wounds. The 25–44 group accounts for 45% of all incidents in terms of volume.</a:t>
            </a:r>
            <a:endParaRPr lang="en-US" sz="1050" dirty="0"/>
          </a:p>
        </p:txBody>
      </p:sp>
      <p:sp>
        <p:nvSpPr>
          <p:cNvPr id="24" name="Shape 22"/>
          <p:cNvSpPr/>
          <p:nvPr/>
        </p:nvSpPr>
        <p:spPr>
          <a:xfrm>
            <a:off x="320040" y="4443984"/>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5" name="Shape 23"/>
          <p:cNvSpPr/>
          <p:nvPr/>
        </p:nvSpPr>
        <p:spPr>
          <a:xfrm>
            <a:off x="320040" y="4443984"/>
            <a:ext cx="64008" cy="1133856"/>
          </a:xfrm>
          <a:prstGeom prst="rect">
            <a:avLst/>
          </a:prstGeom>
          <a:solidFill>
            <a:srgbClr val="457B9D"/>
          </a:solidFill>
          <a:ln/>
        </p:spPr>
      </p:sp>
      <p:sp>
        <p:nvSpPr>
          <p:cNvPr id="26" name="Shape 24"/>
          <p:cNvSpPr/>
          <p:nvPr/>
        </p:nvSpPr>
        <p:spPr>
          <a:xfrm>
            <a:off x="457200" y="4700016"/>
            <a:ext cx="438912" cy="438912"/>
          </a:xfrm>
          <a:prstGeom prst="rect">
            <a:avLst/>
          </a:prstGeom>
          <a:solidFill>
            <a:srgbClr val="457B9D"/>
          </a:solidFill>
          <a:ln/>
        </p:spPr>
      </p:sp>
      <p:sp>
        <p:nvSpPr>
          <p:cNvPr id="27" name="Text 25"/>
          <p:cNvSpPr/>
          <p:nvPr/>
        </p:nvSpPr>
        <p:spPr>
          <a:xfrm>
            <a:off x="457200" y="4700016"/>
            <a:ext cx="438912" cy="43891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04</a:t>
            </a:r>
            <a:endParaRPr lang="en-US" sz="1100" dirty="0"/>
          </a:p>
        </p:txBody>
      </p:sp>
      <p:sp>
        <p:nvSpPr>
          <p:cNvPr id="28" name="Text 26"/>
          <p:cNvSpPr/>
          <p:nvPr/>
        </p:nvSpPr>
        <p:spPr>
          <a:xfrm>
            <a:off x="1005840" y="4535424"/>
            <a:ext cx="1060704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  SMOTE Critical for Model Fairness</a:t>
            </a:r>
            <a:endParaRPr lang="en-US" sz="1300" dirty="0"/>
          </a:p>
        </p:txBody>
      </p:sp>
      <p:sp>
        <p:nvSpPr>
          <p:cNvPr id="29" name="Text 27"/>
          <p:cNvSpPr/>
          <p:nvPr/>
        </p:nvSpPr>
        <p:spPr>
          <a:xfrm>
            <a:off x="1005840" y="4901184"/>
            <a:ext cx="10515600" cy="603504"/>
          </a:xfrm>
          <a:prstGeom prst="rect">
            <a:avLst/>
          </a:prstGeom>
          <a:noFill/>
          <a:ln/>
        </p:spPr>
        <p:txBody>
          <a:bodyPr wrap="square" rtlCol="0" anchor="ctr"/>
          <a:lstStyle/>
          <a:p>
            <a:pPr indent="0" marL="0">
              <a:lnSpc>
                <a:spcPct val="132000"/>
              </a:lnSpc>
              <a:buNone/>
            </a:pPr>
            <a:r>
              <a:rPr lang="en-US" sz="1050" dirty="0">
                <a:solidFill>
                  <a:srgbClr val="334155"/>
                </a:solidFill>
                <a:latin typeface="Calibri" pitchFamily="34" charset="0"/>
                <a:ea typeface="Calibri" pitchFamily="34" charset="-122"/>
                <a:cs typeface="Calibri" pitchFamily="34" charset="-120"/>
              </a:rPr>
              <a:t>Without SMOTE, all models predicted 'Non-Fatal' for every case and achieved 80.7% accuracy — missing EVERY fatal incident. SMOTE balanced training to 50/50, enabling models to learn both classes equally and dramatically improving Recall.</a:t>
            </a:r>
            <a:endParaRPr lang="en-US" sz="1050" dirty="0"/>
          </a:p>
        </p:txBody>
      </p:sp>
      <p:sp>
        <p:nvSpPr>
          <p:cNvPr id="30" name="Shape 28"/>
          <p:cNvSpPr/>
          <p:nvPr/>
        </p:nvSpPr>
        <p:spPr>
          <a:xfrm>
            <a:off x="320040" y="5650992"/>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1" name="Shape 29"/>
          <p:cNvSpPr/>
          <p:nvPr/>
        </p:nvSpPr>
        <p:spPr>
          <a:xfrm>
            <a:off x="320040" y="5650992"/>
            <a:ext cx="64008" cy="1133856"/>
          </a:xfrm>
          <a:prstGeom prst="rect">
            <a:avLst/>
          </a:prstGeom>
          <a:solidFill>
            <a:srgbClr val="38A169"/>
          </a:solidFill>
          <a:ln/>
        </p:spPr>
      </p:sp>
      <p:sp>
        <p:nvSpPr>
          <p:cNvPr id="32" name="Shape 30"/>
          <p:cNvSpPr/>
          <p:nvPr/>
        </p:nvSpPr>
        <p:spPr>
          <a:xfrm>
            <a:off x="457200" y="5907024"/>
            <a:ext cx="438912" cy="438912"/>
          </a:xfrm>
          <a:prstGeom prst="rect">
            <a:avLst/>
          </a:prstGeom>
          <a:solidFill>
            <a:srgbClr val="38A169"/>
          </a:solidFill>
          <a:ln/>
        </p:spPr>
      </p:sp>
      <p:sp>
        <p:nvSpPr>
          <p:cNvPr id="33" name="Text 31"/>
          <p:cNvSpPr/>
          <p:nvPr/>
        </p:nvSpPr>
        <p:spPr>
          <a:xfrm>
            <a:off x="457200" y="5907024"/>
            <a:ext cx="438912" cy="43891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05</a:t>
            </a:r>
            <a:endParaRPr lang="en-US" sz="1100" dirty="0"/>
          </a:p>
        </p:txBody>
      </p:sp>
      <p:sp>
        <p:nvSpPr>
          <p:cNvPr id="34" name="Text 32"/>
          <p:cNvSpPr/>
          <p:nvPr/>
        </p:nvSpPr>
        <p:spPr>
          <a:xfrm>
            <a:off x="1005840" y="5742432"/>
            <a:ext cx="10607040" cy="347472"/>
          </a:xfrm>
          <a:prstGeom prst="rect">
            <a:avLst/>
          </a:prstGeom>
          <a:noFill/>
          <a:ln/>
        </p:spPr>
        <p:txBody>
          <a:bodyPr wrap="square" rtlCol="0" anchor="ctr"/>
          <a:lstStyle/>
          <a:p>
            <a:pPr indent="0" marL="0">
              <a:buNone/>
            </a:pPr>
            <a:r>
              <a:rPr lang="en-US" sz="1300" b="1" dirty="0">
                <a:solidFill>
                  <a:srgbClr val="0D1B2A"/>
                </a:solidFill>
                <a:latin typeface="Georgia" pitchFamily="34" charset="0"/>
                <a:ea typeface="Georgia" pitchFamily="34" charset="-122"/>
                <a:cs typeface="Georgia" pitchFamily="34" charset="-120"/>
              </a:rPr>
              <a:t>🏝️  Staten Island: High Risk Despite Low Volume</a:t>
            </a:r>
            <a:endParaRPr lang="en-US" sz="1300" dirty="0"/>
          </a:p>
        </p:txBody>
      </p:sp>
      <p:sp>
        <p:nvSpPr>
          <p:cNvPr id="35" name="Text 33"/>
          <p:cNvSpPr/>
          <p:nvPr/>
        </p:nvSpPr>
        <p:spPr>
          <a:xfrm>
            <a:off x="1005840" y="6108192"/>
            <a:ext cx="10515600" cy="603504"/>
          </a:xfrm>
          <a:prstGeom prst="rect">
            <a:avLst/>
          </a:prstGeom>
          <a:noFill/>
          <a:ln/>
        </p:spPr>
        <p:txBody>
          <a:bodyPr wrap="square" rtlCol="0" anchor="ctr"/>
          <a:lstStyle/>
          <a:p>
            <a:pPr indent="0" marL="0">
              <a:lnSpc>
                <a:spcPct val="132000"/>
              </a:lnSpc>
              <a:buNone/>
            </a:pPr>
            <a:r>
              <a:rPr lang="en-US" sz="1050" dirty="0">
                <a:solidFill>
                  <a:srgbClr val="334155"/>
                </a:solidFill>
                <a:latin typeface="Calibri" pitchFamily="34" charset="0"/>
                <a:ea typeface="Calibri" pitchFamily="34" charset="-122"/>
                <a:cs typeface="Calibri" pitchFamily="34" charset="-120"/>
              </a:rPr>
              <a:t>Staten Island has the fewest total incidents (776) but the highest fatality rate (20.9%). Fewer trauma centers, longer EMS travel times, and more isolated incident locations likely explain this disproportionate mortality.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B2A"/>
          </a:solidFill>
          <a:ln/>
        </p:spPr>
      </p:sp>
      <p:sp>
        <p:nvSpPr>
          <p:cNvPr id="3" name="Shape 1"/>
          <p:cNvSpPr/>
          <p:nvPr/>
        </p:nvSpPr>
        <p:spPr>
          <a:xfrm>
            <a:off x="0" y="685800"/>
            <a:ext cx="12161520" cy="36576"/>
          </a:xfrm>
          <a:prstGeom prst="rect">
            <a:avLst/>
          </a:prstGeom>
          <a:solidFill>
            <a:srgbClr val="E63946"/>
          </a:solidFill>
          <a:ln/>
        </p:spPr>
      </p:sp>
      <p:sp>
        <p:nvSpPr>
          <p:cNvPr id="4" name="Text 2"/>
          <p:cNvSpPr/>
          <p:nvPr/>
        </p:nvSpPr>
        <p:spPr>
          <a:xfrm>
            <a:off x="320040" y="45720"/>
            <a:ext cx="10515600" cy="5943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Actionable Recommendations</a:t>
            </a:r>
            <a:endParaRPr lang="en-US" sz="2000" dirty="0"/>
          </a:p>
        </p:txBody>
      </p:sp>
      <p:sp>
        <p:nvSpPr>
          <p:cNvPr id="5" name="Text 3"/>
          <p:cNvSpPr/>
          <p:nvPr/>
        </p:nvSpPr>
        <p:spPr>
          <a:xfrm>
            <a:off x="11338560" y="45720"/>
            <a:ext cx="640080" cy="594360"/>
          </a:xfrm>
          <a:prstGeom prst="rect">
            <a:avLst/>
          </a:prstGeom>
          <a:noFill/>
          <a:ln/>
        </p:spPr>
        <p:txBody>
          <a:bodyPr wrap="square" lIns="0" tIns="0" rIns="0" bIns="0" rtlCol="0" anchor="ctr"/>
          <a:lstStyle/>
          <a:p>
            <a:pPr algn="r" indent="0" marL="0">
              <a:buNone/>
            </a:pPr>
            <a:r>
              <a:rPr lang="en-US" sz="1200" dirty="0">
                <a:solidFill>
                  <a:srgbClr val="8B949E"/>
                </a:solidFill>
                <a:latin typeface="Calibri" pitchFamily="34" charset="0"/>
                <a:ea typeface="Calibri" pitchFamily="34" charset="-122"/>
                <a:cs typeface="Calibri" pitchFamily="34" charset="-120"/>
              </a:rPr>
              <a:t>16</a:t>
            </a:r>
            <a:endParaRPr lang="en-US" sz="1200" dirty="0"/>
          </a:p>
        </p:txBody>
      </p:sp>
      <p:sp>
        <p:nvSpPr>
          <p:cNvPr id="6" name="Shape 4"/>
          <p:cNvSpPr/>
          <p:nvPr/>
        </p:nvSpPr>
        <p:spPr>
          <a:xfrm>
            <a:off x="320040" y="822960"/>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7" name="Shape 5"/>
          <p:cNvSpPr/>
          <p:nvPr/>
        </p:nvSpPr>
        <p:spPr>
          <a:xfrm>
            <a:off x="320040" y="822960"/>
            <a:ext cx="64008" cy="1133856"/>
          </a:xfrm>
          <a:prstGeom prst="rect">
            <a:avLst/>
          </a:prstGeom>
          <a:solidFill>
            <a:srgbClr val="E63946"/>
          </a:solidFill>
          <a:ln/>
        </p:spPr>
      </p:sp>
      <p:sp>
        <p:nvSpPr>
          <p:cNvPr id="8" name="Shape 6"/>
          <p:cNvSpPr/>
          <p:nvPr/>
        </p:nvSpPr>
        <p:spPr>
          <a:xfrm>
            <a:off x="10442448" y="1097280"/>
            <a:ext cx="1234440" cy="320040"/>
          </a:xfrm>
          <a:prstGeom prst="rect">
            <a:avLst/>
          </a:prstGeom>
          <a:solidFill>
            <a:srgbClr val="E63946">
              <a:alpha val="15000"/>
            </a:srgbClr>
          </a:solidFill>
          <a:ln w="12700">
            <a:solidFill>
              <a:srgbClr val="E63946"/>
            </a:solidFill>
            <a:prstDash val="solid"/>
          </a:ln>
        </p:spPr>
      </p:sp>
      <p:sp>
        <p:nvSpPr>
          <p:cNvPr id="9" name="Text 7"/>
          <p:cNvSpPr/>
          <p:nvPr/>
        </p:nvSpPr>
        <p:spPr>
          <a:xfrm>
            <a:off x="10442448" y="1097280"/>
            <a:ext cx="1234440" cy="320040"/>
          </a:xfrm>
          <a:prstGeom prst="rect">
            <a:avLst/>
          </a:prstGeom>
          <a:noFill/>
          <a:ln/>
        </p:spPr>
        <p:txBody>
          <a:bodyPr wrap="square" rtlCol="0" anchor="ctr"/>
          <a:lstStyle/>
          <a:p>
            <a:pPr algn="ctr" indent="0" marL="0">
              <a:buNone/>
            </a:pPr>
            <a:r>
              <a:rPr lang="en-US" sz="850" b="1" dirty="0">
                <a:solidFill>
                  <a:srgbClr val="E63946"/>
                </a:solidFill>
                <a:latin typeface="Calibri" pitchFamily="34" charset="0"/>
                <a:ea typeface="Calibri" pitchFamily="34" charset="-122"/>
                <a:cs typeface="Calibri" pitchFamily="34" charset="-120"/>
              </a:rPr>
              <a:t>Operational</a:t>
            </a:r>
            <a:endParaRPr lang="en-US" sz="850" dirty="0"/>
          </a:p>
        </p:txBody>
      </p:sp>
      <p:sp>
        <p:nvSpPr>
          <p:cNvPr id="10" name="Text 8"/>
          <p:cNvSpPr/>
          <p:nvPr/>
        </p:nvSpPr>
        <p:spPr>
          <a:xfrm>
            <a:off x="475488" y="1051560"/>
            <a:ext cx="457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1024128" y="914400"/>
            <a:ext cx="9326880" cy="347472"/>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Deploy Trauma Units: 10PM–5AM Surge Staffing</a:t>
            </a:r>
            <a:endParaRPr lang="en-US" sz="1250" dirty="0"/>
          </a:p>
        </p:txBody>
      </p:sp>
      <p:sp>
        <p:nvSpPr>
          <p:cNvPr id="12" name="Text 10"/>
          <p:cNvSpPr/>
          <p:nvPr/>
        </p:nvSpPr>
        <p:spPr>
          <a:xfrm>
            <a:off x="1024128" y="1280160"/>
            <a:ext cx="9326880" cy="594360"/>
          </a:xfrm>
          <a:prstGeom prst="rect">
            <a:avLst/>
          </a:prstGeom>
          <a:noFill/>
          <a:ln/>
        </p:spPr>
        <p:txBody>
          <a:bodyPr wrap="square" rtlCol="0" anchor="ctr"/>
          <a:lstStyle/>
          <a:p>
            <a:pPr indent="0" marL="0">
              <a:lnSpc>
                <a:spcPct val="130000"/>
              </a:lnSpc>
              <a:buNone/>
            </a:pPr>
            <a:r>
              <a:rPr lang="en-US" sz="1050" dirty="0">
                <a:solidFill>
                  <a:srgbClr val="334155"/>
                </a:solidFill>
                <a:latin typeface="Calibri" pitchFamily="34" charset="0"/>
                <a:ea typeface="Calibri" pitchFamily="34" charset="-122"/>
                <a:cs typeface="Calibri" pitchFamily="34" charset="-120"/>
              </a:rPr>
              <a:t>Increase trauma response units during identified high-risk hours — particularly in Brooklyn and Bronx precincts. Late-night deployment directly addresses the golden-hour gap that drives higher fatality rates.</a:t>
            </a:r>
            <a:endParaRPr lang="en-US" sz="1050" dirty="0"/>
          </a:p>
        </p:txBody>
      </p:sp>
      <p:sp>
        <p:nvSpPr>
          <p:cNvPr id="13" name="Shape 11"/>
          <p:cNvSpPr/>
          <p:nvPr/>
        </p:nvSpPr>
        <p:spPr>
          <a:xfrm>
            <a:off x="320040" y="2048256"/>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14" name="Shape 12"/>
          <p:cNvSpPr/>
          <p:nvPr/>
        </p:nvSpPr>
        <p:spPr>
          <a:xfrm>
            <a:off x="320040" y="2048256"/>
            <a:ext cx="64008" cy="1133856"/>
          </a:xfrm>
          <a:prstGeom prst="rect">
            <a:avLst/>
          </a:prstGeom>
          <a:solidFill>
            <a:srgbClr val="DD6B20"/>
          </a:solidFill>
          <a:ln/>
        </p:spPr>
      </p:sp>
      <p:sp>
        <p:nvSpPr>
          <p:cNvPr id="15" name="Shape 13"/>
          <p:cNvSpPr/>
          <p:nvPr/>
        </p:nvSpPr>
        <p:spPr>
          <a:xfrm>
            <a:off x="10442448" y="2322576"/>
            <a:ext cx="1234440" cy="320040"/>
          </a:xfrm>
          <a:prstGeom prst="rect">
            <a:avLst/>
          </a:prstGeom>
          <a:solidFill>
            <a:srgbClr val="DD6B20">
              <a:alpha val="15000"/>
            </a:srgbClr>
          </a:solidFill>
          <a:ln w="12700">
            <a:solidFill>
              <a:srgbClr val="DD6B20"/>
            </a:solidFill>
            <a:prstDash val="solid"/>
          </a:ln>
        </p:spPr>
      </p:sp>
      <p:sp>
        <p:nvSpPr>
          <p:cNvPr id="16" name="Text 14"/>
          <p:cNvSpPr/>
          <p:nvPr/>
        </p:nvSpPr>
        <p:spPr>
          <a:xfrm>
            <a:off x="10442448" y="2322576"/>
            <a:ext cx="1234440" cy="320040"/>
          </a:xfrm>
          <a:prstGeom prst="rect">
            <a:avLst/>
          </a:prstGeom>
          <a:noFill/>
          <a:ln/>
        </p:spPr>
        <p:txBody>
          <a:bodyPr wrap="square" rtlCol="0" anchor="ctr"/>
          <a:lstStyle/>
          <a:p>
            <a:pPr algn="ctr" indent="0" marL="0">
              <a:buNone/>
            </a:pPr>
            <a:r>
              <a:rPr lang="en-US" sz="850" b="1" dirty="0">
                <a:solidFill>
                  <a:srgbClr val="DD6B20"/>
                </a:solidFill>
                <a:latin typeface="Calibri" pitchFamily="34" charset="0"/>
                <a:ea typeface="Calibri" pitchFamily="34" charset="-122"/>
                <a:cs typeface="Calibri" pitchFamily="34" charset="-120"/>
              </a:rPr>
              <a:t>Protocol</a:t>
            </a:r>
            <a:endParaRPr lang="en-US" sz="850" dirty="0"/>
          </a:p>
        </p:txBody>
      </p:sp>
      <p:sp>
        <p:nvSpPr>
          <p:cNvPr id="17" name="Text 15"/>
          <p:cNvSpPr/>
          <p:nvPr/>
        </p:nvSpPr>
        <p:spPr>
          <a:xfrm>
            <a:off x="475488" y="2276856"/>
            <a:ext cx="457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1024128" y="2139696"/>
            <a:ext cx="9326880" cy="347472"/>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Age-Stratified Emergency Response Protocol</a:t>
            </a:r>
            <a:endParaRPr lang="en-US" sz="1250" dirty="0"/>
          </a:p>
        </p:txBody>
      </p:sp>
      <p:sp>
        <p:nvSpPr>
          <p:cNvPr id="19" name="Text 17"/>
          <p:cNvSpPr/>
          <p:nvPr/>
        </p:nvSpPr>
        <p:spPr>
          <a:xfrm>
            <a:off x="1024128" y="2505456"/>
            <a:ext cx="9326880" cy="594360"/>
          </a:xfrm>
          <a:prstGeom prst="rect">
            <a:avLst/>
          </a:prstGeom>
          <a:noFill/>
          <a:ln/>
        </p:spPr>
        <p:txBody>
          <a:bodyPr wrap="square" rtlCol="0" anchor="ctr"/>
          <a:lstStyle/>
          <a:p>
            <a:pPr indent="0" marL="0">
              <a:lnSpc>
                <a:spcPct val="130000"/>
              </a:lnSpc>
              <a:buNone/>
            </a:pPr>
            <a:r>
              <a:rPr lang="en-US" sz="1050" dirty="0">
                <a:solidFill>
                  <a:srgbClr val="334155"/>
                </a:solidFill>
                <a:latin typeface="Calibri" pitchFamily="34" charset="0"/>
                <a:ea typeface="Calibri" pitchFamily="34" charset="-122"/>
                <a:cs typeface="Calibri" pitchFamily="34" charset="-120"/>
              </a:rPr>
              <a:t>Victims aged 45+ should automatically trigger immediate trauma escalation. Model data confirms 1.5× to 2× higher fatality rates for older victims. Age-specific protocols can reduce preventable fatalities.</a:t>
            </a:r>
            <a:endParaRPr lang="en-US" sz="1050" dirty="0"/>
          </a:p>
        </p:txBody>
      </p:sp>
      <p:sp>
        <p:nvSpPr>
          <p:cNvPr id="20" name="Shape 18"/>
          <p:cNvSpPr/>
          <p:nvPr/>
        </p:nvSpPr>
        <p:spPr>
          <a:xfrm>
            <a:off x="320040" y="3273552"/>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1" name="Shape 19"/>
          <p:cNvSpPr/>
          <p:nvPr/>
        </p:nvSpPr>
        <p:spPr>
          <a:xfrm>
            <a:off x="320040" y="3273552"/>
            <a:ext cx="64008" cy="1133856"/>
          </a:xfrm>
          <a:prstGeom prst="rect">
            <a:avLst/>
          </a:prstGeom>
          <a:solidFill>
            <a:srgbClr val="457B9D"/>
          </a:solidFill>
          <a:ln/>
        </p:spPr>
      </p:sp>
      <p:sp>
        <p:nvSpPr>
          <p:cNvPr id="22" name="Shape 20"/>
          <p:cNvSpPr/>
          <p:nvPr/>
        </p:nvSpPr>
        <p:spPr>
          <a:xfrm>
            <a:off x="10442448" y="3547872"/>
            <a:ext cx="1234440" cy="320040"/>
          </a:xfrm>
          <a:prstGeom prst="rect">
            <a:avLst/>
          </a:prstGeom>
          <a:solidFill>
            <a:srgbClr val="457B9D">
              <a:alpha val="15000"/>
            </a:srgbClr>
          </a:solidFill>
          <a:ln w="12700">
            <a:solidFill>
              <a:srgbClr val="457B9D"/>
            </a:solidFill>
            <a:prstDash val="solid"/>
          </a:ln>
        </p:spPr>
      </p:sp>
      <p:sp>
        <p:nvSpPr>
          <p:cNvPr id="23" name="Text 21"/>
          <p:cNvSpPr/>
          <p:nvPr/>
        </p:nvSpPr>
        <p:spPr>
          <a:xfrm>
            <a:off x="10442448" y="3547872"/>
            <a:ext cx="1234440" cy="320040"/>
          </a:xfrm>
          <a:prstGeom prst="rect">
            <a:avLst/>
          </a:prstGeom>
          <a:noFill/>
          <a:ln/>
        </p:spPr>
        <p:txBody>
          <a:bodyPr wrap="square" rtlCol="0" anchor="ctr"/>
          <a:lstStyle/>
          <a:p>
            <a:pPr algn="ctr" indent="0" marL="0">
              <a:buNone/>
            </a:pPr>
            <a:r>
              <a:rPr lang="en-US" sz="850" b="1" dirty="0">
                <a:solidFill>
                  <a:srgbClr val="457B9D"/>
                </a:solidFill>
                <a:latin typeface="Calibri" pitchFamily="34" charset="0"/>
                <a:ea typeface="Calibri" pitchFamily="34" charset="-122"/>
                <a:cs typeface="Calibri" pitchFamily="34" charset="-120"/>
              </a:rPr>
              <a:t>Infrastructure</a:t>
            </a:r>
            <a:endParaRPr lang="en-US" sz="850" dirty="0"/>
          </a:p>
        </p:txBody>
      </p:sp>
      <p:sp>
        <p:nvSpPr>
          <p:cNvPr id="24" name="Text 22"/>
          <p:cNvSpPr/>
          <p:nvPr/>
        </p:nvSpPr>
        <p:spPr>
          <a:xfrm>
            <a:off x="475488" y="3502152"/>
            <a:ext cx="457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5" name="Text 23"/>
          <p:cNvSpPr/>
          <p:nvPr/>
        </p:nvSpPr>
        <p:spPr>
          <a:xfrm>
            <a:off x="1024128" y="3364992"/>
            <a:ext cx="9326880" cy="347472"/>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Increase Emergency Capacity in Staten Island</a:t>
            </a:r>
            <a:endParaRPr lang="en-US" sz="1250" dirty="0"/>
          </a:p>
        </p:txBody>
      </p:sp>
      <p:sp>
        <p:nvSpPr>
          <p:cNvPr id="26" name="Text 24"/>
          <p:cNvSpPr/>
          <p:nvPr/>
        </p:nvSpPr>
        <p:spPr>
          <a:xfrm>
            <a:off x="1024128" y="3730752"/>
            <a:ext cx="9326880" cy="594360"/>
          </a:xfrm>
          <a:prstGeom prst="rect">
            <a:avLst/>
          </a:prstGeom>
          <a:noFill/>
          <a:ln/>
        </p:spPr>
        <p:txBody>
          <a:bodyPr wrap="square" rtlCol="0" anchor="ctr"/>
          <a:lstStyle/>
          <a:p>
            <a:pPr indent="0" marL="0">
              <a:lnSpc>
                <a:spcPct val="130000"/>
              </a:lnSpc>
              <a:buNone/>
            </a:pPr>
            <a:r>
              <a:rPr lang="en-US" sz="1050" dirty="0">
                <a:solidFill>
                  <a:srgbClr val="334155"/>
                </a:solidFill>
                <a:latin typeface="Calibri" pitchFamily="34" charset="0"/>
                <a:ea typeface="Calibri" pitchFamily="34" charset="-122"/>
                <a:cs typeface="Calibri" pitchFamily="34" charset="-120"/>
              </a:rPr>
              <a:t>Despite low incident volume, Staten Island's 20.9% fatality rate signals resource gaps. Additional trauma facilities or rapid-deployment EMS units in key precincts would address this disproportionate mortality.</a:t>
            </a:r>
            <a:endParaRPr lang="en-US" sz="1050" dirty="0"/>
          </a:p>
        </p:txBody>
      </p:sp>
      <p:sp>
        <p:nvSpPr>
          <p:cNvPr id="27" name="Shape 25"/>
          <p:cNvSpPr/>
          <p:nvPr/>
        </p:nvSpPr>
        <p:spPr>
          <a:xfrm>
            <a:off x="320040" y="4498848"/>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28" name="Shape 26"/>
          <p:cNvSpPr/>
          <p:nvPr/>
        </p:nvSpPr>
        <p:spPr>
          <a:xfrm>
            <a:off x="320040" y="4498848"/>
            <a:ext cx="64008" cy="1133856"/>
          </a:xfrm>
          <a:prstGeom prst="rect">
            <a:avLst/>
          </a:prstGeom>
          <a:solidFill>
            <a:srgbClr val="0D1B2A"/>
          </a:solidFill>
          <a:ln/>
        </p:spPr>
      </p:sp>
      <p:sp>
        <p:nvSpPr>
          <p:cNvPr id="29" name="Shape 27"/>
          <p:cNvSpPr/>
          <p:nvPr/>
        </p:nvSpPr>
        <p:spPr>
          <a:xfrm>
            <a:off x="10442448" y="4773168"/>
            <a:ext cx="1234440" cy="320040"/>
          </a:xfrm>
          <a:prstGeom prst="rect">
            <a:avLst/>
          </a:prstGeom>
          <a:solidFill>
            <a:srgbClr val="0D1B2A">
              <a:alpha val="15000"/>
            </a:srgbClr>
          </a:solidFill>
          <a:ln w="12700">
            <a:solidFill>
              <a:srgbClr val="0D1B2A"/>
            </a:solidFill>
            <a:prstDash val="solid"/>
          </a:ln>
        </p:spPr>
      </p:sp>
      <p:sp>
        <p:nvSpPr>
          <p:cNvPr id="30" name="Text 28"/>
          <p:cNvSpPr/>
          <p:nvPr/>
        </p:nvSpPr>
        <p:spPr>
          <a:xfrm>
            <a:off x="10442448" y="4773168"/>
            <a:ext cx="1234440" cy="320040"/>
          </a:xfrm>
          <a:prstGeom prst="rect">
            <a:avLst/>
          </a:prstGeom>
          <a:noFill/>
          <a:ln/>
        </p:spPr>
        <p:txBody>
          <a:bodyPr wrap="square" rtlCol="0" anchor="ctr"/>
          <a:lstStyle/>
          <a:p>
            <a:pPr algn="ctr" indent="0" marL="0">
              <a:buNone/>
            </a:pPr>
            <a:r>
              <a:rPr lang="en-US" sz="850" b="1" dirty="0">
                <a:solidFill>
                  <a:srgbClr val="0D1B2A"/>
                </a:solidFill>
                <a:latin typeface="Calibri" pitchFamily="34" charset="0"/>
                <a:ea typeface="Calibri" pitchFamily="34" charset="-122"/>
                <a:cs typeface="Calibri" pitchFamily="34" charset="-120"/>
              </a:rPr>
              <a:t>Technology</a:t>
            </a:r>
            <a:endParaRPr lang="en-US" sz="850" dirty="0"/>
          </a:p>
        </p:txBody>
      </p:sp>
      <p:sp>
        <p:nvSpPr>
          <p:cNvPr id="31" name="Text 29"/>
          <p:cNvSpPr/>
          <p:nvPr/>
        </p:nvSpPr>
        <p:spPr>
          <a:xfrm>
            <a:off x="475488" y="4727448"/>
            <a:ext cx="457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1024128" y="4590288"/>
            <a:ext cx="9326880" cy="347472"/>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Integrate Model into CAD Dispatch System</a:t>
            </a:r>
            <a:endParaRPr lang="en-US" sz="1250" dirty="0"/>
          </a:p>
        </p:txBody>
      </p:sp>
      <p:sp>
        <p:nvSpPr>
          <p:cNvPr id="33" name="Text 31"/>
          <p:cNvSpPr/>
          <p:nvPr/>
        </p:nvSpPr>
        <p:spPr>
          <a:xfrm>
            <a:off x="1024128" y="4956048"/>
            <a:ext cx="9326880" cy="594360"/>
          </a:xfrm>
          <a:prstGeom prst="rect">
            <a:avLst/>
          </a:prstGeom>
          <a:noFill/>
          <a:ln/>
        </p:spPr>
        <p:txBody>
          <a:bodyPr wrap="square" rtlCol="0" anchor="ctr"/>
          <a:lstStyle/>
          <a:p>
            <a:pPr indent="0" marL="0">
              <a:lnSpc>
                <a:spcPct val="130000"/>
              </a:lnSpc>
              <a:buNone/>
            </a:pPr>
            <a:r>
              <a:rPr lang="en-US" sz="1050" dirty="0">
                <a:solidFill>
                  <a:srgbClr val="334155"/>
                </a:solidFill>
                <a:latin typeface="Calibri" pitchFamily="34" charset="0"/>
                <a:ea typeface="Calibri" pitchFamily="34" charset="-122"/>
                <a:cs typeface="Calibri" pitchFamily="34" charset="-120"/>
              </a:rPr>
              <a:t>Deploy LightGBM model into Computer-Aided Dispatch (CAD). Auto-generate SHAP waterfall explanations with each high-priority alert — giving dispatchers real-time, interpretable AI guidance without ML expertise.</a:t>
            </a:r>
            <a:endParaRPr lang="en-US" sz="1050" dirty="0"/>
          </a:p>
        </p:txBody>
      </p:sp>
      <p:sp>
        <p:nvSpPr>
          <p:cNvPr id="34" name="Shape 32"/>
          <p:cNvSpPr/>
          <p:nvPr/>
        </p:nvSpPr>
        <p:spPr>
          <a:xfrm>
            <a:off x="320040" y="5724144"/>
            <a:ext cx="11521440" cy="1133856"/>
          </a:xfrm>
          <a:prstGeom prst="rect">
            <a:avLst/>
          </a:prstGeom>
          <a:solidFill>
            <a:srgbClr val="FFFFFF"/>
          </a:solidFill>
          <a:ln/>
          <a:effectLst>
            <a:outerShdw sx="100000" sy="100000" kx="0" ky="0" algn="bl" rotWithShape="0" blurRad="127000" dist="50800" dir="8100000">
              <a:srgbClr val="000000">
                <a:alpha val="18000"/>
              </a:srgbClr>
            </a:outerShdw>
          </a:effectLst>
        </p:spPr>
      </p:sp>
      <p:sp>
        <p:nvSpPr>
          <p:cNvPr id="35" name="Shape 33"/>
          <p:cNvSpPr/>
          <p:nvPr/>
        </p:nvSpPr>
        <p:spPr>
          <a:xfrm>
            <a:off x="320040" y="5724144"/>
            <a:ext cx="64008" cy="1133856"/>
          </a:xfrm>
          <a:prstGeom prst="rect">
            <a:avLst/>
          </a:prstGeom>
          <a:solidFill>
            <a:srgbClr val="38A169"/>
          </a:solidFill>
          <a:ln/>
        </p:spPr>
      </p:sp>
      <p:sp>
        <p:nvSpPr>
          <p:cNvPr id="36" name="Shape 34"/>
          <p:cNvSpPr/>
          <p:nvPr/>
        </p:nvSpPr>
        <p:spPr>
          <a:xfrm>
            <a:off x="10442448" y="5998464"/>
            <a:ext cx="1234440" cy="320040"/>
          </a:xfrm>
          <a:prstGeom prst="rect">
            <a:avLst/>
          </a:prstGeom>
          <a:solidFill>
            <a:srgbClr val="38A169">
              <a:alpha val="15000"/>
            </a:srgbClr>
          </a:solidFill>
          <a:ln w="12700">
            <a:solidFill>
              <a:srgbClr val="38A169"/>
            </a:solidFill>
            <a:prstDash val="solid"/>
          </a:ln>
        </p:spPr>
      </p:sp>
      <p:sp>
        <p:nvSpPr>
          <p:cNvPr id="37" name="Text 35"/>
          <p:cNvSpPr/>
          <p:nvPr/>
        </p:nvSpPr>
        <p:spPr>
          <a:xfrm>
            <a:off x="10442448" y="5998464"/>
            <a:ext cx="1234440" cy="320040"/>
          </a:xfrm>
          <a:prstGeom prst="rect">
            <a:avLst/>
          </a:prstGeom>
          <a:noFill/>
          <a:ln/>
        </p:spPr>
        <p:txBody>
          <a:bodyPr wrap="square" rtlCol="0" anchor="ctr"/>
          <a:lstStyle/>
          <a:p>
            <a:pPr algn="ctr" indent="0" marL="0">
              <a:buNone/>
            </a:pPr>
            <a:r>
              <a:rPr lang="en-US" sz="850" b="1" dirty="0">
                <a:solidFill>
                  <a:srgbClr val="38A169"/>
                </a:solidFill>
                <a:latin typeface="Calibri" pitchFamily="34" charset="0"/>
                <a:ea typeface="Calibri" pitchFamily="34" charset="-122"/>
                <a:cs typeface="Calibri" pitchFamily="34" charset="-120"/>
              </a:rPr>
              <a:t>Model Tuning</a:t>
            </a:r>
            <a:endParaRPr lang="en-US" sz="850" dirty="0"/>
          </a:p>
        </p:txBody>
      </p:sp>
      <p:sp>
        <p:nvSpPr>
          <p:cNvPr id="38" name="Text 36"/>
          <p:cNvSpPr/>
          <p:nvPr/>
        </p:nvSpPr>
        <p:spPr>
          <a:xfrm>
            <a:off x="475488" y="5952744"/>
            <a:ext cx="45720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9" name="Text 37"/>
          <p:cNvSpPr/>
          <p:nvPr/>
        </p:nvSpPr>
        <p:spPr>
          <a:xfrm>
            <a:off x="1024128" y="5815584"/>
            <a:ext cx="9326880" cy="347472"/>
          </a:xfrm>
          <a:prstGeom prst="rect">
            <a:avLst/>
          </a:prstGeom>
          <a:noFill/>
          <a:ln/>
        </p:spPr>
        <p:txBody>
          <a:bodyPr wrap="square" rtlCol="0" anchor="ctr"/>
          <a:lstStyle/>
          <a:p>
            <a:pPr indent="0" marL="0">
              <a:buNone/>
            </a:pPr>
            <a:r>
              <a:rPr lang="en-US" sz="1250" b="1" dirty="0">
                <a:solidFill>
                  <a:srgbClr val="0D1B2A"/>
                </a:solidFill>
                <a:latin typeface="Calibri" pitchFamily="34" charset="0"/>
                <a:ea typeface="Calibri" pitchFamily="34" charset="-122"/>
                <a:cs typeface="Calibri" pitchFamily="34" charset="-120"/>
              </a:rPr>
              <a:t>Lower Decision Threshold to Maximize Recall</a:t>
            </a:r>
            <a:endParaRPr lang="en-US" sz="1250" dirty="0"/>
          </a:p>
        </p:txBody>
      </p:sp>
      <p:sp>
        <p:nvSpPr>
          <p:cNvPr id="40" name="Text 38"/>
          <p:cNvSpPr/>
          <p:nvPr/>
        </p:nvSpPr>
        <p:spPr>
          <a:xfrm>
            <a:off x="1024128" y="6181344"/>
            <a:ext cx="9326880" cy="594360"/>
          </a:xfrm>
          <a:prstGeom prst="rect">
            <a:avLst/>
          </a:prstGeom>
          <a:noFill/>
          <a:ln/>
        </p:spPr>
        <p:txBody>
          <a:bodyPr wrap="square" rtlCol="0" anchor="ctr"/>
          <a:lstStyle/>
          <a:p>
            <a:pPr indent="0" marL="0">
              <a:lnSpc>
                <a:spcPct val="130000"/>
              </a:lnSpc>
              <a:buNone/>
            </a:pPr>
            <a:r>
              <a:rPr lang="en-US" sz="1050" dirty="0">
                <a:solidFill>
                  <a:srgbClr val="334155"/>
                </a:solidFill>
                <a:latin typeface="Calibri" pitchFamily="34" charset="0"/>
                <a:ea typeface="Calibri" pitchFamily="34" charset="-122"/>
                <a:cs typeface="Calibri" pitchFamily="34" charset="-120"/>
              </a:rPr>
              <a:t>Move prediction threshold from default 0.5 to ≈ 0.35 in production. This trades some precision for significantly higher recall — catching more true fatal cases at the cost of more manageable false alarms.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63946"/>
          </a:solidFill>
          <a:ln/>
        </p:spPr>
      </p:sp>
      <p:sp>
        <p:nvSpPr>
          <p:cNvPr id="3" name="Shape 1"/>
          <p:cNvSpPr/>
          <p:nvPr/>
        </p:nvSpPr>
        <p:spPr>
          <a:xfrm>
            <a:off x="164592" y="6793992"/>
            <a:ext cx="11996928" cy="64008"/>
          </a:xfrm>
          <a:prstGeom prst="rect">
            <a:avLst/>
          </a:prstGeom>
          <a:solidFill>
            <a:srgbClr val="E63946">
              <a:alpha val="50000"/>
            </a:srgbClr>
          </a:solidFill>
          <a:ln/>
        </p:spPr>
      </p:sp>
      <p:sp>
        <p:nvSpPr>
          <p:cNvPr id="4" name="Shape 2"/>
          <p:cNvSpPr/>
          <p:nvPr/>
        </p:nvSpPr>
        <p:spPr>
          <a:xfrm>
            <a:off x="9601200" y="4114800"/>
            <a:ext cx="3657600" cy="3657600"/>
          </a:xfrm>
          <a:prstGeom prst="ellipse">
            <a:avLst/>
          </a:prstGeom>
          <a:solidFill>
            <a:srgbClr val="E63946">
              <a:alpha val="12000"/>
            </a:srgbClr>
          </a:solidFill>
          <a:ln/>
        </p:spPr>
      </p:sp>
      <p:sp>
        <p:nvSpPr>
          <p:cNvPr id="5" name="Shape 3"/>
          <p:cNvSpPr/>
          <p:nvPr/>
        </p:nvSpPr>
        <p:spPr>
          <a:xfrm>
            <a:off x="10241280" y="4754880"/>
            <a:ext cx="2286000" cy="2286000"/>
          </a:xfrm>
          <a:prstGeom prst="ellipse">
            <a:avLst/>
          </a:prstGeom>
          <a:solidFill>
            <a:srgbClr val="E63946">
              <a:alpha val="20000"/>
            </a:srgbClr>
          </a:solidFill>
          <a:ln/>
        </p:spPr>
      </p:sp>
      <p:sp>
        <p:nvSpPr>
          <p:cNvPr id="6" name="Text 4"/>
          <p:cNvSpPr/>
          <p:nvPr/>
        </p:nvSpPr>
        <p:spPr>
          <a:xfrm>
            <a:off x="411480" y="548640"/>
            <a:ext cx="9144000" cy="320040"/>
          </a:xfrm>
          <a:prstGeom prst="rect">
            <a:avLst/>
          </a:prstGeom>
          <a:noFill/>
          <a:ln/>
        </p:spPr>
        <p:txBody>
          <a:bodyPr wrap="square" rtlCol="0" anchor="ctr"/>
          <a:lstStyle/>
          <a:p>
            <a:pPr indent="0" marL="0">
              <a:buNone/>
            </a:pPr>
            <a:r>
              <a:rPr lang="en-US" sz="1000" b="1" spc="400" kern="0" dirty="0">
                <a:solidFill>
                  <a:srgbClr val="E63946"/>
                </a:solidFill>
                <a:latin typeface="Calibri" pitchFamily="34" charset="0"/>
                <a:ea typeface="Calibri" pitchFamily="34" charset="-122"/>
                <a:cs typeface="Calibri" pitchFamily="34" charset="-120"/>
              </a:rPr>
              <a:t>PROJECT SUMMARY</a:t>
            </a:r>
            <a:endParaRPr lang="en-US" sz="1000" dirty="0"/>
          </a:p>
        </p:txBody>
      </p:sp>
      <p:sp>
        <p:nvSpPr>
          <p:cNvPr id="7" name="Text 5"/>
          <p:cNvSpPr/>
          <p:nvPr/>
        </p:nvSpPr>
        <p:spPr>
          <a:xfrm>
            <a:off x="411480" y="914400"/>
            <a:ext cx="10058400" cy="82296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NYPD Shooting Fatality</a:t>
            </a:r>
            <a:endParaRPr lang="en-US" sz="4000" dirty="0"/>
          </a:p>
        </p:txBody>
      </p:sp>
      <p:sp>
        <p:nvSpPr>
          <p:cNvPr id="8" name="Text 6"/>
          <p:cNvSpPr/>
          <p:nvPr/>
        </p:nvSpPr>
        <p:spPr>
          <a:xfrm>
            <a:off x="411480" y="1691640"/>
            <a:ext cx="9144000" cy="777240"/>
          </a:xfrm>
          <a:prstGeom prst="rect">
            <a:avLst/>
          </a:prstGeom>
          <a:noFill/>
          <a:ln/>
        </p:spPr>
        <p:txBody>
          <a:bodyPr wrap="square" rtlCol="0" anchor="ctr"/>
          <a:lstStyle/>
          <a:p>
            <a:pPr indent="0" marL="0">
              <a:buNone/>
            </a:pPr>
            <a:r>
              <a:rPr lang="en-US" sz="4000" b="1" dirty="0">
                <a:solidFill>
                  <a:srgbClr val="E63946"/>
                </a:solidFill>
                <a:latin typeface="Georgia" pitchFamily="34" charset="0"/>
                <a:ea typeface="Georgia" pitchFamily="34" charset="-122"/>
                <a:cs typeface="Georgia" pitchFamily="34" charset="-120"/>
              </a:rPr>
              <a:t>Prediction — Achieved</a:t>
            </a:r>
            <a:endParaRPr lang="en-US" sz="4000" dirty="0"/>
          </a:p>
        </p:txBody>
      </p:sp>
      <p:sp>
        <p:nvSpPr>
          <p:cNvPr id="9" name="Shape 7"/>
          <p:cNvSpPr/>
          <p:nvPr/>
        </p:nvSpPr>
        <p:spPr>
          <a:xfrm>
            <a:off x="411480" y="2606040"/>
            <a:ext cx="7772400" cy="45720"/>
          </a:xfrm>
          <a:prstGeom prst="rect">
            <a:avLst/>
          </a:prstGeom>
          <a:solidFill>
            <a:srgbClr val="457B9D"/>
          </a:solidFill>
          <a:ln/>
        </p:spPr>
      </p:sp>
      <p:sp>
        <p:nvSpPr>
          <p:cNvPr id="10" name="Shape 8"/>
          <p:cNvSpPr/>
          <p:nvPr/>
        </p:nvSpPr>
        <p:spPr>
          <a:xfrm>
            <a:off x="411480" y="2743200"/>
            <a:ext cx="1783080" cy="896112"/>
          </a:xfrm>
          <a:prstGeom prst="rect">
            <a:avLst/>
          </a:prstGeom>
          <a:solidFill>
            <a:srgbClr val="162032"/>
          </a:solidFill>
          <a:ln/>
        </p:spPr>
      </p:sp>
      <p:sp>
        <p:nvSpPr>
          <p:cNvPr id="11" name="Shape 9"/>
          <p:cNvSpPr/>
          <p:nvPr/>
        </p:nvSpPr>
        <p:spPr>
          <a:xfrm>
            <a:off x="411480" y="2743200"/>
            <a:ext cx="1783080" cy="54864"/>
          </a:xfrm>
          <a:prstGeom prst="rect">
            <a:avLst/>
          </a:prstGeom>
          <a:solidFill>
            <a:srgbClr val="E63946"/>
          </a:solidFill>
          <a:ln/>
        </p:spPr>
      </p:sp>
      <p:sp>
        <p:nvSpPr>
          <p:cNvPr id="12" name="Text 10"/>
          <p:cNvSpPr/>
          <p:nvPr/>
        </p:nvSpPr>
        <p:spPr>
          <a:xfrm>
            <a:off x="411480" y="2834640"/>
            <a:ext cx="178308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LightGBM</a:t>
            </a:r>
            <a:endParaRPr lang="en-US" sz="1600" dirty="0"/>
          </a:p>
        </p:txBody>
      </p:sp>
      <p:sp>
        <p:nvSpPr>
          <p:cNvPr id="13" name="Text 11"/>
          <p:cNvSpPr/>
          <p:nvPr/>
        </p:nvSpPr>
        <p:spPr>
          <a:xfrm>
            <a:off x="411480" y="3291840"/>
            <a:ext cx="1783080" cy="274320"/>
          </a:xfrm>
          <a:prstGeom prst="rect">
            <a:avLst/>
          </a:prstGeom>
          <a:noFill/>
          <a:ln/>
        </p:spPr>
        <p:txBody>
          <a:bodyPr wrap="square"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Best Model</a:t>
            </a:r>
            <a:endParaRPr lang="en-US" sz="850" dirty="0"/>
          </a:p>
        </p:txBody>
      </p:sp>
      <p:sp>
        <p:nvSpPr>
          <p:cNvPr id="14" name="Shape 12"/>
          <p:cNvSpPr/>
          <p:nvPr/>
        </p:nvSpPr>
        <p:spPr>
          <a:xfrm>
            <a:off x="2377440" y="2743200"/>
            <a:ext cx="1783080" cy="896112"/>
          </a:xfrm>
          <a:prstGeom prst="rect">
            <a:avLst/>
          </a:prstGeom>
          <a:solidFill>
            <a:srgbClr val="162032"/>
          </a:solidFill>
          <a:ln/>
        </p:spPr>
      </p:sp>
      <p:sp>
        <p:nvSpPr>
          <p:cNvPr id="15" name="Shape 13"/>
          <p:cNvSpPr/>
          <p:nvPr/>
        </p:nvSpPr>
        <p:spPr>
          <a:xfrm>
            <a:off x="2377440" y="2743200"/>
            <a:ext cx="1783080" cy="54864"/>
          </a:xfrm>
          <a:prstGeom prst="rect">
            <a:avLst/>
          </a:prstGeom>
          <a:solidFill>
            <a:srgbClr val="E63946"/>
          </a:solidFill>
          <a:ln/>
        </p:spPr>
      </p:sp>
      <p:sp>
        <p:nvSpPr>
          <p:cNvPr id="16" name="Text 14"/>
          <p:cNvSpPr/>
          <p:nvPr/>
        </p:nvSpPr>
        <p:spPr>
          <a:xfrm>
            <a:off x="2377440" y="2834640"/>
            <a:ext cx="178308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0.9114</a:t>
            </a:r>
            <a:endParaRPr lang="en-US" sz="1600" dirty="0"/>
          </a:p>
        </p:txBody>
      </p:sp>
      <p:sp>
        <p:nvSpPr>
          <p:cNvPr id="17" name="Text 15"/>
          <p:cNvSpPr/>
          <p:nvPr/>
        </p:nvSpPr>
        <p:spPr>
          <a:xfrm>
            <a:off x="2377440" y="3291840"/>
            <a:ext cx="1783080" cy="274320"/>
          </a:xfrm>
          <a:prstGeom prst="rect">
            <a:avLst/>
          </a:prstGeom>
          <a:noFill/>
          <a:ln/>
        </p:spPr>
        <p:txBody>
          <a:bodyPr wrap="square"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ROC-AUC Score</a:t>
            </a:r>
            <a:endParaRPr lang="en-US" sz="850" dirty="0"/>
          </a:p>
        </p:txBody>
      </p:sp>
      <p:sp>
        <p:nvSpPr>
          <p:cNvPr id="18" name="Shape 16"/>
          <p:cNvSpPr/>
          <p:nvPr/>
        </p:nvSpPr>
        <p:spPr>
          <a:xfrm>
            <a:off x="4343400" y="2743200"/>
            <a:ext cx="1783080" cy="896112"/>
          </a:xfrm>
          <a:prstGeom prst="rect">
            <a:avLst/>
          </a:prstGeom>
          <a:solidFill>
            <a:srgbClr val="162032"/>
          </a:solidFill>
          <a:ln/>
        </p:spPr>
      </p:sp>
      <p:sp>
        <p:nvSpPr>
          <p:cNvPr id="19" name="Shape 17"/>
          <p:cNvSpPr/>
          <p:nvPr/>
        </p:nvSpPr>
        <p:spPr>
          <a:xfrm>
            <a:off x="4343400" y="2743200"/>
            <a:ext cx="1783080" cy="54864"/>
          </a:xfrm>
          <a:prstGeom prst="rect">
            <a:avLst/>
          </a:prstGeom>
          <a:solidFill>
            <a:srgbClr val="E63946"/>
          </a:solidFill>
          <a:ln/>
        </p:spPr>
      </p:sp>
      <p:sp>
        <p:nvSpPr>
          <p:cNvPr id="20" name="Text 18"/>
          <p:cNvSpPr/>
          <p:nvPr/>
        </p:nvSpPr>
        <p:spPr>
          <a:xfrm>
            <a:off x="4343400" y="2834640"/>
            <a:ext cx="178308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 Models</a:t>
            </a:r>
            <a:endParaRPr lang="en-US" sz="1600" dirty="0"/>
          </a:p>
        </p:txBody>
      </p:sp>
      <p:sp>
        <p:nvSpPr>
          <p:cNvPr id="21" name="Text 19"/>
          <p:cNvSpPr/>
          <p:nvPr/>
        </p:nvSpPr>
        <p:spPr>
          <a:xfrm>
            <a:off x="4343400" y="3291840"/>
            <a:ext cx="1783080" cy="274320"/>
          </a:xfrm>
          <a:prstGeom prst="rect">
            <a:avLst/>
          </a:prstGeom>
          <a:noFill/>
          <a:ln/>
        </p:spPr>
        <p:txBody>
          <a:bodyPr wrap="square"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Compared</a:t>
            </a:r>
            <a:endParaRPr lang="en-US" sz="850" dirty="0"/>
          </a:p>
        </p:txBody>
      </p:sp>
      <p:sp>
        <p:nvSpPr>
          <p:cNvPr id="22" name="Shape 20"/>
          <p:cNvSpPr/>
          <p:nvPr/>
        </p:nvSpPr>
        <p:spPr>
          <a:xfrm>
            <a:off x="6309360" y="2743200"/>
            <a:ext cx="1783080" cy="896112"/>
          </a:xfrm>
          <a:prstGeom prst="rect">
            <a:avLst/>
          </a:prstGeom>
          <a:solidFill>
            <a:srgbClr val="162032"/>
          </a:solidFill>
          <a:ln/>
        </p:spPr>
      </p:sp>
      <p:sp>
        <p:nvSpPr>
          <p:cNvPr id="23" name="Shape 21"/>
          <p:cNvSpPr/>
          <p:nvPr/>
        </p:nvSpPr>
        <p:spPr>
          <a:xfrm>
            <a:off x="6309360" y="2743200"/>
            <a:ext cx="1783080" cy="54864"/>
          </a:xfrm>
          <a:prstGeom prst="rect">
            <a:avLst/>
          </a:prstGeom>
          <a:solidFill>
            <a:srgbClr val="E63946"/>
          </a:solidFill>
          <a:ln/>
        </p:spPr>
      </p:sp>
      <p:sp>
        <p:nvSpPr>
          <p:cNvPr id="24" name="Text 22"/>
          <p:cNvSpPr/>
          <p:nvPr/>
        </p:nvSpPr>
        <p:spPr>
          <a:xfrm>
            <a:off x="6309360" y="2834640"/>
            <a:ext cx="178308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SHAP</a:t>
            </a:r>
            <a:endParaRPr lang="en-US" sz="1600" dirty="0"/>
          </a:p>
        </p:txBody>
      </p:sp>
      <p:sp>
        <p:nvSpPr>
          <p:cNvPr id="25" name="Text 23"/>
          <p:cNvSpPr/>
          <p:nvPr/>
        </p:nvSpPr>
        <p:spPr>
          <a:xfrm>
            <a:off x="6309360" y="3291840"/>
            <a:ext cx="1783080" cy="274320"/>
          </a:xfrm>
          <a:prstGeom prst="rect">
            <a:avLst/>
          </a:prstGeom>
          <a:noFill/>
          <a:ln/>
        </p:spPr>
        <p:txBody>
          <a:bodyPr wrap="square" rtlCol="0" anchor="ctr"/>
          <a:lstStyle/>
          <a:p>
            <a:pPr algn="ctr" indent="0" marL="0">
              <a:buNone/>
            </a:pPr>
            <a:r>
              <a:rPr lang="en-US" sz="850" dirty="0">
                <a:solidFill>
                  <a:srgbClr val="8B949E"/>
                </a:solidFill>
                <a:latin typeface="Calibri" pitchFamily="34" charset="0"/>
                <a:ea typeface="Calibri" pitchFamily="34" charset="-122"/>
                <a:cs typeface="Calibri" pitchFamily="34" charset="-120"/>
              </a:rPr>
              <a:t>Explainability</a:t>
            </a:r>
            <a:endParaRPr lang="en-US" sz="850" dirty="0"/>
          </a:p>
        </p:txBody>
      </p:sp>
      <p:sp>
        <p:nvSpPr>
          <p:cNvPr id="26" name="Shape 24"/>
          <p:cNvSpPr/>
          <p:nvPr/>
        </p:nvSpPr>
        <p:spPr>
          <a:xfrm>
            <a:off x="411480" y="3794760"/>
            <a:ext cx="54864" cy="320040"/>
          </a:xfrm>
          <a:prstGeom prst="rect">
            <a:avLst/>
          </a:prstGeom>
          <a:solidFill>
            <a:srgbClr val="E63946"/>
          </a:solidFill>
          <a:ln/>
        </p:spPr>
      </p:sp>
      <p:sp>
        <p:nvSpPr>
          <p:cNvPr id="27" name="Text 25"/>
          <p:cNvSpPr/>
          <p:nvPr/>
        </p:nvSpPr>
        <p:spPr>
          <a:xfrm>
            <a:off x="566928" y="3794760"/>
            <a:ext cx="7772400" cy="438912"/>
          </a:xfrm>
          <a:prstGeom prst="rect">
            <a:avLst/>
          </a:prstGeom>
          <a:noFill/>
          <a:ln/>
        </p:spPr>
        <p:txBody>
          <a:bodyPr wrap="square" rtlCol="0" anchor="ctr"/>
          <a:lstStyle/>
          <a:p>
            <a:pPr indent="0" marL="0">
              <a:buNone/>
            </a:pPr>
            <a:r>
              <a:rPr lang="en-US" sz="1250" dirty="0">
                <a:solidFill>
                  <a:srgbClr val="A8DADC"/>
                </a:solidFill>
                <a:latin typeface="Calibri" pitchFamily="34" charset="0"/>
                <a:ea typeface="Calibri" pitchFamily="34" charset="-122"/>
                <a:cs typeface="Calibri" pitchFamily="34" charset="-120"/>
              </a:rPr>
              <a:t>Location (Lat/Lon/Precinct) is the dominant fatality predictor</a:t>
            </a:r>
            <a:endParaRPr lang="en-US" sz="1250" dirty="0"/>
          </a:p>
        </p:txBody>
      </p:sp>
      <p:sp>
        <p:nvSpPr>
          <p:cNvPr id="28" name="Shape 26"/>
          <p:cNvSpPr/>
          <p:nvPr/>
        </p:nvSpPr>
        <p:spPr>
          <a:xfrm>
            <a:off x="411480" y="4270248"/>
            <a:ext cx="54864" cy="320040"/>
          </a:xfrm>
          <a:prstGeom prst="rect">
            <a:avLst/>
          </a:prstGeom>
          <a:solidFill>
            <a:srgbClr val="E63946"/>
          </a:solidFill>
          <a:ln/>
        </p:spPr>
      </p:sp>
      <p:sp>
        <p:nvSpPr>
          <p:cNvPr id="29" name="Text 27"/>
          <p:cNvSpPr/>
          <p:nvPr/>
        </p:nvSpPr>
        <p:spPr>
          <a:xfrm>
            <a:off x="566928" y="4270248"/>
            <a:ext cx="7772400" cy="438912"/>
          </a:xfrm>
          <a:prstGeom prst="rect">
            <a:avLst/>
          </a:prstGeom>
          <a:noFill/>
          <a:ln/>
        </p:spPr>
        <p:txBody>
          <a:bodyPr wrap="square" rtlCol="0" anchor="ctr"/>
          <a:lstStyle/>
          <a:p>
            <a:pPr indent="0" marL="0">
              <a:buNone/>
            </a:pPr>
            <a:r>
              <a:rPr lang="en-US" sz="1250" dirty="0">
                <a:solidFill>
                  <a:srgbClr val="A8DADC"/>
                </a:solidFill>
                <a:latin typeface="Calibri" pitchFamily="34" charset="0"/>
                <a:ea typeface="Calibri" pitchFamily="34" charset="-122"/>
                <a:cs typeface="Calibri" pitchFamily="34" charset="-120"/>
              </a:rPr>
              <a:t>SMOTE balancing is essential — without it, fatal cases are ignored</a:t>
            </a:r>
            <a:endParaRPr lang="en-US" sz="1250" dirty="0"/>
          </a:p>
        </p:txBody>
      </p:sp>
      <p:sp>
        <p:nvSpPr>
          <p:cNvPr id="30" name="Shape 28"/>
          <p:cNvSpPr/>
          <p:nvPr/>
        </p:nvSpPr>
        <p:spPr>
          <a:xfrm>
            <a:off x="411480" y="4745736"/>
            <a:ext cx="54864" cy="320040"/>
          </a:xfrm>
          <a:prstGeom prst="rect">
            <a:avLst/>
          </a:prstGeom>
          <a:solidFill>
            <a:srgbClr val="E63946"/>
          </a:solidFill>
          <a:ln/>
        </p:spPr>
      </p:sp>
      <p:sp>
        <p:nvSpPr>
          <p:cNvPr id="31" name="Text 29"/>
          <p:cNvSpPr/>
          <p:nvPr/>
        </p:nvSpPr>
        <p:spPr>
          <a:xfrm>
            <a:off x="566928" y="4745736"/>
            <a:ext cx="7772400" cy="438912"/>
          </a:xfrm>
          <a:prstGeom prst="rect">
            <a:avLst/>
          </a:prstGeom>
          <a:noFill/>
          <a:ln/>
        </p:spPr>
        <p:txBody>
          <a:bodyPr wrap="square" rtlCol="0" anchor="ctr"/>
          <a:lstStyle/>
          <a:p>
            <a:pPr indent="0" marL="0">
              <a:buNone/>
            </a:pPr>
            <a:r>
              <a:rPr lang="en-US" sz="1250" dirty="0">
                <a:solidFill>
                  <a:srgbClr val="A8DADC"/>
                </a:solidFill>
                <a:latin typeface="Calibri" pitchFamily="34" charset="0"/>
                <a:ea typeface="Calibri" pitchFamily="34" charset="-122"/>
                <a:cs typeface="Calibri" pitchFamily="34" charset="-120"/>
              </a:rPr>
              <a:t>SHAP explainability enables accountable, trustworthy AI deployment</a:t>
            </a:r>
            <a:endParaRPr lang="en-US" sz="1250" dirty="0"/>
          </a:p>
        </p:txBody>
      </p:sp>
      <p:sp>
        <p:nvSpPr>
          <p:cNvPr id="32" name="Shape 30"/>
          <p:cNvSpPr/>
          <p:nvPr/>
        </p:nvSpPr>
        <p:spPr>
          <a:xfrm>
            <a:off x="411480" y="5221224"/>
            <a:ext cx="54864" cy="320040"/>
          </a:xfrm>
          <a:prstGeom prst="rect">
            <a:avLst/>
          </a:prstGeom>
          <a:solidFill>
            <a:srgbClr val="E63946"/>
          </a:solidFill>
          <a:ln/>
        </p:spPr>
      </p:sp>
      <p:sp>
        <p:nvSpPr>
          <p:cNvPr id="33" name="Text 31"/>
          <p:cNvSpPr/>
          <p:nvPr/>
        </p:nvSpPr>
        <p:spPr>
          <a:xfrm>
            <a:off x="566928" y="5221224"/>
            <a:ext cx="7772400" cy="438912"/>
          </a:xfrm>
          <a:prstGeom prst="rect">
            <a:avLst/>
          </a:prstGeom>
          <a:noFill/>
          <a:ln/>
        </p:spPr>
        <p:txBody>
          <a:bodyPr wrap="square" rtlCol="0" anchor="ctr"/>
          <a:lstStyle/>
          <a:p>
            <a:pPr indent="0" marL="0">
              <a:buNone/>
            </a:pPr>
            <a:r>
              <a:rPr lang="en-US" sz="1250" dirty="0">
                <a:solidFill>
                  <a:srgbClr val="A8DADC"/>
                </a:solidFill>
                <a:latin typeface="Calibri" pitchFamily="34" charset="0"/>
                <a:ea typeface="Calibri" pitchFamily="34" charset="-122"/>
                <a:cs typeface="Calibri" pitchFamily="34" charset="-120"/>
              </a:rPr>
              <a:t>Model ready for CAD integration to guide real-time response decisions</a:t>
            </a:r>
            <a:endParaRPr lang="en-US" sz="1250" dirty="0"/>
          </a:p>
        </p:txBody>
      </p:sp>
      <p:sp>
        <p:nvSpPr>
          <p:cNvPr id="34" name="Text 32"/>
          <p:cNvSpPr/>
          <p:nvPr/>
        </p:nvSpPr>
        <p:spPr>
          <a:xfrm>
            <a:off x="411480" y="5943600"/>
            <a:ext cx="73152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Thank You</a:t>
            </a:r>
            <a:endParaRPr lang="en-US" sz="2800" dirty="0"/>
          </a:p>
        </p:txBody>
      </p:sp>
      <p:sp>
        <p:nvSpPr>
          <p:cNvPr id="35" name="Text 33"/>
          <p:cNvSpPr/>
          <p:nvPr/>
        </p:nvSpPr>
        <p:spPr>
          <a:xfrm>
            <a:off x="411480" y="6446520"/>
            <a:ext cx="7315200" cy="320040"/>
          </a:xfrm>
          <a:prstGeom prst="rect">
            <a:avLst/>
          </a:prstGeom>
          <a:noFill/>
          <a:ln/>
        </p:spPr>
        <p:txBody>
          <a:bodyPr wrap="square" rtlCol="0" anchor="ctr"/>
          <a:lstStyle/>
          <a:p>
            <a:pPr indent="0" marL="0">
              <a:buNone/>
            </a:pPr>
            <a:r>
              <a:rPr lang="en-US" sz="1200" dirty="0">
                <a:solidFill>
                  <a:srgbClr val="8B949E"/>
                </a:solidFill>
                <a:latin typeface="Calibri" pitchFamily="34" charset="0"/>
                <a:ea typeface="Calibri" pitchFamily="34" charset="-122"/>
                <a:cs typeface="Calibri" pitchFamily="34" charset="-120"/>
              </a:rPr>
              <a:t>Questions &amp; Discussion Welcome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NYPD Shooting Incident Fatality — Data Science Project</dc:title>
  <dc:subject>PptxGenJS Presentation</dc:subject>
  <dc:creator>PptxGenJS</dc:creator>
  <cp:lastModifiedBy>PptxGenJS</cp:lastModifiedBy>
  <cp:revision>1</cp:revision>
  <dcterms:created xsi:type="dcterms:W3CDTF">2026-04-16T15:40:21Z</dcterms:created>
  <dcterms:modified xsi:type="dcterms:W3CDTF">2026-04-16T15:40:21Z</dcterms:modified>
</cp:coreProperties>
</file>